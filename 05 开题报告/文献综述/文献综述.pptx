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2"/>
  </p:notesMasterIdLst>
  <p:sldIdLst>
    <p:sldId id="256" r:id="rId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3" Type="http://schemas.openxmlformats.org/officeDocument/2006/relationships/presProps" Target="presProps.xml" /><Relationship Id="rId0" Type="http://schemas.openxmlformats.org/officeDocument/2006/relationships/slideMaster" Target="slideMasters/slideMaster1.xml" /><Relationship Id="rId4" Type="http://schemas.openxmlformats.org/officeDocument/2006/relationships/tableStyles" Target="tableStyles.xml" /><Relationship Id="rId1" Type="http://schemas.openxmlformats.org/officeDocument/2006/relationships/slide" Target="slides/slide1.xml" /><Relationship Id="rId2" Type="http://schemas.openxmlformats.org/officeDocument/2006/relationships/notesMaster" Target="notesMasters/notesMaster1.xml" /><Relationship Id="rId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padding: 0, background: '#FFFFFF', position: 'relative', fontFamily: 'Microsoft YaHei' }}&gt;&#10;  {/* ===== 顶部中蓝条 (theme accent1: #5B9BD5) ===== */}&#10;  &lt;Box style={{ position: 'absolute', top: 0, left: 0, width: 1280, height: 49, background: '#5B9BD5' }} /&gt;&#10;&#10;  {/* ===== 当前步骤高亮区 (E2E6ED 矩形) ===== */}&#10;  &lt;Box style={{ position: 'absolute', top: 0, left: 524, width: 231, height: 49, background: '#E2E6ED' }} /&gt;&#10;&#10;  {/* ===== 标题: 文献综述 (#003399 深蓝字坐在中蓝条上) ===== */}&#10;  &lt;Text style={{ position: 'absolute', top: 6, left: 92, fontSize: 37, fontWeight: 'bold', color: '#003399' }}&gt;&#10;    文献综述&#10;  &lt;/Text&gt;&#10;&#10;  {/* ===== 五步流程药丸 ===== */}&#10;  {/* 步骤1: 问题识别 */}&#10;  &lt;Box style={{ position: 'absolute', top: 5, left: 117, width: 115, height: 39, background: '#F2F2F2', borderRadius: 20, justifyContent: 'center', alignItems: 'center' }}&gt;&#10;    &lt;Text style={{ fontSize: 18, fontWeight: 'bold', color: '#000000' }}&gt;问题识别&lt;/Text&gt;&#10;  &lt;/Box&gt;&#10;  {/* 步骤2: 概念构思 */}&#10;  &lt;Box style={{ position: 'absolute', top: 5, left: 350, width: 115, height: 39, background: '#F2F2F2', borderRadius: 20, justifyContent: 'center', alignItems: 'center' }}&gt;&#10;    &lt;Text style={{ fontSize: 18, fontWeight: 'bold', color: '#000000' }}&gt;概念构思&lt;/Text&gt;&#10;  &lt;/Box&gt;&#10;  {/* 步骤3: 文献调研（当前高亮） */}&#10;  &lt;Box style={{ position: 'absolute', top: 5, left: 582, width: 115, height: 39, background: '#2E75B6', borderRadius: 20, justifyContent: 'center', alignItems: 'center' }}&gt;&#10;    &lt;Text style={{ fontSize: 18, fontWeight: 'bold', color: '#FFFFFF' }}&gt;文献调研&lt;/Text&gt;&#10;  &lt;/Box&gt;&#10;  {/* 步骤4: 方案设计 */}&#10;  &lt;Box style={{ position: 'absolute', top: 5, left: 815, width: 115, height: 39, background: '#F2F2F2', borderRadius: 20, justifyContent: 'center', alignItems: 'center' }}&gt;&#10;    &lt;Text style={{ fontSize: 18, fontWeight: 'bold', color: '#000000' }}&gt;方案设计&lt;/Text&gt;&#10;  &lt;/Box&gt;&#10;  {/* 步骤5: 迭代优化 */}&#10;  &lt;Box style={{ position: 'absolute', top: 5, left: 1048, width: 115, height: 39, background: '#F2F2F2', borderRadius: 20, justifyContent: 'center', alignItems: 'center' }}&gt;&#10;    &lt;Text style={{ fontSize: 18, fontWeight: 'bold', color: '#000000' }}&gt;迭代优化&lt;/Text&gt;&#10;  &lt;/Box&gt;&#10;&#10;  {/* ===== 文献卡片：2列 × 3行 ===== */}&#10;  {/* ---- 第1行 ---- */}&#10;  {/* 卡片 01：左列 */}&#10;  &lt;Box style={{ position: 'absolute', top: 154, left: 86, width: 566, height: 130, background: '#E2E6ED', borderRadius: 4 }}&gt;&#10;    &lt;Box style={{ position: 'absolute', top: 27, left: 21, width: 40, height: 40, borderRadius: '50%', background: '#1045C9', justifyContent: 'center', alignItems: 'center' }}&gt;&#10;      &lt;Text style={{ fontSize: 16, fontWeight: 'bold', color: '#FFFFFF' }}&gt;01&lt;/Text&gt;&#10;    &lt;/Box&gt;&#10;    &lt;Text style={{ position: 'absolute', top: 15, left: 77, fontSize: 18, fontWeight: 'bold', color: '#1045C9' }}&gt;&#10;      JAXA月球车部署坡道&#10;    &lt;/Text&gt;&#10;    &lt;Text style={{ position: 'absolute', top: 48, left: 77, fontSize: 13, color: '#7F7F7F' }}&gt;&#10;      Acta Astronautica · 2017, 138: 454–461&#10;    &lt;/Text&gt;&#10;    &lt;Text style={{ position: 'absolute', top: 83, left: 25, width: 530, fontSize: 14, color: '#000000', lineHeight: 1.4 }}&gt;&#10;      伸缩式与折叠式坡道方案权衡，折叠式因机构简单、故障冗余更高被选为任务方案&#10;    &lt;/Text&gt;&#10;    &lt;Text style={{ position: 'absolute', top: 107, left: 25, fontSize: 13, color: '#2E75B6', fontWeight: 'bold' }}&gt;&#10;      ✓ 对塔设计的启示：折叠冗余方案，快速架设&#10;    &lt;/Text&gt;&#10;  &lt;/Box&gt;&#10;&#10;  {/* 卡片 02：右列 */}&#10;  &lt;Box style={{ position: 'absolute', top: 154, left: 703, width: 566, height: 130, background: '#E2E6ED', borderRadius: 4 }}&gt;&#10;    &lt;Box style={{ position: 'absolute', top: 27, left: 21, width: 40, height: 40, borderRadius: '50%', background: '#1045C9', justifyContent: 'center', alignItems: 'center' }}&gt;&#10;      &lt;Text style={{ fontSize: 16, fontWeight: 'bold', color: '#FFFFFF' }}&gt;02&lt;/Text&gt;&#10;    &lt;/Box&gt;&#10;    &lt;Text style={{ position: 'absolute', top: 15, left: 77, fontSize: 18, fontWeight: 'bold', color: '#1045C9' }}&gt;&#10;      月船3号月球车坡道&#10;    &lt;/Text&gt;&#10;    &lt;Text style={{ position: 'absolute', top: 48, left: 77, fontSize: 13, color: '#7F7F7F' }}&gt;&#10;      Acta Astronautica · 2025, 229: 1–12&#10;    &lt;/Text&gt;&#10;    &lt;Text style={{ position: 'absolute', top: 83, left: 25, width: 530, fontSize: 14, color: '#000000', lineHeight: 1.4 }}&gt;&#10;      双面板折叠机构经有限元/热真空/振动/月面实投完整验证，防卡滞失效&#10;    &lt;/Text&gt;&#10;    &lt;Text style={{ position: 'absolute', top: 107, left: 25, fontSize: 13, color: '#2E75B6', fontWeight: 'bold' }}&gt;&#10;      ✓ 对塔设计的启示：展开机构需完整验证闭环&#10;    &lt;/Text&gt;&#10;  &lt;/Box&gt;&#10;&#10;  {/* ---- 第2行 ---- */}&#10;  {/* 卡片 03：左列 */}&#10;  &lt;Box style={{ position: 'absolute', top: 292, left: 86, width: 566, height: 130, background: '#E2E6ED', borderRadius: 4 }}&gt;&#10;    &lt;Box style={{ position: 'absolute', top: 27, left: 21, width: 40, height: 40, borderRadius: '50%', background: '#1045C9', justifyContent: 'center', alignItems: 'center' }}&gt;&#10;      &lt;Text style={{ fontSize: 16, fontWeight: 'bold', color: '#FFFFFF' }}&gt;03&lt;/Text&gt;&#10;    &lt;/Box&gt;&#10;    &lt;Text style={{ position: 'absolute', top: 15, left: 77, fontSize: 18, fontWeight: 'bold', color: '#1045C9' }}&gt;&#10;      安防机器人自动对接充电&#10;    &lt;/Text&gt;&#10;    &lt;Text style={{ position: 'absolute', top: 48, left: 77, fontSize: 13, color: '#7F7F7F' }}&gt;&#10;      IEEE/RSJ IROS · 2005&#10;    &lt;/Text&gt;&#10;    &lt;Text style={{ position: 'absolute', top: 83, left: 25, width: 530, fontSize: 14, color: '#000000', lineHeight: 1.4 }}&gt;&#10;      视觉地标+虚拟弹簧+被动柔顺三层容错，100次对接成功率99%&#10;    &lt;/Text&gt;&#10;    &lt;Text style={{ position: 'absolute', top: 107, left: 25, fontSize: 13, color: '#2E75B6', fontWeight: 'bold' }}&gt;&#10;      ✓ 对塔设计的启示：感知—控制—机械三层容错设计&#10;    &lt;/Text&gt;&#10;  &lt;/Box&gt;&#10;&#10;  {/* 卡片 04：右列 */}&#10;  &lt;Box style={{ position: 'absolute', top: 292, left: 703, width: 566, height: 130, background: '#E2E6ED', borderRadius: 4 }}&gt;&#10;    &lt;Box style={{ position: 'absolute', top: 27, left: 21, width: 40, height: 40, borderRadius: '50%', background: '#1045C9', justifyContent: 'center', alignItems: 'center' }}&gt;&#10;      &lt;Text style={{ fontSize: 16, fontWeight: 'bold', color: '#FFFFFF' }}&gt;04&lt;/Text&gt;&#10;    &lt;/Box&gt;&#10;    &lt;Text style={{ position: 'absolute', top: 15, left: 77, fontSize: 18, fontWeight: 'bold', color: '#1045C9' }}&gt;&#10;      视觉-激光雷达自主对接&#10;    &lt;/Text&gt;&#10;    &lt;Text style={{ position: 'absolute', top: 48, left: 77, fontSize: 13, color: '#7F7F7F' }}&gt;&#10;      Applied Sciences · 2023, 13(19): 10675&#10;    &lt;/Text&gt;&#10;    &lt;Text style={{ position: 'absolute', top: 83, left: 25, width: 530, fontSize: 14, color: '#000000', lineHeight: 1.4 }}&gt;&#10;      YOLOv7识别充电站+激光雷达七状态机，验证集mAP@0.5达99.4%&#10;    &lt;/Text&gt;&#10;    &lt;Text style={{ position: 'absolute', top: 107, left: 25, fontSize: 13, color: '#2E75B6', fontWeight: 'bold' }}&gt;&#10;      ✓ 对塔设计的启示：视觉语义+激光雷达几何互补对接&#10;    &lt;/Text&gt;&#10;  &lt;/Box&gt;&#10;&#10;  {/* ---- 第3行 ---- */}&#10;  {/* 卡片 05：左列 */}&#10;  &lt;Box style={{ position: 'absolute', top: 429, left: 86, width: 566, height: 130, background: '#E2E6ED', borderRadius: 4 }}&gt;&#10;    &lt;Box style={{ position: 'absolute', top: 27, left: 21, width: 40, height: 40, borderRadius: '50%', background: '#1045C9', justifyContent: 'center', alignItems: 'center' }}&gt;&#10;      &lt;Text style={{ fontSize: 16, fontWeight: 'bold', color: '#FFFFFF' }}&gt;05&lt;/Text&gt;&#10;    &lt;/Box&gt;&#10;    &lt;Text style={{ position: 'absolute', top: 15, left: 77, fontSize: 18, fontWeight: 'bold', color: '#1045C9' }}&gt;&#10;      自旋转桨轮两栖机器人&#10;    &lt;/Text&gt;&#10;    &lt;Text style={{ position: 'absolute', top: 48, left: 77, fontSize: 13, color: '#7F7F7F' }}&gt;&#10;      IEEE/ASME Trans. Mechatronics · 2023, 28(4)&#10;    &lt;/Text&gt;&#10;    &lt;Text style={{ position: 'absolute', top: 83, left: 25, width: 530, fontSize: 14, color: '#000000', lineHeight: 1.4 }}&gt;&#10;      齿轮约束桨叶自转，仅用一套轮系实现陆地行驶+水面推进+越障&#10;    &lt;/Text&gt;&#10;    &lt;Text style={{ position: 'absolute', top: 107, left: 25, fontSize: 13, color: '#2E75B6', fontWeight: 'bold' }}&gt;&#10;      ✓ 对塔设计的启示：紧凑机构兼顾水陆运动与越障能力&#10;    &lt;/Text&gt;&#10;  &lt;/Box&gt;&#10;&#10;  {/* 卡片 06：右列 */}&#10;  &lt;Box style={{ position: 'absolute', top: 429, left: 703, width: 566, height: 130, background: '#E2E6ED', borderRadius: 4 }}&gt;&#10;    &lt;Box style={{ position: 'absolute', top: 27, left: 21, width: 40, height: 40, borderRadius: '50%', background: '#1045C9', justifyContent: 'center', alignItems: 'center' }}&gt;&#10;      &lt;Text style={{ fontSize: 16, fontWeight: 'bold', color: '#FFFFFF' }}&gt;06&lt;/Text&gt;&#10;    &lt;/Box&gt;&#10;    &lt;Text style={{ position: 'absolute', top: 15, left: 77, fontSize: 18, fontWeight: 'bold', color: '#1045C9' }}&gt;&#10;      模块化空地车队系统集成&#10;    &lt;/Text&gt;&#10;    &lt;Text style={{ position: 'absolute', top: 48, left: 77, fontSize: 13, color: '#7F7F7F' }}&gt;&#10;      DESIGN Conference · 2018&#10;    &lt;/Text&gt;&#10;    &lt;Text style={{ position: 'absolute', top: 83, left: 25, width: 530, fontSize: 14, color: '#000000', lineHeight: 1.4 }}&gt;&#10;      模块化设计需在车队任务演化中评价，UGV自动换电是关键车队级行为&#10;    &lt;/Text&gt;&#10;    &lt;Text style={{ position: 'absolute', top: 107, left: 25, fontSize: 13, color: '#2E75B6', fontWeight: 'bold' }}&gt;&#10;      ✓ 对塔设计的启示：模块化调度与自动换电机制&#10;    &lt;/Text&gt;&#10;  &lt;/Box&gt;&#10;&#10;  {/* ===== 底部研究空白总结条 ===== */}&#10;  &lt;Box style={{ position: 'absolute', bottom: 0, left: 0, width: 1280, height: 48, background: '#5B9BD5', flexDirection: 'row', alignItems: 'center', paddingLeft: 86 }}&gt;&#10;    &lt;Text style={{ fontSize: 15, color: '#FFFFFF', fontWeight: 'bold' }}&gt;&#10;      研究空白：现有文献在可部署机构、自主对接、两栖移动与系统集成四大领域各有突破，但尚无面向洪涝灾后应急配送场景的&quot;中心基站塔&quot;全系统集成方案&#10;    &lt;/Text&gt;&#10;  &lt;/Box&gt;&#10;&#10;  {/* ===== 右下角标注 ===== */}&#10;  &lt;Text style={{ position: 'absolute', bottom: 56, right: 50, fontSize: 12, color: '#7F7F7F' }}&gt;&#10;    水陆两栖应急配送舰队 · 开题报告&#10;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466725"/>
          </a:xfrm>
          <a:prstGeom prst="rect">
            <a:avLst/>
          </a:prstGeom>
          <a:solidFill>
            <a:srgbClr val="5B9BD5"/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4991100" y="0"/>
            <a:ext cx="2200275" cy="466725"/>
          </a:xfrm>
          <a:prstGeom prst="rect">
            <a:avLst/>
          </a:prstGeom>
          <a:solidFill>
            <a:srgbClr val="E2E6ED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76300" y="57150"/>
            <a:ext cx="1409700" cy="428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75" b="1">
                <a:solidFill>
                  <a:srgbClr val="003399"/>
                </a:solidFill>
                <a:latin typeface="Microsoft YaHei"/>
                <a:ea typeface="Microsoft YaHei"/>
              </a:rPr>
              <a:t>文献综述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1114425" y="47625"/>
            <a:ext cx="1095375" cy="371475"/>
          </a:xfrm>
          <a:prstGeom prst="roundRect">
            <a:avLst>
              <a:gd name="adj" fmla="val 51282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323975" y="1333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00000"/>
                </a:solidFill>
                <a:latin typeface="Microsoft YaHei"/>
                <a:ea typeface="Microsoft YaHei"/>
              </a:rPr>
              <a:t>问题识别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3333750" y="47625"/>
            <a:ext cx="1095375" cy="371475"/>
          </a:xfrm>
          <a:prstGeom prst="roundRect">
            <a:avLst>
              <a:gd name="adj" fmla="val 51282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3543300" y="1333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00000"/>
                </a:solidFill>
                <a:latin typeface="Microsoft YaHei"/>
                <a:ea typeface="Microsoft YaHei"/>
              </a:rPr>
              <a:t>概念构思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5543550" y="47625"/>
            <a:ext cx="1095375" cy="371475"/>
          </a:xfrm>
          <a:prstGeom prst="roundRect">
            <a:avLst>
              <a:gd name="adj" fmla="val 51282"/>
            </a:avLst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5753100" y="1333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文献调研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7762875" y="47625"/>
            <a:ext cx="1095375" cy="371475"/>
          </a:xfrm>
          <a:prstGeom prst="roundRect">
            <a:avLst>
              <a:gd name="adj" fmla="val 51282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7972425" y="1333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00000"/>
                </a:solidFill>
                <a:latin typeface="Microsoft YaHei"/>
                <a:ea typeface="Microsoft YaHei"/>
              </a:rPr>
              <a:t>方案设计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9982200" y="47625"/>
            <a:ext cx="1095375" cy="371475"/>
          </a:xfrm>
          <a:prstGeom prst="roundRect">
            <a:avLst>
              <a:gd name="adj" fmla="val 51282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10191750" y="1333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00000"/>
                </a:solidFill>
                <a:latin typeface="Microsoft YaHei"/>
                <a:ea typeface="Microsoft YaHei"/>
              </a:rPr>
              <a:t>迭代优化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819150" y="1466850"/>
            <a:ext cx="5391150" cy="1238250"/>
          </a:xfrm>
          <a:prstGeom prst="roundRect">
            <a:avLst>
              <a:gd name="adj" fmla="val 3077"/>
            </a:avLst>
          </a:prstGeom>
          <a:solidFill>
            <a:srgbClr val="E2E6ED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1019175" y="1724025"/>
            <a:ext cx="381000" cy="381000"/>
          </a:xfrm>
          <a:custGeom>
            <a:pathLst>
              <a:path w="40" h="40">
                <a:moveTo>
                  <a:pt x="20" y="0"/>
                </a:moveTo>
                <a:lnTo>
                  <a:pt x="20" y="0"/>
                </a:lnTo>
                <a:cubicBezTo>
                  <a:pt x="31" y="0"/>
                  <a:pt x="40" y="9"/>
                  <a:pt x="40" y="20"/>
                </a:cubicBezTo>
                <a:lnTo>
                  <a:pt x="40" y="20"/>
                </a:lnTo>
                <a:cubicBezTo>
                  <a:pt x="40" y="31"/>
                  <a:pt x="31" y="40"/>
                  <a:pt x="20" y="40"/>
                </a:cubicBezTo>
                <a:lnTo>
                  <a:pt x="20" y="40"/>
                </a:lnTo>
                <a:cubicBezTo>
                  <a:pt x="9" y="40"/>
                  <a:pt x="0" y="31"/>
                  <a:pt x="0" y="20"/>
                </a:cubicBezTo>
                <a:lnTo>
                  <a:pt x="0" y="20"/>
                </a:lnTo>
                <a:cubicBezTo>
                  <a:pt x="0" y="9"/>
                  <a:pt x="9" y="0"/>
                  <a:pt x="20" y="0"/>
                </a:cubicBezTo>
                <a:close/>
              </a:path>
            </a:pathLst>
          </a:custGeom>
          <a:solidFill>
            <a:srgbClr val="1045C9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114425" y="1819275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552575" y="1609725"/>
            <a:ext cx="1657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045C9"/>
                </a:solidFill>
                <a:latin typeface="Microsoft YaHei"/>
                <a:ea typeface="Microsoft YaHei"/>
              </a:rPr>
              <a:t>JAXA</a:t>
            </a:r>
            <a:r>
              <a:rPr lang="zh-CN" sz="1350" b="1">
                <a:solidFill>
                  <a:srgbClr val="1045C9"/>
                </a:solidFill>
                <a:latin typeface="Microsoft YaHei"/>
                <a:ea typeface="Microsoft YaHei"/>
              </a:rPr>
              <a:t>月球车部署坡道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552575" y="1924050"/>
            <a:ext cx="2295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7F7F7F"/>
                </a:solidFill>
                <a:latin typeface="Microsoft YaHei"/>
                <a:ea typeface="Microsoft YaHei"/>
              </a:rPr>
              <a:t>Acta Astronautica · 2017, 138: 454–461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057275" y="2257425"/>
            <a:ext cx="50482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000000"/>
                </a:solidFill>
                <a:latin typeface="Microsoft YaHei"/>
                <a:ea typeface="Microsoft YaHei"/>
              </a:rPr>
              <a:t>伸缩式与折叠式坡道方案权衡，折叠式因机构简单、故障冗余更高被选为任务方案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057275" y="2486025"/>
            <a:ext cx="2514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E75B6"/>
                </a:solidFill>
                <a:latin typeface="Microsoft YaHei"/>
                <a:ea typeface="Microsoft YaHei"/>
              </a:rPr>
              <a:t>✓ </a:t>
            </a:r>
            <a:r>
              <a:rPr lang="zh-CN" sz="975" b="1">
                <a:solidFill>
                  <a:srgbClr val="2E75B6"/>
                </a:solidFill>
                <a:latin typeface="Microsoft YaHei"/>
                <a:ea typeface="Microsoft YaHei"/>
              </a:rPr>
              <a:t>对塔设计的启示：折叠冗余方案，快速架设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6696075" y="1466850"/>
            <a:ext cx="5391150" cy="1238250"/>
          </a:xfrm>
          <a:prstGeom prst="roundRect">
            <a:avLst>
              <a:gd name="adj" fmla="val 3077"/>
            </a:avLst>
          </a:prstGeom>
          <a:solidFill>
            <a:srgbClr val="E2E6ED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6896100" y="1724025"/>
            <a:ext cx="381000" cy="381000"/>
          </a:xfrm>
          <a:custGeom>
            <a:pathLst>
              <a:path w="40" h="40">
                <a:moveTo>
                  <a:pt x="20" y="0"/>
                </a:moveTo>
                <a:lnTo>
                  <a:pt x="20" y="0"/>
                </a:lnTo>
                <a:cubicBezTo>
                  <a:pt x="31" y="0"/>
                  <a:pt x="40" y="9"/>
                  <a:pt x="40" y="20"/>
                </a:cubicBezTo>
                <a:lnTo>
                  <a:pt x="40" y="20"/>
                </a:lnTo>
                <a:cubicBezTo>
                  <a:pt x="40" y="31"/>
                  <a:pt x="31" y="40"/>
                  <a:pt x="20" y="40"/>
                </a:cubicBezTo>
                <a:lnTo>
                  <a:pt x="20" y="40"/>
                </a:lnTo>
                <a:cubicBezTo>
                  <a:pt x="9" y="40"/>
                  <a:pt x="0" y="31"/>
                  <a:pt x="0" y="20"/>
                </a:cubicBezTo>
                <a:lnTo>
                  <a:pt x="0" y="20"/>
                </a:lnTo>
                <a:cubicBezTo>
                  <a:pt x="0" y="9"/>
                  <a:pt x="9" y="0"/>
                  <a:pt x="20" y="0"/>
                </a:cubicBezTo>
                <a:close/>
              </a:path>
            </a:pathLst>
          </a:custGeom>
          <a:solidFill>
            <a:srgbClr val="1045C9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991350" y="1819275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429500" y="1609725"/>
            <a:ext cx="1485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045C9"/>
                </a:solidFill>
                <a:latin typeface="Microsoft YaHei"/>
                <a:ea typeface="Microsoft YaHei"/>
              </a:rPr>
              <a:t>月船</a:t>
            </a:r>
            <a:r>
              <a:rPr lang="en-US" sz="1350" b="1">
                <a:solidFill>
                  <a:srgbClr val="1045C9"/>
                </a:solidFill>
                <a:latin typeface="Microsoft YaHei"/>
                <a:ea typeface="Microsoft YaHei"/>
              </a:rPr>
              <a:t>3</a:t>
            </a:r>
            <a:r>
              <a:rPr lang="zh-CN" sz="1350" b="1">
                <a:solidFill>
                  <a:srgbClr val="1045C9"/>
                </a:solidFill>
                <a:latin typeface="Microsoft YaHei"/>
                <a:ea typeface="Microsoft YaHei"/>
              </a:rPr>
              <a:t>号月球车坡道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429500" y="1924050"/>
            <a:ext cx="2076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7F7F7F"/>
                </a:solidFill>
                <a:latin typeface="Microsoft YaHei"/>
                <a:ea typeface="Microsoft YaHei"/>
              </a:rPr>
              <a:t>Acta Astronautica · 2025, 229: 1–12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934200" y="2257425"/>
            <a:ext cx="50482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000000"/>
                </a:solidFill>
                <a:latin typeface="Microsoft YaHei"/>
                <a:ea typeface="Microsoft YaHei"/>
              </a:rPr>
              <a:t>双面板折叠机构经有限元</a:t>
            </a:r>
            <a:r>
              <a:rPr lang="en-US" sz="1050">
                <a:solidFill>
                  <a:srgbClr val="000000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000000"/>
                </a:solidFill>
                <a:latin typeface="Microsoft YaHei"/>
                <a:ea typeface="Microsoft YaHei"/>
              </a:rPr>
              <a:t>热真空</a:t>
            </a:r>
            <a:r>
              <a:rPr lang="en-US" sz="1050">
                <a:solidFill>
                  <a:srgbClr val="000000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000000"/>
                </a:solidFill>
                <a:latin typeface="Microsoft YaHei"/>
                <a:ea typeface="Microsoft YaHei"/>
              </a:rPr>
              <a:t>振动</a:t>
            </a:r>
            <a:r>
              <a:rPr lang="en-US" sz="1050">
                <a:solidFill>
                  <a:srgbClr val="000000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000000"/>
                </a:solidFill>
                <a:latin typeface="Microsoft YaHei"/>
                <a:ea typeface="Microsoft YaHei"/>
              </a:rPr>
              <a:t>月面实投完整验证，防卡滞失效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934200" y="2486025"/>
            <a:ext cx="2514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E75B6"/>
                </a:solidFill>
                <a:latin typeface="Microsoft YaHei"/>
                <a:ea typeface="Microsoft YaHei"/>
              </a:rPr>
              <a:t>✓ </a:t>
            </a:r>
            <a:r>
              <a:rPr lang="zh-CN" sz="975" b="1">
                <a:solidFill>
                  <a:srgbClr val="2E75B6"/>
                </a:solidFill>
                <a:latin typeface="Microsoft YaHei"/>
                <a:ea typeface="Microsoft YaHei"/>
              </a:rPr>
              <a:t>对塔设计的启示：展开机构需完整验证闭环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819150" y="2781300"/>
            <a:ext cx="5391150" cy="1238250"/>
          </a:xfrm>
          <a:prstGeom prst="roundRect">
            <a:avLst>
              <a:gd name="adj" fmla="val 3077"/>
            </a:avLst>
          </a:prstGeom>
          <a:solidFill>
            <a:srgbClr val="E2E6ED"/>
          </a:solidFill>
          <a:ln/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1019175" y="3038475"/>
            <a:ext cx="381000" cy="381000"/>
          </a:xfrm>
          <a:custGeom>
            <a:pathLst>
              <a:path w="40" h="40">
                <a:moveTo>
                  <a:pt x="20" y="0"/>
                </a:moveTo>
                <a:lnTo>
                  <a:pt x="20" y="0"/>
                </a:lnTo>
                <a:cubicBezTo>
                  <a:pt x="31" y="0"/>
                  <a:pt x="40" y="9"/>
                  <a:pt x="40" y="20"/>
                </a:cubicBezTo>
                <a:lnTo>
                  <a:pt x="40" y="20"/>
                </a:lnTo>
                <a:cubicBezTo>
                  <a:pt x="40" y="31"/>
                  <a:pt x="31" y="40"/>
                  <a:pt x="20" y="40"/>
                </a:cubicBezTo>
                <a:lnTo>
                  <a:pt x="20" y="40"/>
                </a:lnTo>
                <a:cubicBezTo>
                  <a:pt x="9" y="40"/>
                  <a:pt x="0" y="31"/>
                  <a:pt x="0" y="20"/>
                </a:cubicBezTo>
                <a:lnTo>
                  <a:pt x="0" y="20"/>
                </a:lnTo>
                <a:cubicBezTo>
                  <a:pt x="0" y="9"/>
                  <a:pt x="9" y="0"/>
                  <a:pt x="20" y="0"/>
                </a:cubicBezTo>
                <a:close/>
              </a:path>
            </a:pathLst>
          </a:custGeom>
          <a:solidFill>
            <a:srgbClr val="1045C9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114425" y="3133725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552575" y="2924175"/>
            <a:ext cx="1885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045C9"/>
                </a:solidFill>
                <a:latin typeface="Microsoft YaHei"/>
                <a:ea typeface="Microsoft YaHei"/>
              </a:rPr>
              <a:t>安防机器人自动对接充电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552575" y="3238500"/>
            <a:ext cx="1219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7F7F7F"/>
                </a:solidFill>
                <a:latin typeface="Microsoft YaHei"/>
                <a:ea typeface="Microsoft YaHei"/>
              </a:rPr>
              <a:t>IEEE/RSJ IROS · 2005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057275" y="3571875"/>
            <a:ext cx="50482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000000"/>
                </a:solidFill>
                <a:latin typeface="Microsoft YaHei"/>
                <a:ea typeface="Microsoft YaHei"/>
              </a:rPr>
              <a:t>视觉地标</a:t>
            </a:r>
            <a:r>
              <a:rPr lang="en-US" sz="1050">
                <a:solidFill>
                  <a:srgbClr val="000000"/>
                </a:solidFill>
                <a:latin typeface="Microsoft YaHei"/>
                <a:ea typeface="Microsoft YaHei"/>
              </a:rPr>
              <a:t>+</a:t>
            </a:r>
            <a:r>
              <a:rPr lang="zh-CN" sz="1050">
                <a:solidFill>
                  <a:srgbClr val="000000"/>
                </a:solidFill>
                <a:latin typeface="Microsoft YaHei"/>
                <a:ea typeface="Microsoft YaHei"/>
              </a:rPr>
              <a:t>虚拟弹簧</a:t>
            </a:r>
            <a:r>
              <a:rPr lang="en-US" sz="1050">
                <a:solidFill>
                  <a:srgbClr val="000000"/>
                </a:solidFill>
                <a:latin typeface="Microsoft YaHei"/>
                <a:ea typeface="Microsoft YaHei"/>
              </a:rPr>
              <a:t>+</a:t>
            </a:r>
            <a:r>
              <a:rPr lang="zh-CN" sz="1050">
                <a:solidFill>
                  <a:srgbClr val="000000"/>
                </a:solidFill>
                <a:latin typeface="Microsoft YaHei"/>
                <a:ea typeface="Microsoft YaHei"/>
              </a:rPr>
              <a:t>被动柔顺三层容错，</a:t>
            </a:r>
            <a:r>
              <a:rPr lang="en-US" sz="1050">
                <a:solidFill>
                  <a:srgbClr val="000000"/>
                </a:solidFill>
                <a:latin typeface="Microsoft YaHei"/>
                <a:ea typeface="Microsoft YaHei"/>
              </a:rPr>
              <a:t>100</a:t>
            </a:r>
            <a:r>
              <a:rPr lang="zh-CN" sz="1050">
                <a:solidFill>
                  <a:srgbClr val="000000"/>
                </a:solidFill>
                <a:latin typeface="Microsoft YaHei"/>
                <a:ea typeface="Microsoft YaHei"/>
              </a:rPr>
              <a:t>次对接成功率</a:t>
            </a:r>
            <a:r>
              <a:rPr lang="en-US" sz="1050">
                <a:solidFill>
                  <a:srgbClr val="000000"/>
                </a:solidFill>
                <a:latin typeface="Microsoft YaHei"/>
                <a:ea typeface="Microsoft YaHei"/>
              </a:rPr>
              <a:t>99%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057275" y="3800475"/>
            <a:ext cx="2905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E75B6"/>
                </a:solidFill>
                <a:latin typeface="Microsoft YaHei"/>
                <a:ea typeface="Microsoft YaHei"/>
              </a:rPr>
              <a:t>✓ </a:t>
            </a:r>
            <a:r>
              <a:rPr lang="zh-CN" sz="975" b="1">
                <a:solidFill>
                  <a:srgbClr val="2E75B6"/>
                </a:solidFill>
                <a:latin typeface="Microsoft YaHei"/>
                <a:ea typeface="Microsoft YaHei"/>
              </a:rPr>
              <a:t>对塔设计的启示：感知—控制—机械三层容错设计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696075" y="2781300"/>
            <a:ext cx="5391150" cy="1238250"/>
          </a:xfrm>
          <a:prstGeom prst="roundRect">
            <a:avLst>
              <a:gd name="adj" fmla="val 3077"/>
            </a:avLst>
          </a:prstGeom>
          <a:solidFill>
            <a:srgbClr val="E2E6ED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6896100" y="3038475"/>
            <a:ext cx="381000" cy="381000"/>
          </a:xfrm>
          <a:custGeom>
            <a:pathLst>
              <a:path w="40" h="40">
                <a:moveTo>
                  <a:pt x="20" y="0"/>
                </a:moveTo>
                <a:lnTo>
                  <a:pt x="20" y="0"/>
                </a:lnTo>
                <a:cubicBezTo>
                  <a:pt x="31" y="0"/>
                  <a:pt x="40" y="9"/>
                  <a:pt x="40" y="20"/>
                </a:cubicBezTo>
                <a:lnTo>
                  <a:pt x="40" y="20"/>
                </a:lnTo>
                <a:cubicBezTo>
                  <a:pt x="40" y="31"/>
                  <a:pt x="31" y="40"/>
                  <a:pt x="20" y="40"/>
                </a:cubicBezTo>
                <a:lnTo>
                  <a:pt x="20" y="40"/>
                </a:lnTo>
                <a:cubicBezTo>
                  <a:pt x="9" y="40"/>
                  <a:pt x="0" y="31"/>
                  <a:pt x="0" y="20"/>
                </a:cubicBezTo>
                <a:lnTo>
                  <a:pt x="0" y="20"/>
                </a:lnTo>
                <a:cubicBezTo>
                  <a:pt x="0" y="9"/>
                  <a:pt x="9" y="0"/>
                  <a:pt x="20" y="0"/>
                </a:cubicBezTo>
                <a:close/>
              </a:path>
            </a:pathLst>
          </a:custGeom>
          <a:solidFill>
            <a:srgbClr val="1045C9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991350" y="3133725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429500" y="2924175"/>
            <a:ext cx="1790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045C9"/>
                </a:solidFill>
                <a:latin typeface="Microsoft YaHei"/>
                <a:ea typeface="Microsoft YaHei"/>
              </a:rPr>
              <a:t>视觉</a:t>
            </a:r>
            <a:r>
              <a:rPr lang="en-US" sz="1350" b="1">
                <a:solidFill>
                  <a:srgbClr val="1045C9"/>
                </a:solidFill>
                <a:latin typeface="Microsoft YaHei"/>
                <a:ea typeface="Microsoft YaHei"/>
              </a:rPr>
              <a:t>-</a:t>
            </a:r>
            <a:r>
              <a:rPr lang="zh-CN" sz="1350" b="1">
                <a:solidFill>
                  <a:srgbClr val="1045C9"/>
                </a:solidFill>
                <a:latin typeface="Microsoft YaHei"/>
                <a:ea typeface="Microsoft YaHei"/>
              </a:rPr>
              <a:t>激光雷达自主对接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429500" y="3238500"/>
            <a:ext cx="2266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7F7F7F"/>
                </a:solidFill>
                <a:latin typeface="Microsoft YaHei"/>
                <a:ea typeface="Microsoft YaHei"/>
              </a:rPr>
              <a:t>Applied Sciences · 2023, 13(19): 10675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934200" y="3571875"/>
            <a:ext cx="50482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000000"/>
                </a:solidFill>
                <a:latin typeface="Microsoft YaHei"/>
                <a:ea typeface="Microsoft YaHei"/>
              </a:rPr>
              <a:t>YOLOv7</a:t>
            </a:r>
            <a:r>
              <a:rPr lang="zh-CN" sz="1050">
                <a:solidFill>
                  <a:srgbClr val="000000"/>
                </a:solidFill>
                <a:latin typeface="Microsoft YaHei"/>
                <a:ea typeface="Microsoft YaHei"/>
              </a:rPr>
              <a:t>识别充电站</a:t>
            </a:r>
            <a:r>
              <a:rPr lang="en-US" sz="1050">
                <a:solidFill>
                  <a:srgbClr val="000000"/>
                </a:solidFill>
                <a:latin typeface="Microsoft YaHei"/>
                <a:ea typeface="Microsoft YaHei"/>
              </a:rPr>
              <a:t>+</a:t>
            </a:r>
            <a:r>
              <a:rPr lang="zh-CN" sz="1050">
                <a:solidFill>
                  <a:srgbClr val="000000"/>
                </a:solidFill>
                <a:latin typeface="Microsoft YaHei"/>
                <a:ea typeface="Microsoft YaHei"/>
              </a:rPr>
              <a:t>激光雷达七状态机，验证集</a:t>
            </a:r>
            <a:r>
              <a:rPr lang="en-US" sz="1050">
                <a:solidFill>
                  <a:srgbClr val="000000"/>
                </a:solidFill>
                <a:latin typeface="Microsoft YaHei"/>
                <a:ea typeface="Microsoft YaHei"/>
              </a:rPr>
              <a:t>mAP@0.5</a:t>
            </a:r>
            <a:r>
              <a:rPr lang="zh-CN" sz="1050">
                <a:solidFill>
                  <a:srgbClr val="000000"/>
                </a:solidFill>
                <a:latin typeface="Microsoft YaHei"/>
                <a:ea typeface="Microsoft YaHei"/>
              </a:rPr>
              <a:t>达</a:t>
            </a:r>
            <a:r>
              <a:rPr lang="en-US" sz="1050">
                <a:solidFill>
                  <a:srgbClr val="000000"/>
                </a:solidFill>
                <a:latin typeface="Microsoft YaHei"/>
                <a:ea typeface="Microsoft YaHei"/>
              </a:rPr>
              <a:t>99.4%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934200" y="3800475"/>
            <a:ext cx="2981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E75B6"/>
                </a:solidFill>
                <a:latin typeface="Microsoft YaHei"/>
                <a:ea typeface="Microsoft YaHei"/>
              </a:rPr>
              <a:t>✓ </a:t>
            </a:r>
            <a:r>
              <a:rPr lang="zh-CN" sz="975" b="1">
                <a:solidFill>
                  <a:srgbClr val="2E75B6"/>
                </a:solidFill>
                <a:latin typeface="Microsoft YaHei"/>
                <a:ea typeface="Microsoft YaHei"/>
              </a:rPr>
              <a:t>对塔设计的启示：视觉语义</a:t>
            </a:r>
            <a:r>
              <a:rPr lang="en-US" sz="975" b="1">
                <a:solidFill>
                  <a:srgbClr val="2E75B6"/>
                </a:solidFill>
                <a:latin typeface="Microsoft YaHei"/>
                <a:ea typeface="Microsoft YaHei"/>
              </a:rPr>
              <a:t>+</a:t>
            </a:r>
            <a:r>
              <a:rPr lang="zh-CN" sz="975" b="1">
                <a:solidFill>
                  <a:srgbClr val="2E75B6"/>
                </a:solidFill>
                <a:latin typeface="Microsoft YaHei"/>
                <a:ea typeface="Microsoft YaHei"/>
              </a:rPr>
              <a:t>激光雷达几何互补对接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819150" y="4086225"/>
            <a:ext cx="5391150" cy="1238250"/>
          </a:xfrm>
          <a:prstGeom prst="roundRect">
            <a:avLst>
              <a:gd name="adj" fmla="val 3077"/>
            </a:avLst>
          </a:prstGeom>
          <a:solidFill>
            <a:srgbClr val="E2E6ED"/>
          </a:solidFill>
          <a:ln/>
        </p:spPr>
        <p:txBody>
          <a:bodyPr/>
          <a:p/>
        </p:txBody>
      </p:sp>
      <p:sp>
        <p:nvSpPr>
          <p:cNvPr id="45" name=""/>
          <p:cNvSpPr/>
          <p:nvPr/>
        </p:nvSpPr>
        <p:spPr>
          <a:xfrm rot="0" flipH="0" flipV="0">
            <a:off x="1019175" y="4343400"/>
            <a:ext cx="381000" cy="381000"/>
          </a:xfrm>
          <a:custGeom>
            <a:pathLst>
              <a:path w="40" h="40">
                <a:moveTo>
                  <a:pt x="20" y="0"/>
                </a:moveTo>
                <a:lnTo>
                  <a:pt x="20" y="0"/>
                </a:lnTo>
                <a:cubicBezTo>
                  <a:pt x="31" y="0"/>
                  <a:pt x="40" y="9"/>
                  <a:pt x="40" y="20"/>
                </a:cubicBezTo>
                <a:lnTo>
                  <a:pt x="40" y="20"/>
                </a:lnTo>
                <a:cubicBezTo>
                  <a:pt x="40" y="31"/>
                  <a:pt x="31" y="40"/>
                  <a:pt x="20" y="40"/>
                </a:cubicBezTo>
                <a:lnTo>
                  <a:pt x="20" y="40"/>
                </a:lnTo>
                <a:cubicBezTo>
                  <a:pt x="9" y="40"/>
                  <a:pt x="0" y="31"/>
                  <a:pt x="0" y="20"/>
                </a:cubicBezTo>
                <a:lnTo>
                  <a:pt x="0" y="20"/>
                </a:lnTo>
                <a:cubicBezTo>
                  <a:pt x="0" y="9"/>
                  <a:pt x="9" y="0"/>
                  <a:pt x="20" y="0"/>
                </a:cubicBezTo>
                <a:close/>
              </a:path>
            </a:pathLst>
          </a:custGeom>
          <a:solidFill>
            <a:srgbClr val="1045C9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114425" y="443865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552575" y="4229100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045C9"/>
                </a:solidFill>
                <a:latin typeface="Microsoft YaHei"/>
                <a:ea typeface="Microsoft YaHei"/>
              </a:rPr>
              <a:t>自旋转桨轮两栖机器人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552575" y="4543425"/>
            <a:ext cx="2619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7F7F7F"/>
                </a:solidFill>
                <a:latin typeface="Microsoft YaHei"/>
                <a:ea typeface="Microsoft YaHei"/>
              </a:rPr>
              <a:t>IEEE/ASME Trans. Mechatronics · 2023, 28(4)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057275" y="4876800"/>
            <a:ext cx="50482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000000"/>
                </a:solidFill>
                <a:latin typeface="Microsoft YaHei"/>
                <a:ea typeface="Microsoft YaHei"/>
              </a:rPr>
              <a:t>齿轮约束桨叶自转，仅用一套轮系实现陆地行驶</a:t>
            </a:r>
            <a:r>
              <a:rPr lang="en-US" sz="1050">
                <a:solidFill>
                  <a:srgbClr val="000000"/>
                </a:solidFill>
                <a:latin typeface="Microsoft YaHei"/>
                <a:ea typeface="Microsoft YaHei"/>
              </a:rPr>
              <a:t>+</a:t>
            </a:r>
            <a:r>
              <a:rPr lang="zh-CN" sz="1050">
                <a:solidFill>
                  <a:srgbClr val="000000"/>
                </a:solidFill>
                <a:latin typeface="Microsoft YaHei"/>
                <a:ea typeface="Microsoft YaHei"/>
              </a:rPr>
              <a:t>水面推进</a:t>
            </a:r>
            <a:r>
              <a:rPr lang="en-US" sz="1050">
                <a:solidFill>
                  <a:srgbClr val="000000"/>
                </a:solidFill>
                <a:latin typeface="Microsoft YaHei"/>
                <a:ea typeface="Microsoft YaHei"/>
              </a:rPr>
              <a:t>+</a:t>
            </a:r>
            <a:r>
              <a:rPr lang="zh-CN" sz="1050">
                <a:solidFill>
                  <a:srgbClr val="000000"/>
                </a:solidFill>
                <a:latin typeface="Microsoft YaHei"/>
                <a:ea typeface="Microsoft YaHei"/>
              </a:rPr>
              <a:t>越障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057275" y="5105400"/>
            <a:ext cx="3009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E75B6"/>
                </a:solidFill>
                <a:latin typeface="Microsoft YaHei"/>
                <a:ea typeface="Microsoft YaHei"/>
              </a:rPr>
              <a:t>✓ </a:t>
            </a:r>
            <a:r>
              <a:rPr lang="zh-CN" sz="975" b="1">
                <a:solidFill>
                  <a:srgbClr val="2E75B6"/>
                </a:solidFill>
                <a:latin typeface="Microsoft YaHei"/>
                <a:ea typeface="Microsoft YaHei"/>
              </a:rPr>
              <a:t>对塔设计的启示：紧凑机构兼顾水陆运动与越障能力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6696075" y="4086225"/>
            <a:ext cx="5391150" cy="1238250"/>
          </a:xfrm>
          <a:prstGeom prst="roundRect">
            <a:avLst>
              <a:gd name="adj" fmla="val 3077"/>
            </a:avLst>
          </a:prstGeom>
          <a:solidFill>
            <a:srgbClr val="E2E6ED"/>
          </a:solidFill>
          <a:ln/>
        </p:spPr>
        <p:txBody>
          <a:bodyPr/>
          <a:p/>
        </p:txBody>
      </p:sp>
      <p:sp>
        <p:nvSpPr>
          <p:cNvPr id="52" name=""/>
          <p:cNvSpPr/>
          <p:nvPr/>
        </p:nvSpPr>
        <p:spPr>
          <a:xfrm rot="0" flipH="0" flipV="0">
            <a:off x="6896100" y="4343400"/>
            <a:ext cx="381000" cy="381000"/>
          </a:xfrm>
          <a:custGeom>
            <a:pathLst>
              <a:path w="40" h="40">
                <a:moveTo>
                  <a:pt x="20" y="0"/>
                </a:moveTo>
                <a:lnTo>
                  <a:pt x="20" y="0"/>
                </a:lnTo>
                <a:cubicBezTo>
                  <a:pt x="31" y="0"/>
                  <a:pt x="40" y="9"/>
                  <a:pt x="40" y="20"/>
                </a:cubicBezTo>
                <a:lnTo>
                  <a:pt x="40" y="20"/>
                </a:lnTo>
                <a:cubicBezTo>
                  <a:pt x="40" y="31"/>
                  <a:pt x="31" y="40"/>
                  <a:pt x="20" y="40"/>
                </a:cubicBezTo>
                <a:lnTo>
                  <a:pt x="20" y="40"/>
                </a:lnTo>
                <a:cubicBezTo>
                  <a:pt x="9" y="40"/>
                  <a:pt x="0" y="31"/>
                  <a:pt x="0" y="20"/>
                </a:cubicBezTo>
                <a:lnTo>
                  <a:pt x="0" y="20"/>
                </a:lnTo>
                <a:cubicBezTo>
                  <a:pt x="0" y="9"/>
                  <a:pt x="9" y="0"/>
                  <a:pt x="20" y="0"/>
                </a:cubicBezTo>
                <a:close/>
              </a:path>
            </a:pathLst>
          </a:custGeom>
          <a:solidFill>
            <a:srgbClr val="1045C9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991350" y="443865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429500" y="4229100"/>
            <a:ext cx="1885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045C9"/>
                </a:solidFill>
                <a:latin typeface="Microsoft YaHei"/>
                <a:ea typeface="Microsoft YaHei"/>
              </a:rPr>
              <a:t>模块化空地车队系统集成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429500" y="4543425"/>
            <a:ext cx="1571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7F7F7F"/>
                </a:solidFill>
                <a:latin typeface="Microsoft YaHei"/>
                <a:ea typeface="Microsoft YaHei"/>
              </a:rPr>
              <a:t>DESIGN Conference · 2018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934200" y="4876800"/>
            <a:ext cx="50482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000000"/>
                </a:solidFill>
                <a:latin typeface="Microsoft YaHei"/>
                <a:ea typeface="Microsoft YaHei"/>
              </a:rPr>
              <a:t>模块化设计需在车队任务演化中评价，</a:t>
            </a:r>
            <a:r>
              <a:rPr lang="en-US" sz="1050">
                <a:solidFill>
                  <a:srgbClr val="000000"/>
                </a:solidFill>
                <a:latin typeface="Microsoft YaHei"/>
                <a:ea typeface="Microsoft YaHei"/>
              </a:rPr>
              <a:t>UGV</a:t>
            </a:r>
            <a:r>
              <a:rPr lang="zh-CN" sz="1050">
                <a:solidFill>
                  <a:srgbClr val="000000"/>
                </a:solidFill>
                <a:latin typeface="Microsoft YaHei"/>
                <a:ea typeface="Microsoft YaHei"/>
              </a:rPr>
              <a:t>自动换电是关键车队级行为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934200" y="5105400"/>
            <a:ext cx="2638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E75B6"/>
                </a:solidFill>
                <a:latin typeface="Microsoft YaHei"/>
                <a:ea typeface="Microsoft YaHei"/>
              </a:rPr>
              <a:t>✓ </a:t>
            </a:r>
            <a:r>
              <a:rPr lang="zh-CN" sz="975" b="1">
                <a:solidFill>
                  <a:srgbClr val="2E75B6"/>
                </a:solidFill>
                <a:latin typeface="Microsoft YaHei"/>
                <a:ea typeface="Microsoft YaHei"/>
              </a:rPr>
              <a:t>对塔设计的启示：模块化调度与自动换电机制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0" y="6400800"/>
            <a:ext cx="12192000" cy="457200"/>
          </a:xfrm>
          <a:prstGeom prst="rect">
            <a:avLst/>
          </a:prstGeom>
          <a:solidFill>
            <a:srgbClr val="5B9BD5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819150" y="6543675"/>
            <a:ext cx="9725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研究空白：现有文献在可部署机构、自主对接、两栖移动与系统集成四大领域各有突破，但尚无面向洪涝灾后应急配送场景的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中心基站塔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全系统集成方案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0020300" y="6181725"/>
            <a:ext cx="1695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7F7F7F"/>
                </a:solidFill>
                <a:latin typeface="Microsoft YaHei"/>
                <a:ea typeface="Microsoft YaHei"/>
              </a:rPr>
              <a:t>水陆两栖应急配送舰队</a:t>
            </a:r>
            <a:r>
              <a:rPr lang="en-US" sz="900">
                <a:solidFill>
                  <a:srgbClr val="7F7F7F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7F7F7F"/>
                </a:solidFill>
                <a:latin typeface="Microsoft YaHei"/>
                <a:ea typeface="Microsoft YaHei"/>
              </a:rPr>
              <a:t>开题报告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2026-09-01T20:47:07Z</dcterms:created>
  <dcterms:modified xsi:type="dcterms:W3CDTF">2026-09-01T20:47:07Z</dcterms:modified>
</cp:coreProperties>
</file>