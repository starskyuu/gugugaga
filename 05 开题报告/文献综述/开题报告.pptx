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adding: 0, background: '#FFFFFF', position: 'relative', fontFamily: 'Microsoft YaHei' }}&gt;&#10;  {/* ===== 顶部中蓝条 ===== */}&#10;  &lt;Box style={{ position: 'absolute', top: 0, left: 0, width: 1280, height: 49, background: '#5B9BD5' }} /&gt;&#10;&#10;  {/* ===== 当前步骤高亮区 ===== */}&#10;  &lt;Box style={{ position: 'absolute', top: 0, left: 350, width: 231, height: 49, background: '#E2E6ED' }} /&gt;&#10;&#10;  {/* ===== 标题: 概念构思 ===== */}&#10;  &lt;Text style={{ position: 'absolute', top: 6, left: 92, fontSize: 37, fontWeight: 'bold', color: '#003399' }}&gt;&#10;    概念构思&#10;  &lt;/Text&gt;&#10;&#10;  {/* ===== 五步流程药丸 ===== */}&#10;  &lt;Box style={{ position: 'absolute', top: 5, left: 117, width: 115, height: 39, background: '#F2F2F2', borderRadius: 20, justifyContent: 'center', alignItems: 'center' }}&gt;&#10;    &lt;Text style={{ fontSize: 18, fontWeight: 'bold', color: '#000000' }}&gt;问题识别&lt;/Text&gt;&#10;  &lt;/Box&gt;&#10;  &lt;Box style={{ position: 'absolute', top: 5, left: 350, width: 115, height: 39, background: '#2E75B6', borderRadius: 20, justifyContent: 'center', alignItems: 'center' }}&gt;&#10;    &lt;Text style={{ fontSize: 18, fontWeight: 'bold', color: '#FFFFFF' }}&gt;概念构思&lt;/Text&gt;&#10;  &lt;/Box&gt;&#10;  &lt;Box style={{ position: 'absolute', top: 5, left: 582, width: 115, height: 39, background: '#F2F2F2', borderRadius: 20, justifyContent: 'center', alignItems: 'center' }}&gt;&#10;    &lt;Text style={{ fontSize: 18, fontWeight: 'bold', color: '#000000' }}&gt;文献调研&lt;/Text&gt;&#10;  &lt;/Box&gt;&#10;  &lt;Box style={{ position: 'absolute', top: 5, left: 815, width: 115, height: 39, background: '#F2F2F2', borderRadius: 20, justifyContent: 'center', alignItems: 'center' }}&gt;&#10;    &lt;Text style={{ fontSize: 18, fontWeight: 'bold', color: '#000000' }}&gt;方案设计&lt;/Text&gt;&#10;  &lt;/Box&gt;&#10;  &lt;Box style={{ position: 'absolute', top: 5, left: 1048, width: 115, height: 39, background: '#F2F2F2', borderRadius: 20, justifyContent: 'center', alignItems: 'center' }}&gt;&#10;    &lt;Text style={{ fontSize: 18, fontWeight: 'bold', color: '#000000' }}&gt;迭代优化&lt;/Text&gt;&#10;  &lt;/Box&gt;&#10;&#10;  {/* ===== 卡片：2列 × 3行 —— 当前解决方案的不足 ===== */}&#10;  {/* ---- 第1行 ---- */}&#10;  {/* 卡片 01：左列 */}&#10;  &lt;Box style={{ position: 'absolute', top: 154, left: 86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1&lt;/Text&gt;&#10;    &lt;/Box&gt;&#10;    &lt;Text style={{ position: 'absolute', top: 15, left: 77, fontSize: 18, fontWeight: 'bold', color: '#1045C9' }}&gt;&#10;      通信基础设施脆弱&#10;    &lt;/Text&gt;&#10;    &lt;Text style={{ position: 'absolute', top: 48, left: 77, fontSize: 13, color: '#7F7F7F' }}&gt;&#10;      基站断电断网 · 卫星电话昂贵且普及率低&#10;    &lt;/Text&gt;&#10;    &lt;Text style={{ position: 'absolute', top: 83, left: 25, width: 530, fontSize: 14, color: '#000000', lineHeight: 1.4 }}&gt;&#10;      洪涝灾害中基站光缆损毁、电力中断，受灾家庭无法发出求援，救援力量无法获取精确位置&#10;    &lt;/Text&gt;&#10;    &lt;Text style={{ position: 'absolute', top: 107, left: 25, fontSize: 13, color: '#2E75B6', fontWeight: 'bold' }}&gt;&#10;      ✓ 需要：可快速部署的独立通信中继节点&#10;    &lt;/Text&gt;&#10;  &lt;/Box&gt;&#10;&#10;  {/* 卡片 02：右列 */}&#10;  &lt;Box style={{ position: 'absolute', top: 154, left: 703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2&lt;/Text&gt;&#10;    &lt;/Box&gt;&#10;    &lt;Text style={{ position: 'absolute', top: 15, left: 77, fontSize: 18, fontWeight: 'bold', color: '#1045C9' }}&gt;&#10;      水陆两栖运力缺失&#10;    &lt;/Text&gt;&#10;    &lt;Text style={{ position: 'absolute', top: 48, left: 77, fontSize: 13, color: '#7F7F7F' }}&gt;&#10;      冲锋舟依赖人力 · 无人机载重有限&#10;    &lt;/Text&gt;&#10;    &lt;Text style={{ position: 'absolute', top: 83, left: 25, width: 530, fontSize: 14, color: '#000000', lineHeight: 1.4 }}&gt;&#10;      现有水面救援依赖人力驾驶冲锋舟，无人机仅能投送轻量物资，缺乏自主水陆两栖配送能力&#10;    &lt;/Text&gt;&#10;    &lt;Text style={{ position: 'absolute', top: 107, left: 25, fontSize: 13, color: '#2E75B6', fontWeight: 'bold' }}&gt;&#10;      ✓ 需要：自主水陆两栖无人配送船&#10;    &lt;/Text&gt;&#10;  &lt;/Box&gt;&#10;&#10;  {/* ---- 第2行 ---- */}&#10;  {/* 卡片 03：左列 */}&#10;  &lt;Box style={{ position: 'absolute', top: 292, left: 86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3&lt;/Text&gt;&#10;    &lt;/Box&gt;&#10;    &lt;Text style={{ position: 'absolute', top: 15, left: 77, fontSize: 18, fontWeight: 'bold', color: '#1045C9' }}&gt;&#10;      求援入口不统一&#10;    &lt;/Text&gt;&#10;    &lt;Text style={{ position: 'absolute', top: 48, left: 77, fontSize: 13, color: '#7F7F7F' }}&gt;&#10;      电话占线 · 社交媒体求助淹没 · 老人儿童无法操作&#10;    &lt;/Text&gt;&#10;    &lt;Text style={{ position: 'absolute', top: 83, left: 25, width: 530, fontSize: 14, color: '#000000', lineHeight: 1.4 }}&gt;&#10;      灾害中多渠道求助信息碎片化，缺乏统一接入和自动定位的求援终端，弱势群体尤难发出信号&#10;    &lt;/Text&gt;&#10;    &lt;Text style={{ position: 'absolute', top: 107, left: 25, fontSize: 13, color: '#2E75B6', fontWeight: 'bold' }}&gt;&#10;      ✓ 需要：一键求援的家庭终端，自动上报位置&#10;    &lt;/Text&gt;&#10;  &lt;/Box&gt;&#10;&#10;  {/* 卡片 04：右列 */}&#10;  &lt;Box style={{ position: 'absolute', top: 292, left: 703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4&lt;/Text&gt;&#10;    &lt;/Box&gt;&#10;    &lt;Text style={{ position: 'absolute', top: 15, left: 77, fontSize: 18, fontWeight: 'bold', color: '#1045C9' }}&gt;&#10;      无人系统续航瓶颈&#10;    &lt;/Text&gt;&#10;    &lt;Text style={{ position: 'absolute', top: 48, left: 77, fontSize: 13, color: '#7F7F7F' }}&gt;&#10;      无人机返航充电 · 无人船无自主充电能力&#10;    &lt;/Text&gt;&#10;    &lt;Text style={{ position: 'absolute', top: 83, left: 25, width: 530, fontSize: 14, color: '#000000', lineHeight: 1.4 }}&gt;&#10;      现有无人系统在灾害现场需频繁返回基地充电，严重浪费救援窗口时间，且缺乏自主对接充电能力&#10;    &lt;/Text&gt;&#10;    &lt;Text style={{ position: 'absolute', top: 107, left: 25, fontSize: 13, color: '#2E75B6', fontWeight: 'bold' }}&gt;&#10;      ✓ 需要：现场充换电枢纽，支持自主停靠补能&#10;    &lt;/Text&gt;&#10;  &lt;/Box&gt;&#10;&#10;  {/* ---- 第3行 ---- */}&#10;  {/* 卡片 05：左列 */}&#10;  &lt;Box style={{ position: 'absolute', top: 429, left: 86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5&lt;/Text&gt;&#10;    &lt;/Box&gt;&#10;    &lt;Text style={{ position: 'absolute', top: 15, left: 77, fontSize: 18, fontWeight: 'bold', color: '#1045C9' }}&gt;&#10;      调度缺乏全局视角&#10;    &lt;/Text&gt;&#10;    &lt;Text style={{ position: 'absolute', top: 48, left: 77, fontSize: 13, color: '#7F7F7F' }}&gt;&#10;      各救援队独立行动 · 无统一调度平台&#10;    &lt;/Text&gt;&#10;    &lt;Text style={{ position: 'absolute', top: 83, left: 25, width: 530, fontSize: 14, color: '#000000', lineHeight: 1.4 }}&gt;&#10;      多支救援力量各自为战，物资配送无全局优化，重复覆盖与空白区域并存，无法追踪每份物资去向&#10;    &lt;/Text&gt;&#10;    &lt;Text style={{ position: 'absolute', top: 107, left: 25, fontSize: 13, color: '#2E75B6', fontWeight: 'bold' }}&gt;&#10;      ✓ 需要：中心化调度系统，全域感知与路径优化&#10;    &lt;/Text&gt;&#10;  &lt;/Box&gt;&#10;&#10;  {/* 卡片 06：右列 */}&#10;  &lt;Box style={{ position: 'absolute', top: 429, left: 703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6&lt;/Text&gt;&#10;    &lt;/Box&gt;&#10;    &lt;Text style={{ position: 'absolute', top: 15, left: 77, fontSize: 18, fontWeight: 'bold', color: '#1045C9' }}&gt;&#10;      快速部署能力不足&#10;    &lt;/Text&gt;&#10;    &lt;Text style={{ position: 'absolute', top: 48, left: 77, fontSize: 13, color: '#7F7F7F' }}&gt;&#10;      现有设备依赖人工架设 · 耗时长 · 无折叠机构&#10;    &lt;/Text&gt;&#10;    &lt;Text style={{ position: 'absolute', top: 83, left: 25, width: 530, fontSize: 14, color: '#000000', lineHeight: 1.4 }}&gt;&#10;      通信塔、充电站等基础设施需人工搬运与架设，缺乏可折叠、自展开的机构设计，严重延误黄金救援时间&#10;    &lt;/Text&gt;&#10;    &lt;Text style={{ position: 'absolute', top: 107, left: 25, fontSize: 13, color: '#2E75B6', fontWeight: 'bold' }}&gt;&#10;      ✓ 需要：可折叠自展开的中心基站塔&#10;    &lt;/Text&gt;&#10;  &lt;/Box&gt;&#10;&#10;  {/* ===== 底部总结条 ===== */}&#10;  &lt;Box style={{ position: 'absolute', bottom: 0, left: 0, width: 1280, height: 48, background: '#5B9BD5', flexDirection: 'row', alignItems: 'center', paddingLeft: 86 }}&gt;&#10;    &lt;Text style={{ fontSize: 15, color: '#FFFFFF', fontWeight: 'bold' }}&gt;&#10;      概念构思：以&quot;中心基站塔&quot;为枢纽，整合通信中继、充换电、船队调度与求援接入，构建水陆两栖应急配送闭环&#10;    &lt;/Text&gt;&#10;  &lt;/Box&gt;&#10;&#10;  {/* ===== 右下角标注 ===== */}&#10;  &lt;Text style={{ position: 'absolute', bottom: 56, right: 50, fontSize: 12, color: '#7F7F7F' }}&gt;&#10;    水陆两栖应急配送舰队 · 开题报告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矩形 62"/>
          <p:cNvSpPr/>
          <p:nvPr/>
        </p:nvSpPr>
        <p:spPr>
          <a:xfrm>
            <a:off x="0" y="0"/>
            <a:ext cx="12192000" cy="466725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矩形 63"/>
          <p:cNvSpPr/>
          <p:nvPr/>
        </p:nvSpPr>
        <p:spPr>
          <a:xfrm>
            <a:off x="3333750" y="0"/>
            <a:ext cx="2200275" cy="466725"/>
          </a:xfrm>
          <a:prstGeom prst="rect">
            <a:avLst/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876300" y="57150"/>
            <a:ext cx="1409700" cy="428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75" b="1">
                <a:solidFill>
                  <a:srgbClr val="003399"/>
                </a:solidFill>
                <a:latin typeface="Microsoft YaHei"/>
                <a:ea typeface="Microsoft YaHei"/>
              </a:rPr>
              <a:t>概念构思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1114425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323975" y="133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问题识别</a:t>
            </a:r>
            <a:endParaRPr/>
          </a:p>
        </p:txBody>
      </p:sp>
      <p:sp>
        <p:nvSpPr>
          <p:cNvPr id="68" name="矩形: 圆角 67"/>
          <p:cNvSpPr/>
          <p:nvPr/>
        </p:nvSpPr>
        <p:spPr>
          <a:xfrm>
            <a:off x="3333750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3543300" y="133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概念构思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5543550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753100" y="133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文献调研</a:t>
            </a:r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7762875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972425" y="133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方案设计</a:t>
            </a:r>
            <a:endParaRPr/>
          </a:p>
        </p:txBody>
      </p:sp>
      <p:sp>
        <p:nvSpPr>
          <p:cNvPr id="74" name="矩形: 圆角 73"/>
          <p:cNvSpPr/>
          <p:nvPr/>
        </p:nvSpPr>
        <p:spPr>
          <a:xfrm>
            <a:off x="9982200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0191750" y="133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迭代优化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819150" y="146685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任意多边形: 形状 76"/>
          <p:cNvSpPr/>
          <p:nvPr/>
        </p:nvSpPr>
        <p:spPr>
          <a:xfrm>
            <a:off x="1019175" y="1724025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1114425" y="1819275"/>
            <a:ext cx="190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552575" y="1609725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通信基础设施脆弱</a:t>
            </a:r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552575" y="1924050"/>
            <a:ext cx="2209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基站断电断网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卫星电话昂贵且普及率低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1057275" y="2257425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洪涝灾害中基站光缆损毁、电力中断，受灾家庭无法发出求援，救援力量无法获取精确位置</a:t>
            </a:r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1057275" y="2486025"/>
            <a:ext cx="2266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需要：可快速部署的独立通信中继节点</a:t>
            </a:r>
            <a:endParaRPr/>
          </a:p>
        </p:txBody>
      </p:sp>
      <p:sp>
        <p:nvSpPr>
          <p:cNvPr id="83" name="矩形: 圆角 82"/>
          <p:cNvSpPr/>
          <p:nvPr/>
        </p:nvSpPr>
        <p:spPr>
          <a:xfrm>
            <a:off x="6696075" y="146685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任意多边形: 形状 83"/>
          <p:cNvSpPr/>
          <p:nvPr/>
        </p:nvSpPr>
        <p:spPr>
          <a:xfrm>
            <a:off x="6896100" y="1724025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6991350" y="1819275"/>
            <a:ext cx="190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7429500" y="1609725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水陆两栖运力缺失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7429500" y="1924050"/>
            <a:ext cx="1838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冲锋舟依赖人力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无人机载重有限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6934200" y="2257425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现有水面救援依赖人力驾驶冲锋舟，无人机仅能投送轻量物资，缺乏自主水陆两栖配送能力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934200" y="2486025"/>
            <a:ext cx="1895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需要：自主水陆两栖无人配送船</a:t>
            </a:r>
            <a:endParaRPr/>
          </a:p>
        </p:txBody>
      </p:sp>
      <p:sp>
        <p:nvSpPr>
          <p:cNvPr id="90" name="矩形: 圆角 89"/>
          <p:cNvSpPr/>
          <p:nvPr/>
        </p:nvSpPr>
        <p:spPr>
          <a:xfrm>
            <a:off x="819150" y="278130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任意多边形: 形状 90"/>
          <p:cNvSpPr/>
          <p:nvPr/>
        </p:nvSpPr>
        <p:spPr>
          <a:xfrm>
            <a:off x="1019175" y="3038475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1114425" y="3133725"/>
            <a:ext cx="190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552575" y="2924175"/>
            <a:ext cx="1200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求援入口不统一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552575" y="3238500"/>
            <a:ext cx="2686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电话占线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社交媒体求助淹没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老人儿童无法操作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1057275" y="3571875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灾害中多渠道求助信息碎片化，缺乏统一接入和自动定位的求援终端，弱势群体尤难发出信号</a:t>
            </a:r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057275" y="3800475"/>
            <a:ext cx="2514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需要：一键求援的家庭终端，自动上报位置</a:t>
            </a:r>
            <a:endParaRPr/>
          </a:p>
        </p:txBody>
      </p:sp>
      <p:sp>
        <p:nvSpPr>
          <p:cNvPr id="97" name="矩形: 圆角 96"/>
          <p:cNvSpPr/>
          <p:nvPr/>
        </p:nvSpPr>
        <p:spPr>
          <a:xfrm>
            <a:off x="6696075" y="278130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任意多边形: 形状 97"/>
          <p:cNvSpPr/>
          <p:nvPr/>
        </p:nvSpPr>
        <p:spPr>
          <a:xfrm>
            <a:off x="6896100" y="3038475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6991350" y="3133725"/>
            <a:ext cx="190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429500" y="2924175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无人系统续航瓶颈</a:t>
            </a:r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7429500" y="3238500"/>
            <a:ext cx="2209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无人机返航充电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无人船无自主充电能力</a:t>
            </a:r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6934200" y="3571875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现有无人系统在灾害现场需频繁返回基地充电，严重浪费救援窗口时间，且缺乏自主对接充电能力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6934200" y="3800475"/>
            <a:ext cx="2514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需要：现场充换电枢纽，支持自主停靠补能</a:t>
            </a:r>
            <a:endParaRPr/>
          </a:p>
        </p:txBody>
      </p:sp>
      <p:sp>
        <p:nvSpPr>
          <p:cNvPr id="104" name="矩形: 圆角 103"/>
          <p:cNvSpPr/>
          <p:nvPr/>
        </p:nvSpPr>
        <p:spPr>
          <a:xfrm>
            <a:off x="819150" y="4086225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" name="任意多边形: 形状 104"/>
          <p:cNvSpPr/>
          <p:nvPr/>
        </p:nvSpPr>
        <p:spPr>
          <a:xfrm>
            <a:off x="1019175" y="434340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14425" y="4438650"/>
            <a:ext cx="190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1552575" y="4229100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调度缺乏全局视角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552575" y="4543425"/>
            <a:ext cx="1962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各救援队独立行动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无统一调度平台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057275" y="4876800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多支救援力量各自为战，物资配送无全局优化，重复覆盖与空白区域并存，无法追踪每份物资去向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057275" y="5105400"/>
            <a:ext cx="2638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需要：中心化调度系统，全域感知与路径优化</a:t>
            </a:r>
            <a:endParaRPr/>
          </a:p>
        </p:txBody>
      </p:sp>
      <p:sp>
        <p:nvSpPr>
          <p:cNvPr id="111" name="矩形: 圆角 110"/>
          <p:cNvSpPr/>
          <p:nvPr/>
        </p:nvSpPr>
        <p:spPr>
          <a:xfrm>
            <a:off x="6696075" y="4086225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" name="任意多边形: 形状 111"/>
          <p:cNvSpPr/>
          <p:nvPr/>
        </p:nvSpPr>
        <p:spPr>
          <a:xfrm>
            <a:off x="6896100" y="434340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6991350" y="4438650"/>
            <a:ext cx="190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7429500" y="4229100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快速部署能力不足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7429500" y="4543425"/>
            <a:ext cx="2438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现有设备依赖人工架设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耗时长</a:t>
            </a: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7F7F7F"/>
                </a:solidFill>
                <a:latin typeface="Microsoft YaHei"/>
                <a:ea typeface="Microsoft YaHei"/>
              </a:rPr>
              <a:t>无折叠机构</a:t>
            </a:r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934200" y="4876800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通信塔、充电站等基础设施需人工搬运与架设，缺乏可折叠、自展开的机构设计，严重延误黄金救援时间</a:t>
            </a:r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934200" y="5105400"/>
            <a:ext cx="2019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需要：可折叠自展开的中心基站塔</a:t>
            </a:r>
            <a:endParaRPr/>
          </a:p>
        </p:txBody>
      </p:sp>
      <p:sp>
        <p:nvSpPr>
          <p:cNvPr id="118" name="矩形 11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819150" y="6543675"/>
            <a:ext cx="7010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概念构思：以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中心基站塔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为枢纽，整合通信中继、充换电、船队调度与求援接入，构建水陆两栖应急配送闭环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10020300" y="6181725"/>
            <a:ext cx="16954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F7F7F"/>
                </a:solidFill>
                <a:latin typeface="Microsoft YaHei"/>
                <a:ea typeface="Microsoft YaHei"/>
              </a:rPr>
              <a:t>水陆两栖应急配送舰队</a:t>
            </a:r>
            <a:r>
              <a:rPr lang="en-US" sz="900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7F7F7F"/>
                </a:solidFill>
                <a:latin typeface="Microsoft YaHei"/>
                <a:ea typeface="Microsoft YaHei"/>
              </a:rPr>
              <a:t>开题报告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微软雅黑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张 迪翔</cp:lastModifiedBy>
  <cp:revision>1</cp:revision>
  <dcterms:created xsi:type="dcterms:W3CDTF">2026-09-01T20:54:53Z</dcterms:created>
  <dcterms:modified xsi:type="dcterms:W3CDTF">2026-09-01T12:57:22Z</dcterms:modified>
</cp:coreProperties>
</file>