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97" r:id="rId3"/>
  </p:sldIdLst>
  <p:sldSz cx="12192000" cy="6858000"/>
  <p:notesSz cx="7103745" cy="10234295"/>
  <p:embeddedFontLst>
    <p:embeddedFont>
      <p:font typeface="微软雅黑" panose="020B0503020204020204" charset="-12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张瀚宸_bumyaMf2" initials="authorId_129135517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  <a:srgbClr val="1066D8"/>
    <a:srgbClr val="50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commentAuthors" Target="commentAuthor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image" Target="../media/image1.png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QQ20260901-163919"/>
          <p:cNvPicPr>
            <a:picLocks noChangeAspect="1"/>
          </p:cNvPicPr>
          <p:nvPr userDrawn="1"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2312670" y="0"/>
            <a:ext cx="7566660" cy="685863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6286126" cy="908048"/>
            <a:chOff x="338667" y="3"/>
            <a:chExt cx="6286126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5462809" cy="770215"/>
              <a:chOff x="876234" y="57212"/>
              <a:chExt cx="5462809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5462809" cy="4857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sz="2500" b="1">
                    <a:solidFill>
                      <a:srgbClr val="0039A6"/>
                    </a:solidFill>
                    <a:latin typeface="思源黑体"/>
                    <a:ea typeface="思源黑体"/>
                    <a:cs typeface="思源黑体"/>
                  </a:rPr>
                  <a:t>概念构思</a:t>
                </a:r>
                <a:endParaRPr lang="en-US" altLang="zh-CN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合作QQ： 243001978"/>
          <p:cNvSpPr/>
          <p:nvPr/>
        </p:nvSpPr>
        <p:spPr>
          <a:xfrm>
            <a:off x="9480000" y="6480000"/>
            <a:ext cx="2450000" cy="22000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sz="8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水陆两栖应急配送舰队 · 开题报告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2773680" y="0"/>
            <a:ext cx="220472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1760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问题识别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554736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文献调研</a:t>
            </a:r>
            <a:endParaRPr lang="zh-CN" altLang="en-US" b="1">
              <a:solidFill>
                <a:srgbClr val="2E75B6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76224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方案设计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9771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迭代优化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33248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概念构思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79" name="Oval 1"/>
          <p:cNvSpPr/>
          <p:nvPr/>
        </p:nvSpPr>
        <p:spPr>
          <a:xfrm>
            <a:off x="9140190" y="4030345"/>
            <a:ext cx="2377440" cy="237744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2"/>
          <p:cNvSpPr/>
          <p:nvPr/>
        </p:nvSpPr>
        <p:spPr>
          <a:xfrm>
            <a:off x="9643110" y="4533265"/>
            <a:ext cx="1371600" cy="13716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3"/>
          <p:cNvSpPr/>
          <p:nvPr/>
        </p:nvSpPr>
        <p:spPr>
          <a:xfrm>
            <a:off x="10100310" y="4990465"/>
            <a:ext cx="457200" cy="4572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9"/>
          <p:cNvSpPr/>
          <p:nvPr/>
        </p:nvSpPr>
        <p:spPr>
          <a:xfrm>
            <a:off x="819150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10"/>
          <p:cNvSpPr/>
          <p:nvPr/>
        </p:nvSpPr>
        <p:spPr>
          <a:xfrm>
            <a:off x="1020318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11"/>
          <p:cNvSpPr txBox="1"/>
          <p:nvPr/>
        </p:nvSpPr>
        <p:spPr>
          <a:xfrm>
            <a:off x="1020318" y="1726057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01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5" name="TextBox 12"/>
          <p:cNvSpPr txBox="1"/>
          <p:nvPr/>
        </p:nvSpPr>
        <p:spPr>
          <a:xfrm>
            <a:off x="1550670" y="1616329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通信基础设施脆弱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13"/>
          <p:cNvSpPr txBox="1"/>
          <p:nvPr/>
        </p:nvSpPr>
        <p:spPr>
          <a:xfrm>
            <a:off x="1550670" y="1927225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基站断电断网 · 卫星电话昂贵且普及率低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7" name="TextBox 14"/>
          <p:cNvSpPr txBox="1"/>
          <p:nvPr/>
        </p:nvSpPr>
        <p:spPr>
          <a:xfrm>
            <a:off x="1056894" y="2256409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洪涝灾害中基站光缆损毁、电力中断，受灾家庭无法发出求援，救援力量无法获取精确位置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15"/>
          <p:cNvSpPr txBox="1"/>
          <p:nvPr/>
        </p:nvSpPr>
        <p:spPr>
          <a:xfrm>
            <a:off x="1056894" y="2494153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需要：可快速部署的独立通信中继节点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16"/>
          <p:cNvSpPr/>
          <p:nvPr/>
        </p:nvSpPr>
        <p:spPr>
          <a:xfrm>
            <a:off x="6698742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17"/>
          <p:cNvSpPr/>
          <p:nvPr/>
        </p:nvSpPr>
        <p:spPr>
          <a:xfrm>
            <a:off x="6899909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18"/>
          <p:cNvSpPr txBox="1"/>
          <p:nvPr/>
        </p:nvSpPr>
        <p:spPr>
          <a:xfrm>
            <a:off x="6899909" y="1726057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02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2" name="TextBox 19"/>
          <p:cNvSpPr txBox="1"/>
          <p:nvPr/>
        </p:nvSpPr>
        <p:spPr>
          <a:xfrm>
            <a:off x="7430262" y="1616329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水陆两栖运力缺失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20"/>
          <p:cNvSpPr txBox="1"/>
          <p:nvPr/>
        </p:nvSpPr>
        <p:spPr>
          <a:xfrm>
            <a:off x="7430262" y="1927225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冲锋舟依赖人力 · 无人机载重有限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4" name="TextBox 21"/>
          <p:cNvSpPr txBox="1"/>
          <p:nvPr/>
        </p:nvSpPr>
        <p:spPr>
          <a:xfrm>
            <a:off x="6936486" y="2256409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现有水面救援依赖人力驾驶冲锋舟，无人机仅能投送轻量物资，缺乏自主水陆两栖配送能力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22"/>
          <p:cNvSpPr txBox="1"/>
          <p:nvPr/>
        </p:nvSpPr>
        <p:spPr>
          <a:xfrm>
            <a:off x="6936486" y="2494153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需要：自主水陆两栖无人配送船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23"/>
          <p:cNvSpPr/>
          <p:nvPr/>
        </p:nvSpPr>
        <p:spPr>
          <a:xfrm>
            <a:off x="819150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24"/>
          <p:cNvSpPr/>
          <p:nvPr/>
        </p:nvSpPr>
        <p:spPr>
          <a:xfrm>
            <a:off x="1020318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25"/>
          <p:cNvSpPr txBox="1"/>
          <p:nvPr/>
        </p:nvSpPr>
        <p:spPr>
          <a:xfrm>
            <a:off x="1020318" y="3033649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03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9" name="TextBox 26"/>
          <p:cNvSpPr txBox="1"/>
          <p:nvPr/>
        </p:nvSpPr>
        <p:spPr>
          <a:xfrm>
            <a:off x="1550670" y="2923921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求援入口不统一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27"/>
          <p:cNvSpPr txBox="1"/>
          <p:nvPr/>
        </p:nvSpPr>
        <p:spPr>
          <a:xfrm>
            <a:off x="1550670" y="3234817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电话占线 · 社交媒体求助淹没 · 老人儿童无法操作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1" name="TextBox 28"/>
          <p:cNvSpPr txBox="1"/>
          <p:nvPr/>
        </p:nvSpPr>
        <p:spPr>
          <a:xfrm>
            <a:off x="1056894" y="3564001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灾害中多渠道求助信息碎片化，缺乏统一接入和自动定位的求援终端，弱势群体尤难发出信号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29"/>
          <p:cNvSpPr txBox="1"/>
          <p:nvPr/>
        </p:nvSpPr>
        <p:spPr>
          <a:xfrm>
            <a:off x="1056894" y="3801745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需要：一键求援的家庭终端，自动上报位置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30"/>
          <p:cNvSpPr/>
          <p:nvPr/>
        </p:nvSpPr>
        <p:spPr>
          <a:xfrm>
            <a:off x="6698742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31"/>
          <p:cNvSpPr/>
          <p:nvPr/>
        </p:nvSpPr>
        <p:spPr>
          <a:xfrm>
            <a:off x="6899909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32"/>
          <p:cNvSpPr txBox="1"/>
          <p:nvPr/>
        </p:nvSpPr>
        <p:spPr>
          <a:xfrm>
            <a:off x="6899909" y="3033649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04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6" name="TextBox 33"/>
          <p:cNvSpPr txBox="1"/>
          <p:nvPr/>
        </p:nvSpPr>
        <p:spPr>
          <a:xfrm>
            <a:off x="7430262" y="2923921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无人系统续航瓶颈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34"/>
          <p:cNvSpPr txBox="1"/>
          <p:nvPr/>
        </p:nvSpPr>
        <p:spPr>
          <a:xfrm>
            <a:off x="7430262" y="3234817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无人机返航充电 · 无人船无自主充电能力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8" name="TextBox 35"/>
          <p:cNvSpPr txBox="1"/>
          <p:nvPr/>
        </p:nvSpPr>
        <p:spPr>
          <a:xfrm>
            <a:off x="6936486" y="3564001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现有无人系统在灾害现场需频繁返回基地充电，严重浪费救援窗口时间，且缺乏自主对接充电能力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36"/>
          <p:cNvSpPr txBox="1"/>
          <p:nvPr/>
        </p:nvSpPr>
        <p:spPr>
          <a:xfrm>
            <a:off x="6936486" y="3801745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需要：现场充换电枢纽，支持自主停靠补能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ectangle 37"/>
          <p:cNvSpPr/>
          <p:nvPr/>
        </p:nvSpPr>
        <p:spPr>
          <a:xfrm>
            <a:off x="819150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38"/>
          <p:cNvSpPr/>
          <p:nvPr/>
        </p:nvSpPr>
        <p:spPr>
          <a:xfrm>
            <a:off x="1020318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39"/>
          <p:cNvSpPr txBox="1"/>
          <p:nvPr/>
        </p:nvSpPr>
        <p:spPr>
          <a:xfrm>
            <a:off x="1020318" y="4341241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05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3" name="TextBox 40"/>
          <p:cNvSpPr txBox="1"/>
          <p:nvPr/>
        </p:nvSpPr>
        <p:spPr>
          <a:xfrm>
            <a:off x="1550670" y="4231513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调度缺乏全局视角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41"/>
          <p:cNvSpPr txBox="1"/>
          <p:nvPr/>
        </p:nvSpPr>
        <p:spPr>
          <a:xfrm>
            <a:off x="1550670" y="4542409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各救援队独立行动 · 无统一调度平台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5" name="TextBox 42"/>
          <p:cNvSpPr txBox="1"/>
          <p:nvPr/>
        </p:nvSpPr>
        <p:spPr>
          <a:xfrm>
            <a:off x="1056894" y="4871593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多支救援力量各自为战，物资配送无全局优化，重复覆盖与空白区域并存，无法追踪每份物资去向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43"/>
          <p:cNvSpPr txBox="1"/>
          <p:nvPr/>
        </p:nvSpPr>
        <p:spPr>
          <a:xfrm>
            <a:off x="1056894" y="5109337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需要：中心化调度系统，全域感知与路径优化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 44"/>
          <p:cNvSpPr/>
          <p:nvPr/>
        </p:nvSpPr>
        <p:spPr>
          <a:xfrm>
            <a:off x="6698742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45"/>
          <p:cNvSpPr/>
          <p:nvPr/>
        </p:nvSpPr>
        <p:spPr>
          <a:xfrm>
            <a:off x="6899909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46"/>
          <p:cNvSpPr txBox="1"/>
          <p:nvPr/>
        </p:nvSpPr>
        <p:spPr>
          <a:xfrm>
            <a:off x="6899909" y="4341241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06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0" name="TextBox 47"/>
          <p:cNvSpPr txBox="1"/>
          <p:nvPr/>
        </p:nvSpPr>
        <p:spPr>
          <a:xfrm>
            <a:off x="7430262" y="4231513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快速部署能力不足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TextBox 48"/>
          <p:cNvSpPr txBox="1"/>
          <p:nvPr/>
        </p:nvSpPr>
        <p:spPr>
          <a:xfrm>
            <a:off x="7430262" y="4542409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现有设备依赖人工架设 · 耗时长 · 无折叠机构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2" name="TextBox 49"/>
          <p:cNvSpPr txBox="1"/>
          <p:nvPr/>
        </p:nvSpPr>
        <p:spPr>
          <a:xfrm>
            <a:off x="6936486" y="4871593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通信塔、充电站等基础设施需人工搬运与架设，缺乏可折叠、自展开的机构设计，严重延误黄金救援时间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50"/>
          <p:cNvSpPr txBox="1"/>
          <p:nvPr/>
        </p:nvSpPr>
        <p:spPr>
          <a:xfrm>
            <a:off x="6936486" y="5109337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需要：可折叠自展开的中心基站塔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819150" y="5392801"/>
            <a:ext cx="11288400" cy="88000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20318" y="563280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核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50670" y="5502801"/>
            <a:ext cx="1800000" cy="27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核心概念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50670" y="5772801"/>
            <a:ext cx="9800000" cy="33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以“中心基站塔”为枢纽，整合通信中继、充换电、船队调度与求援接入，构建水陆两栖应急配送闭环。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zQ2ZTc2YjY2NGJlOTBhOTRlYjhlNmM0MGRjNjgwNm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演示</Application>
  <PresentationFormat>宽屏</PresentationFormat>
  <Paragraphs>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Impact</vt:lpstr>
      <vt:lpstr>方正大黑体_GBK</vt:lpstr>
      <vt:lpstr>Calibri</vt:lpstr>
      <vt:lpstr>Wingdings</vt:lpstr>
      <vt:lpstr>Arial Unicode MS</vt:lpstr>
      <vt:lpstr>金山云技术体</vt:lpstr>
      <vt:lpstr>Arial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SKY</cp:lastModifiedBy>
  <cp:revision>10</cp:revision>
  <dcterms:created xsi:type="dcterms:W3CDTF">2024-08-14T20:03:00Z</dcterms:created>
  <dcterms:modified xsi:type="dcterms:W3CDTF">2026-09-01T08:40:44Z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B75C98F4C40948689CB49D1002CA5FAC</vt:lpwstr>
  </property>
</Properties>
</file>