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97" r:id="rId3"/>
  </p:sldIdLst>
  <p:sldSz cx="12192000" cy="6858000"/>
  <p:notesSz cx="7103745" cy="10234295"/>
  <p:embeddedFontLst>
    <p:embeddedFont>
      <p:font typeface="微软雅黑" panose="020B0503020204020204" charset="-12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张瀚宸_bumyaMf2" initials="authorId_129135517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  <a:srgbClr val="1066D8"/>
    <a:srgbClr val="50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QQ20260901-163919"/>
          <p:cNvPicPr>
            <a:picLocks noChangeAspect="1"/>
          </p:cNvPicPr>
          <p:nvPr userDrawn="1"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2312670" y="0"/>
            <a:ext cx="7566660" cy="685863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6286126" cy="908048"/>
            <a:chOff x="338667" y="3"/>
            <a:chExt cx="6286126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5462809" cy="770215"/>
              <a:chOff x="876234" y="57212"/>
              <a:chExt cx="5462809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5462809" cy="4857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</a:pPr>
                <a:r>
                  <a:rPr lang="zh-CN" altLang="en-US" sz="2800" b="1" spc="300">
                    <a:solidFill>
                      <a:srgbClr val="003399"/>
                    </a:solidFill>
                  </a:rPr>
                  <a:t>文献调研</a:t>
                </a:r>
                <a:r>
                  <a:rPr lang="en-US" altLang="zh-CN" sz="2800" b="1" spc="300">
                    <a:solidFill>
                      <a:srgbClr val="003399"/>
                    </a:solidFill>
                  </a:rPr>
                  <a:t>3</a:t>
                </a:r>
                <a:endParaRPr lang="en-US" altLang="zh-CN" sz="2800" b="1" spc="300">
                  <a:solidFill>
                    <a:srgbClr val="003399"/>
                  </a:solidFill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合作QQ： 243001978"/>
          <p:cNvSpPr/>
          <p:nvPr/>
        </p:nvSpPr>
        <p:spPr>
          <a:xfrm>
            <a:off x="9737482" y="648866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合作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QQ</a:t>
            </a:r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： 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243001978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988560" y="0"/>
            <a:ext cx="220472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1760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问题识别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554736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2E75B6"/>
                </a:solidFill>
              </a:rPr>
              <a:t>文献调研</a:t>
            </a:r>
            <a:endParaRPr lang="zh-CN" altLang="en-US" b="1">
              <a:solidFill>
                <a:srgbClr val="2E75B6"/>
              </a:solidFill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76224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方案设计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9771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迭代优化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33248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b="1">
                <a:solidFill>
                  <a:srgbClr val="F2F2F2"/>
                </a:solidFill>
              </a:rPr>
              <a:t>概念构思</a:t>
            </a:r>
            <a:endParaRPr lang="zh-CN" altLang="en-US" b="1">
              <a:solidFill>
                <a:srgbClr val="F2F2F2"/>
              </a:solidFill>
            </a:endParaRPr>
          </a:p>
        </p:txBody>
      </p:sp>
      <p:sp>
        <p:nvSpPr>
          <p:cNvPr id="79" name="Oval 1"/>
          <p:cNvSpPr/>
          <p:nvPr/>
        </p:nvSpPr>
        <p:spPr>
          <a:xfrm>
            <a:off x="9140190" y="4030345"/>
            <a:ext cx="2377440" cy="237744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2"/>
          <p:cNvSpPr/>
          <p:nvPr/>
        </p:nvSpPr>
        <p:spPr>
          <a:xfrm>
            <a:off x="9643110" y="4533265"/>
            <a:ext cx="1371600" cy="13716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3"/>
          <p:cNvSpPr/>
          <p:nvPr/>
        </p:nvSpPr>
        <p:spPr>
          <a:xfrm>
            <a:off x="10100310" y="4990465"/>
            <a:ext cx="457200" cy="4572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9"/>
          <p:cNvSpPr/>
          <p:nvPr/>
        </p:nvSpPr>
        <p:spPr>
          <a:xfrm>
            <a:off x="819150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10"/>
          <p:cNvSpPr/>
          <p:nvPr/>
        </p:nvSpPr>
        <p:spPr>
          <a:xfrm>
            <a:off x="1020318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11"/>
          <p:cNvSpPr txBox="1"/>
          <p:nvPr/>
        </p:nvSpPr>
        <p:spPr>
          <a:xfrm>
            <a:off x="1007872" y="1726057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01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5" name="TextBox 12"/>
          <p:cNvSpPr txBox="1"/>
          <p:nvPr/>
        </p:nvSpPr>
        <p:spPr>
          <a:xfrm>
            <a:off x="1550670" y="1616329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USV 灾害机器人综述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13"/>
          <p:cNvSpPr txBox="1"/>
          <p:nvPr/>
        </p:nvSpPr>
        <p:spPr>
          <a:xfrm>
            <a:off x="1550670" y="1927225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Sensors · 2019, 19(3): 702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87" name="TextBox 14"/>
          <p:cNvSpPr txBox="1"/>
          <p:nvPr/>
        </p:nvSpPr>
        <p:spPr>
          <a:xfrm>
            <a:off x="1056894" y="2256409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首篇 USV×灾害管理综述，洪水搜救是研究空白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15"/>
          <p:cNvSpPr txBox="1"/>
          <p:nvPr/>
        </p:nvSpPr>
        <p:spPr>
          <a:xfrm>
            <a:off x="1056894" y="2494153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项目立意与背景出处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16"/>
          <p:cNvSpPr/>
          <p:nvPr/>
        </p:nvSpPr>
        <p:spPr>
          <a:xfrm>
            <a:off x="6698742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17"/>
          <p:cNvSpPr/>
          <p:nvPr/>
        </p:nvSpPr>
        <p:spPr>
          <a:xfrm>
            <a:off x="6899909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18"/>
          <p:cNvSpPr txBox="1"/>
          <p:nvPr/>
        </p:nvSpPr>
        <p:spPr>
          <a:xfrm>
            <a:off x="6887463" y="1726057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02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2" name="TextBox 19"/>
          <p:cNvSpPr txBox="1"/>
          <p:nvPr/>
        </p:nvSpPr>
        <p:spPr>
          <a:xfrm>
            <a:off x="7430262" y="1616329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救援艇洪涝路径规划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20"/>
          <p:cNvSpPr txBox="1"/>
          <p:nvPr/>
        </p:nvSpPr>
        <p:spPr>
          <a:xfrm>
            <a:off x="7430262" y="1927225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IEEE · 2019（哈维飓风实景数据）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4" name="TextBox 21"/>
          <p:cNvSpPr txBox="1"/>
          <p:nvPr/>
        </p:nvSpPr>
        <p:spPr>
          <a:xfrm>
            <a:off x="6936486" y="2256409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航拍建图 + A*/GA/PRM 对比，A* 路径最优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22"/>
          <p:cNvSpPr txBox="1"/>
          <p:nvPr/>
        </p:nvSpPr>
        <p:spPr>
          <a:xfrm>
            <a:off x="6936486" y="2494153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MVP 路径规划选型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ectangle 23"/>
          <p:cNvSpPr/>
          <p:nvPr/>
        </p:nvSpPr>
        <p:spPr>
          <a:xfrm>
            <a:off x="819150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24"/>
          <p:cNvSpPr/>
          <p:nvPr/>
        </p:nvSpPr>
        <p:spPr>
          <a:xfrm>
            <a:off x="1020318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25"/>
          <p:cNvSpPr txBox="1"/>
          <p:nvPr/>
        </p:nvSpPr>
        <p:spPr>
          <a:xfrm>
            <a:off x="1007872" y="3033649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03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99" name="TextBox 26"/>
          <p:cNvSpPr txBox="1"/>
          <p:nvPr/>
        </p:nvSpPr>
        <p:spPr>
          <a:xfrm>
            <a:off x="1550670" y="2923921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空地联合搜救路径规划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27"/>
          <p:cNvSpPr txBox="1"/>
          <p:nvPr/>
        </p:nvSpPr>
        <p:spPr>
          <a:xfrm>
            <a:off x="1550670" y="3234817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系统管理学报 · 2025, 34(5)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1" name="TextBox 28"/>
          <p:cNvSpPr txBox="1"/>
          <p:nvPr/>
        </p:nvSpPr>
        <p:spPr>
          <a:xfrm>
            <a:off x="1056894" y="3564001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勘察—识别—救援三阶段，CVRP+粒子群调度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29"/>
          <p:cNvSpPr txBox="1"/>
          <p:nvPr/>
        </p:nvSpPr>
        <p:spPr>
          <a:xfrm>
            <a:off x="1056894" y="3801745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流程骨架与调度模型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30"/>
          <p:cNvSpPr/>
          <p:nvPr/>
        </p:nvSpPr>
        <p:spPr>
          <a:xfrm>
            <a:off x="6698742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31"/>
          <p:cNvSpPr/>
          <p:nvPr/>
        </p:nvSpPr>
        <p:spPr>
          <a:xfrm>
            <a:off x="6899909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32"/>
          <p:cNvSpPr txBox="1"/>
          <p:nvPr/>
        </p:nvSpPr>
        <p:spPr>
          <a:xfrm>
            <a:off x="6887463" y="3033649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04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6" name="TextBox 33"/>
          <p:cNvSpPr txBox="1"/>
          <p:nvPr/>
        </p:nvSpPr>
        <p:spPr>
          <a:xfrm>
            <a:off x="7430262" y="2923921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无人艇局部路径规划综述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34"/>
          <p:cNvSpPr txBox="1"/>
          <p:nvPr/>
        </p:nvSpPr>
        <p:spPr>
          <a:xfrm>
            <a:off x="7430262" y="3234817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中国舰船研究 · 2021, 16(增1)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08" name="TextBox 35"/>
          <p:cNvSpPr txBox="1"/>
          <p:nvPr/>
        </p:nvSpPr>
        <p:spPr>
          <a:xfrm>
            <a:off x="6936486" y="3564001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A* 全局 + 三次样条平滑是标准组合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36"/>
          <p:cNvSpPr txBox="1"/>
          <p:nvPr/>
        </p:nvSpPr>
        <p:spPr>
          <a:xfrm>
            <a:off x="6936486" y="3801745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算法选型文献依据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Rectangle 37"/>
          <p:cNvSpPr/>
          <p:nvPr/>
        </p:nvSpPr>
        <p:spPr>
          <a:xfrm>
            <a:off x="819150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38"/>
          <p:cNvSpPr/>
          <p:nvPr/>
        </p:nvSpPr>
        <p:spPr>
          <a:xfrm>
            <a:off x="1020318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39"/>
          <p:cNvSpPr txBox="1"/>
          <p:nvPr/>
        </p:nvSpPr>
        <p:spPr>
          <a:xfrm>
            <a:off x="1007872" y="4341241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05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3" name="TextBox 40"/>
          <p:cNvSpPr txBox="1"/>
          <p:nvPr/>
        </p:nvSpPr>
        <p:spPr>
          <a:xfrm>
            <a:off x="1550670" y="4231513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Roboat II 城市 ASV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41"/>
          <p:cNvSpPr txBox="1"/>
          <p:nvPr/>
        </p:nvSpPr>
        <p:spPr>
          <a:xfrm>
            <a:off x="1550670" y="4542409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IEEE/RSJ IROS · 2020（MIT）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15" name="TextBox 42"/>
          <p:cNvSpPr txBox="1"/>
          <p:nvPr/>
        </p:nvSpPr>
        <p:spPr>
          <a:xfrm>
            <a:off x="1056894" y="4871593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因子图 SLAM + NMPC 全向控制，桥下退化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43"/>
          <p:cNvSpPr txBox="1"/>
          <p:nvPr/>
        </p:nvSpPr>
        <p:spPr>
          <a:xfrm>
            <a:off x="1056894" y="5109337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系统架构参考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 44"/>
          <p:cNvSpPr/>
          <p:nvPr/>
        </p:nvSpPr>
        <p:spPr>
          <a:xfrm>
            <a:off x="6698742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45"/>
          <p:cNvSpPr/>
          <p:nvPr/>
        </p:nvSpPr>
        <p:spPr>
          <a:xfrm>
            <a:off x="6899909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46"/>
          <p:cNvSpPr txBox="1"/>
          <p:nvPr/>
        </p:nvSpPr>
        <p:spPr>
          <a:xfrm>
            <a:off x="6887463" y="4341241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06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0" name="TextBox 47"/>
          <p:cNvSpPr txBox="1"/>
          <p:nvPr/>
        </p:nvSpPr>
        <p:spPr>
          <a:xfrm>
            <a:off x="7430262" y="4231513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LiDAR-SLAM 融合定位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TextBox 48"/>
          <p:cNvSpPr txBox="1"/>
          <p:nvPr/>
        </p:nvSpPr>
        <p:spPr>
          <a:xfrm>
            <a:off x="7430262" y="4542409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Sensors · 2023, 23(3): 1558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2" name="TextBox 49"/>
          <p:cNvSpPr txBox="1"/>
          <p:nvPr/>
        </p:nvSpPr>
        <p:spPr>
          <a:xfrm>
            <a:off x="6936486" y="4871593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GNSS/INS 主力 + LiDAR-SLAM 动态切换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TextBox 50"/>
          <p:cNvSpPr txBox="1"/>
          <p:nvPr/>
        </p:nvSpPr>
        <p:spPr>
          <a:xfrm>
            <a:off x="6936486" y="5109337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定位降级事件系统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Rectangle 51"/>
          <p:cNvSpPr/>
          <p:nvPr/>
        </p:nvSpPr>
        <p:spPr>
          <a:xfrm>
            <a:off x="819150" y="5392801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52"/>
          <p:cNvSpPr/>
          <p:nvPr/>
        </p:nvSpPr>
        <p:spPr>
          <a:xfrm>
            <a:off x="1020318" y="5648833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53"/>
          <p:cNvSpPr txBox="1"/>
          <p:nvPr/>
        </p:nvSpPr>
        <p:spPr>
          <a:xfrm>
            <a:off x="1007872" y="5648833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07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7" name="TextBox 54"/>
          <p:cNvSpPr txBox="1"/>
          <p:nvPr/>
        </p:nvSpPr>
        <p:spPr>
          <a:xfrm>
            <a:off x="1550670" y="5539105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DRL 集群路径规划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TextBox 55"/>
          <p:cNvSpPr txBox="1"/>
          <p:nvPr/>
        </p:nvSpPr>
        <p:spPr>
          <a:xfrm>
            <a:off x="1550670" y="5850001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水下无人系统学报 · 2025, 33(2)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29" name="TextBox 56"/>
          <p:cNvSpPr txBox="1"/>
          <p:nvPr/>
        </p:nvSpPr>
        <p:spPr>
          <a:xfrm>
            <a:off x="1056894" y="6179185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MADDPG+LSTM+好奇心，收敛提升 38%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TextBox 57"/>
          <p:cNvSpPr txBox="1"/>
          <p:nvPr/>
        </p:nvSpPr>
        <p:spPr>
          <a:xfrm>
            <a:off x="1056894" y="6416929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二期自适应调度参考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Rectangle 58"/>
          <p:cNvSpPr/>
          <p:nvPr/>
        </p:nvSpPr>
        <p:spPr>
          <a:xfrm>
            <a:off x="6698742" y="5392801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59"/>
          <p:cNvSpPr/>
          <p:nvPr/>
        </p:nvSpPr>
        <p:spPr>
          <a:xfrm>
            <a:off x="6899909" y="5648833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60"/>
          <p:cNvSpPr txBox="1"/>
          <p:nvPr/>
        </p:nvSpPr>
        <p:spPr>
          <a:xfrm>
            <a:off x="6887463" y="5648833"/>
            <a:ext cx="40894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  <a:ea typeface="Arial" panose="020B0604020202020204"/>
              </a:rPr>
              <a:t>08</a:t>
            </a:r>
            <a:endParaRPr sz="1600" b="1">
              <a:solidFill>
                <a:srgbClr val="FFFFF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4" name="TextBox 61"/>
          <p:cNvSpPr txBox="1"/>
          <p:nvPr/>
        </p:nvSpPr>
        <p:spPr>
          <a:xfrm>
            <a:off x="7430262" y="5539105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045C9"/>
                </a:solidFill>
                <a:latin typeface="微软雅黑" panose="020B0503020204020204" charset="-122"/>
                <a:ea typeface="微软雅黑" panose="020B0503020204020204" charset="-122"/>
              </a:rPr>
              <a:t>通信受限集群任务分配</a:t>
            </a:r>
            <a:endParaRPr sz="1600" b="1">
              <a:solidFill>
                <a:srgbClr val="1045C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TextBox 62"/>
          <p:cNvSpPr txBox="1"/>
          <p:nvPr/>
        </p:nvSpPr>
        <p:spPr>
          <a:xfrm>
            <a:off x="7430262" y="5850001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7F7F7F"/>
                </a:solidFill>
                <a:latin typeface="Arial" panose="020B0604020202020204"/>
                <a:ea typeface="Arial" panose="020B0604020202020204"/>
              </a:rPr>
              <a:t>舰船科学技术 · 2022, 44(24)</a:t>
            </a:r>
            <a:endParaRPr sz="950" b="0">
              <a:solidFill>
                <a:srgbClr val="7F7F7F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36" name="TextBox 63"/>
          <p:cNvSpPr txBox="1"/>
          <p:nvPr/>
        </p:nvSpPr>
        <p:spPr>
          <a:xfrm>
            <a:off x="6936486" y="6179185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BLSA 局部子网络分配，限通信≈全通信</a:t>
            </a:r>
            <a:endParaRPr sz="11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TextBox 64"/>
          <p:cNvSpPr txBox="1"/>
          <p:nvPr/>
        </p:nvSpPr>
        <p:spPr>
          <a:xfrm>
            <a:off x="6936486" y="6416929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✓ 塔失效协同对照依据</a:t>
            </a:r>
            <a:endParaRPr sz="1000" b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zQ2ZTc2YjY2NGJlOTBhOTRlYjhlNmM0MGRjNjgwNm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演示</Application>
  <PresentationFormat>宽屏</PresentationFormat>
  <Paragraphs>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Impact</vt:lpstr>
      <vt:lpstr>方正大黑体_GBK</vt:lpstr>
      <vt:lpstr>Calibri</vt:lpstr>
      <vt:lpstr>Wingdings</vt:lpstr>
      <vt:lpstr>Arial Unicode MS</vt:lpstr>
      <vt:lpstr>金山云技术体</vt:lpstr>
      <vt:lpstr>Arial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SKY</cp:lastModifiedBy>
  <cp:revision>10</cp:revision>
  <dcterms:created xsi:type="dcterms:W3CDTF">2024-08-14T20:03:00Z</dcterms:created>
  <dcterms:modified xsi:type="dcterms:W3CDTF">2026-09-01T08:40:44Z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B75C98F4C40948689CB49D1002CA5FAC</vt:lpwstr>
  </property>
</Properties>
</file>