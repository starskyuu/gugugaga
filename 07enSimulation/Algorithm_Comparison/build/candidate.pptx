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61e3848c5474bee" /><Relationship Type="http://schemas.openxmlformats.org/officeDocument/2006/relationships/extended-properties" Target="/docProps/app.xml" Id="R885b2eecb4d44e24" /><Relationship Type="http://schemas.openxmlformats.org/officeDocument/2006/relationships/officeDocument" Target="/ppt/presentation.xml" Id="Ree5436b399c647d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31c922da7ad48b9"/>
  </p:sldMasterIdLst>
  <p:notesMasterIdLst>
    <p:notesMasterId xmlns:r="http://schemas.openxmlformats.org/officeDocument/2006/relationships" r:id="R9bf9b01e4027417c"/>
  </p:notesMasterIdLst>
  <p:sldIdLst>
    <p:sldId xmlns:r="http://schemas.openxmlformats.org/officeDocument/2006/relationships" id="256" r:id="R6e92d21275f746a4"/>
    <p:sldId xmlns:r="http://schemas.openxmlformats.org/officeDocument/2006/relationships" id="257" r:id="R18571bf36f35477c"/>
    <p:sldId xmlns:r="http://schemas.openxmlformats.org/officeDocument/2006/relationships" id="258" r:id="Rb767a25dbfe04b7c"/>
    <p:sldId xmlns:r="http://schemas.openxmlformats.org/officeDocument/2006/relationships" id="259" r:id="Rf5e859b509414b9b"/>
    <p:sldId xmlns:r="http://schemas.openxmlformats.org/officeDocument/2006/relationships" id="260" r:id="R40c4911bbd9f44ef"/>
    <p:sldId xmlns:r="http://schemas.openxmlformats.org/officeDocument/2006/relationships" id="261" r:id="Rff25ad2adfd6489e"/>
    <p:sldId xmlns:r="http://schemas.openxmlformats.org/officeDocument/2006/relationships" id="262" r:id="Rfc5eee7ccc1a4c0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00e4b1954e5425e" /><Relationship Type="http://schemas.openxmlformats.org/officeDocument/2006/relationships/slideMaster" Target="/ppt/slideMasters/slideMaster1.xml" Id="R331c922da7ad48b9" /><Relationship Type="http://schemas.openxmlformats.org/officeDocument/2006/relationships/notesMaster" Target="/ppt/notesMasters/notesMaster1.xml" Id="R9bf9b01e4027417c" /><Relationship Type="http://schemas.openxmlformats.org/officeDocument/2006/relationships/presProps" Target="/ppt/presProps.xml" Id="R4339052b384b4543" /><Relationship Type="http://schemas.openxmlformats.org/officeDocument/2006/relationships/tableStyles" Target="/ppt/tableStyles.xml" Id="R527f18c59a2b4bd6" /><Relationship Type="http://schemas.openxmlformats.org/officeDocument/2006/relationships/slide" Target="/ppt/slides/slide1.xml" Id="R6e92d21275f746a4" /><Relationship Type="http://schemas.openxmlformats.org/officeDocument/2006/relationships/slide" Target="/ppt/slides/slide2.xml" Id="R18571bf36f35477c" /><Relationship Type="http://schemas.openxmlformats.org/officeDocument/2006/relationships/slide" Target="/ppt/slides/slide3.xml" Id="Rb767a25dbfe04b7c" /><Relationship Type="http://schemas.openxmlformats.org/officeDocument/2006/relationships/slide" Target="/ppt/slides/slide4.xml" Id="Rf5e859b509414b9b" /><Relationship Type="http://schemas.openxmlformats.org/officeDocument/2006/relationships/slide" Target="/ppt/slides/slide5.xml" Id="R40c4911bbd9f44ef" /><Relationship Type="http://schemas.openxmlformats.org/officeDocument/2006/relationships/slide" Target="/ppt/slides/slide6.xml" Id="Rff25ad2adfd6489e" /><Relationship Type="http://schemas.openxmlformats.org/officeDocument/2006/relationships/slide" Target="/ppt/slides/slide7.xml" Id="Rfc5eee7ccc1a4c0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fb1aaef5ef341a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5043f10bb6d43b7" /><Relationship Type="http://schemas.openxmlformats.org/officeDocument/2006/relationships/notesMaster" Target="/ppt/notesMasters/notesMaster1.xml" Id="Rc1636ce56bc0422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1f5761291b94f39" /><Relationship Type="http://schemas.openxmlformats.org/officeDocument/2006/relationships/notesMaster" Target="/ppt/notesMasters/notesMaster1.xml" Id="R4f6311821e2041a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1a9f27985c24b0f" /><Relationship Type="http://schemas.openxmlformats.org/officeDocument/2006/relationships/notesMaster" Target="/ppt/notesMasters/notesMaster1.xml" Id="Rdd856b2737d34aa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ef09f96890a4fc2" /><Relationship Type="http://schemas.openxmlformats.org/officeDocument/2006/relationships/notesMaster" Target="/ppt/notesMasters/notesMaster1.xml" Id="R746af966e31448d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9f5148b5f0a4236" /><Relationship Type="http://schemas.openxmlformats.org/officeDocument/2006/relationships/notesMaster" Target="/ppt/notesMasters/notesMaster1.xml" Id="R668ae1d2196047b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4734a5e07d44809" /><Relationship Type="http://schemas.openxmlformats.org/officeDocument/2006/relationships/notesMaster" Target="/ppt/notesMasters/notesMaster1.xml" Id="R6dbee681f4c148b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b66b15214d84146" /><Relationship Type="http://schemas.openxmlformats.org/officeDocument/2006/relationships/notesMaster" Target="/ppt/notesMasters/notesMaster1.xml" Id="Rb7059c4cf88a4f6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本演示基于当前 Unity 项目源码核对。对比对象是采用距离代价、仅初始规划一次的传统 A* 静态基线，不是宣称所有 A* 系统都缺少动态避障。我们的工作属于面向救援船的工程化扩展，未提出新的启发式函数。代码来源：F:/gugugaga/07enSimulation/_v2/Assets/Rescue/Scripts/RescueNavigation.cs；F:/gugugaga/07enSimulation/_v2/Assets/Rescue/Scripts/RescueMission.cs。模型图来自项目 Reports/Model_Previews/RescueBoat.png。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A* 是启发式图搜索算法。g 表示已累计的路径代价，h 估计剩余代价，每轮优先扩展 f=g+h 最小的候选节点。适当的启发式和搜索条件下可得到图上的最小代价路径，但不等于真实船舶的全局最优运动轨迹。当前实现采用八邻域栅格、平面欧氏距离启发式，并禁止对角穿越障碍角点。原始文献：Hart, Nilsson, Raphael (1968), A Formal Basis for the Heuristic Determination of Minimum Cost Paths, https://ai.stanford.edu/~nilsson/OnlinePubs-Nils/PublishedPapers/astar.pdf 。实现来源：F:/gugugaga/07enSimulation/_v2/Assets/Rescue/Scripts/RescueNavigation.cs，Plan、FlatDistance。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表中的传统基线是为了进行实验而明确约定的配置，并非 A* 的能力上限。传统 A* 也可通过地图更新和重复搜索实现动态避障。当前实现额外处理船舶安全占用、水深、逆流成本和当前动态障碍。clearance=0.048m 是静态碰撞检测的水平半宽，并不等价于沿所有船壳点都严格保持 48mm 的净距；其他船中心距离小于 0.096m 时屏蔽节点。源码：F:/gugugaga/07enSimulation/_v2/Assets/Rescue/Scripts/RescueNavigation.cs（Rebuild、Walkable、DynamicWalkable、Plan、ClearLine）；F:/gugugaga/07enSimulation/_v2/Assets/Rescue/Scripts/RescueMission.cs（Navigate，planTimer=1.2f）。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本页为 AI 生成的机制示意图，不是实测轨迹或 Unity 截图，曲线形状不代表源码中的实际折线路径。两侧地图和原始路线一致，且原始路线本来就绕过已知建筑。左侧特意定义为不重新规划的静态基线，所以新增漂浮物进入原航线后旧路线仍会与其相交；右侧更新不可通行节点并重新运行 A*，路径因此绕行。不能从图中推断原始 A* 不会避障。如果传统 A* 同样更新地图并重规划，也可以绕开新增障碍。当前动态障碍依据当前位置进行检查，不对漂浮物做时空轨迹预测。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源码逐项对应：Rebuild 使用水平半宽 clearance=.048m 的 OverlapBox 处理静态碰撞；DynamicWalkable 使用 .096m 船中心间距及漂浮物尺寸判断。水深检查涉及中心、正负 x 和正负 z 五个采样点，最低深度为 max(.008, Draft+.0018)，且需要 HasWater。Plan 中代价为 step.magnitude*(1+Max(0,-Dot(flow,step.normalized))/.04)。分母单位 m/s。此代价并非实际功耗模型，不应称作节能最优。示例：逆流方向分量 .02m/s 时系数为1.5，仅为公式演算。尺寸全部为模型尺度，不是实际救援船尺度。静态检测是保守占用近似，可能排除实际可通过的狭窄区域。来源：F:/gugugaga/07enSimulation/_v2/Assets/Rescue/Scripts/RescueNavigation.cs。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左图为项目已有运行截图，仅用于说明场景，不作为 A/B 性能证据。来源：Reports/Runtime_Mission_Outbound.png。RescueMission.Navigate 负责航点跟踪与定时重规划；Drive 将控制转换为双推进器控制，物理响应受到水流和阻力等影响。控制层按当前相对位置/速度估计至多1.5秒的船间接近情况，并采用编号优先的避让；这不意味着 A* 已扩展为时空搜索，也不是对漂浮物进行未来轨迹预测。LineRenderer 显示的是规划路径，不是通过动力学前向积分得到的预测轨迹。来源：F:/gugugaga/07enSimulation/_v2/Assets/Rescue/Scripts/RescueMission.cs。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是待开展的实验设计，不是已完成的实验结果。对照需统一场景、种子、初始船位、救援目标、推进器控制和水流。静态基线定义为只初始规划一次；为了区分在线重规划与代价扩展各自的贡献，建议增加第二个对照：同频率重规划的距离代价 A*；再分别去掉水深、流场和船体约束做消融。记录多个随机种子和重复试验，报告分布和失败情况，而不仅是成功演示。原始A*可在满足条件时求图上最小代价路径，但本系统仍有栅格分辨率、保守占用、动力学跟踪误差以及缺少漂浮物未来预测等限制，不能直接推导真实物理条件下全局最优或现实救援安全保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7848c3c4de2418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fa07852f4d2452a" /><Relationship Type="http://schemas.openxmlformats.org/officeDocument/2006/relationships/slideLayout" Target="/ppt/slideLayouts/slideLayout1.xml" Id="R4d2aa485394642e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d2aa485394642e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55cc1100004a87" /><Relationship Type="http://schemas.openxmlformats.org/officeDocument/2006/relationships/image" Target="/ppt/media/image.png" Id="R37f4d89dc81844e0" /><Relationship Type="http://schemas.openxmlformats.org/officeDocument/2006/relationships/notesSlide" Target="/ppt/notesSlides/notesSlide1.xml" Id="Re1cafb22ea01447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a55eccb71c4509" /><Relationship Type="http://schemas.openxmlformats.org/officeDocument/2006/relationships/notesSlide" Target="/ppt/notesSlides/notesSlide2.xml" Id="Rc87c718ec94a435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ba6f78abdb4d60" /><Relationship Type="http://schemas.openxmlformats.org/officeDocument/2006/relationships/notesSlide" Target="/ppt/notesSlides/notesSlide3.xml" Id="R727794666fee463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aac11296c541cc" /><Relationship Type="http://schemas.openxmlformats.org/officeDocument/2006/relationships/image" Target="/ppt/media/image2.png" Id="R2a925cb0dd09465a" /><Relationship Type="http://schemas.openxmlformats.org/officeDocument/2006/relationships/notesSlide" Target="/ppt/notesSlides/notesSlide4.xml" Id="R9f89f1acd93c411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f3e90971c14e68" /><Relationship Type="http://schemas.openxmlformats.org/officeDocument/2006/relationships/notesSlide" Target="/ppt/notesSlides/notesSlide5.xml" Id="R1928c28c596c42a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27e6326f6e49d5" /><Relationship Type="http://schemas.openxmlformats.org/officeDocument/2006/relationships/image" Target="/ppt/media/image3.png" Id="R911c4c8686b04d32" /><Relationship Type="http://schemas.openxmlformats.org/officeDocument/2006/relationships/notesSlide" Target="/ppt/notesSlides/notesSlide6.xml" Id="R757f89907796479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85e7716ec746be" /><Relationship Type="http://schemas.openxmlformats.org/officeDocument/2006/relationships/notesSlide" Target="/ppt/notesSlides/notesSlide7.xml" Id="R2b3c4eb031f84c8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82F7DA-8610-4F3C-99C4-4B0F8BD20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7F80"/>
                </a:solidFill>
                <a:latin typeface="Microsoft YaHei"/>
                <a:ea typeface="Microsoft YaHei"/>
                <a:cs typeface="Microsoft YaHei"/>
              </a:rPr>
              <a:t>ALGORITHM COMPARISON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A659B9-5814-4B2B-AFEC-B2445B33D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6477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2F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72F3D"/>
                </a:solidFill>
                <a:latin typeface="Microsoft YaHei"/>
                <a:ea typeface="Microsoft YaHei"/>
                <a:cs typeface="Microsoft YaHei"/>
              </a:rPr>
              <a:t>面向洪水救援的</a:t>
            </a:r>
          </a:p>
          <a:p xmlns:a="http://schemas.openxmlformats.org/drawingml/2006/main">
            <a:pPr>
              <a:defRPr sz="3600" b="1">
                <a:solidFill>
                  <a:srgbClr val="172F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72F3D"/>
                </a:solidFill>
                <a:latin typeface="Microsoft YaHei"/>
                <a:ea typeface="Microsoft YaHei"/>
                <a:cs typeface="Microsoft YaHei"/>
              </a:rPr>
              <a:t>A* 路径规划改进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6C304A-4388-492F-BE04-BEB0E557B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A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A76"/>
                </a:solidFill>
                <a:latin typeface="Microsoft YaHei"/>
                <a:ea typeface="Microsoft YaHei"/>
                <a:cs typeface="Microsoft YaHei"/>
              </a:rPr>
              <a:t>城市方舟  /  救援船路径规划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66F8AC-AE0D-4168-838E-8F33ED0BE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A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A76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FB575B-08C1-4693-81D0-9DD906954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05150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07F80"/>
                </a:solidFill>
                <a:latin typeface="Microsoft YaHei"/>
                <a:ea typeface="Microsoft YaHei"/>
                <a:cs typeface="Microsoft YaHei"/>
              </a:rPr>
              <a:t>传统静态基线 × 当前 Unity 实现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92E4D6-0406-4FF5-8D7E-D315963D3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48100"/>
            <a:ext cx="590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2F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2F3D"/>
                </a:solidFill>
                <a:latin typeface="Microsoft YaHei"/>
                <a:ea typeface="Microsoft YaHei"/>
                <a:cs typeface="Microsoft YaHei"/>
              </a:rPr>
              <a:t>不仅寻找短路，</a:t>
            </a:r>
          </a:p>
          <a:p xmlns:a="http://schemas.openxmlformats.org/drawingml/2006/main">
            <a:pPr>
              <a:defRPr sz="2400" b="0">
                <a:solidFill>
                  <a:srgbClr val="172F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2F3D"/>
                </a:solidFill>
                <a:latin typeface="Microsoft YaHei"/>
                <a:ea typeface="Microsoft YaHei"/>
                <a:cs typeface="Microsoft YaHei"/>
              </a:rPr>
              <a:t>还要判断船能否安全通过。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07FD59-B130-4A60-9B65-7BBB01DF5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9115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36A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36A76"/>
                </a:solidFill>
                <a:latin typeface="Microsoft YaHei"/>
                <a:ea typeface="Microsoft YaHei"/>
                <a:cs typeface="Microsoft YaHei"/>
              </a:rPr>
              <a:t>船体约束 · 水深检查 · 逆流代价 · 在线重规划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f4d89dc81844e0"/>
          <a:stretch xmlns:a="http://schemas.openxmlformats.org/drawingml/2006/main"/>
        </p:blipFill>
        <p:spPr>
          <a:xfrm xmlns:a="http://schemas.openxmlformats.org/drawingml/2006/main">
            <a:off x="7143750" y="1558396"/>
            <a:ext cx="4381500" cy="340783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34166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5AB92B-97E5-40A7-AFE0-A7FFE7470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7F80"/>
                </a:solidFill>
                <a:latin typeface="Microsoft YaHei"/>
                <a:ea typeface="Microsoft YaHei"/>
                <a:cs typeface="Microsoft YaHei"/>
              </a:rPr>
              <a:t>01  /  基础原理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8E07E3-D245-444F-B1B6-F02048B72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2F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2F3D"/>
                </a:solidFill>
                <a:latin typeface="Microsoft YaHei"/>
                <a:ea typeface="Microsoft YaHei"/>
                <a:cs typeface="Microsoft YaHei"/>
              </a:rPr>
              <a:t>A*：用“已走代价 + 剩余估计”寻找路径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E1C4A4-CD8D-48CB-BC10-762212259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A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A76"/>
                </a:solidFill>
                <a:latin typeface="Microsoft YaHei"/>
                <a:ea typeface="Microsoft YaHei"/>
                <a:cs typeface="Microsoft YaHei"/>
              </a:rPr>
              <a:t>城市方舟  /  救援船路径规划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F4F88B-208F-48DE-9119-7FA528ACA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A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A76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3687AA-ABC5-4D72-959C-0D69D64D9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109728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00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500" b="1">
                <a:solidFill>
                  <a:srgbClr val="007F80"/>
                </a:solidFill>
                <a:latin typeface="Microsoft YaHei"/>
                <a:ea typeface="Microsoft YaHei"/>
                <a:cs typeface="Microsoft YaHei"/>
              </a:rPr>
              <a:t>f(n) = g(n) + h(n)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81DD47-DE83-44A1-B893-8D2D051F0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150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F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72F3D"/>
                </a:solidFill>
                <a:latin typeface="Microsoft YaHei"/>
                <a:ea typeface="Microsoft YaHei"/>
                <a:cs typeface="Microsoft YaHei"/>
              </a:rPr>
              <a:t>g(n)  从起点到当前节点的累计代价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381276-0A96-4EE1-9BF8-6BEFA9711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95650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F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72F3D"/>
                </a:solidFill>
                <a:latin typeface="Microsoft YaHei"/>
                <a:ea typeface="Microsoft YaHei"/>
                <a:cs typeface="Microsoft YaHei"/>
              </a:rPr>
              <a:t>h(n)  当前节点到终点的估计代价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D025F7-40A5-4526-B37C-BE1E926B6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14800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07F80"/>
                </a:solidFill>
                <a:latin typeface="Microsoft YaHei"/>
                <a:ea typeface="Microsoft YaHei"/>
                <a:cs typeface="Microsoft YaHei"/>
              </a:rPr>
              <a:t>搜索过程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1484B0-9FF4-4DDE-979A-A2DC160EF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48200"/>
            <a:ext cx="109728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2F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F3D"/>
                </a:solidFill>
                <a:latin typeface="Microsoft YaHei"/>
                <a:ea typeface="Microsoft YaHei"/>
                <a:cs typeface="Microsoft YaHei"/>
              </a:rPr>
              <a:t>① 选择 f 最小的节点     ② 检查可通行邻居</a:t>
            </a:r>
          </a:p>
          <a:p xmlns:a="http://schemas.openxmlformats.org/drawingml/2006/main">
            <a:pPr>
              <a:defRPr sz="2100" b="0">
                <a:solidFill>
                  <a:srgbClr val="172F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F3D"/>
                </a:solidFill>
                <a:latin typeface="Microsoft YaHei"/>
                <a:ea typeface="Microsoft YaHei"/>
                <a:cs typeface="Microsoft YaHei"/>
              </a:rPr>
              <a:t>③ 更新代价与父节点     ④ 到达终点后回溯路径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36820C-9B8A-4B24-B7B4-1B608403A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38825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7F80"/>
                </a:solidFill>
                <a:latin typeface="Microsoft YaHei"/>
                <a:ea typeface="Microsoft YaHei"/>
                <a:cs typeface="Microsoft YaHei"/>
              </a:rPr>
              <a:t>关键澄清：传统 A* 本来就能绕开地图中已知、被标记为不可通行的障碍。</a:t>
            </a:r>
          </a:p>
        </p:txBody>
      </p:sp>
    </p:spTree>
    <p:extLst>
      <p:ext uri="{BB962C8B-B14F-4D97-AF65-F5344CB8AC3E}">
        <p14:creationId xmlns:p14="http://schemas.microsoft.com/office/powerpoint/2010/main" val="87864627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AD77B5-4563-42BB-9D2D-FAF974AC6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7F80"/>
                </a:solidFill>
                <a:latin typeface="Microsoft YaHei"/>
                <a:ea typeface="Microsoft YaHei"/>
                <a:cs typeface="Microsoft YaHei"/>
              </a:rPr>
              <a:t>02  /  核心对比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0E0319-C079-4B88-B912-4B4ED12CA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2F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2F3D"/>
                </a:solidFill>
                <a:latin typeface="Microsoft YaHei"/>
                <a:ea typeface="Microsoft YaHei"/>
                <a:cs typeface="Microsoft YaHei"/>
              </a:rPr>
              <a:t>保留 A* 搜索框架，扩展船舶场景约束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20D49B-71DF-4609-ABE3-B63C47F0E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A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A76"/>
                </a:solidFill>
                <a:latin typeface="Microsoft YaHei"/>
                <a:ea typeface="Microsoft YaHei"/>
                <a:cs typeface="Microsoft YaHei"/>
              </a:rPr>
              <a:t>城市方舟  /  救援船路径规划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757D88-B91E-4F80-9225-B918FFA2C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A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A76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628775"/>
          <a:ext xmlns:a="http://schemas.openxmlformats.org/drawingml/2006/main" cx="10972800" cy="38862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790700"/>
                <a:gridCol w="3638550"/>
                <a:gridCol w="5543550"/>
              </a:tblGrid>
              <a:tr h="6477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比较维度</a:t>
                      </a:r>
                    </a:p>
                  </a:txBody>
                  <a:tcPr marL="152400" marR="152400" marT="95250" marB="95250" anchor="ctr">
                    <a:solidFill>
                      <a:srgbClr val="172F3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传统静态 A* 基线</a:t>
                      </a:r>
                    </a:p>
                  </a:txBody>
                  <a:tcPr marL="152400" marR="152400" marT="95250" marB="95250" anchor="ctr">
                    <a:solidFill>
                      <a:srgbClr val="172F3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当前项目实现</a:t>
                      </a:r>
                    </a:p>
                  </a:txBody>
                  <a:tcPr marL="152400" marR="152400" marT="95250" marB="95250" anchor="ctr">
                    <a:solidFill>
                      <a:srgbClr val="172F3D"/>
                    </a:solidFill>
                  </a:tcPr>
                </a:tc>
              </a:tr>
              <a:tr h="6477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F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障碍信息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F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初始地图中的静态障碍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F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静态障碍 + 其他船 / 漂浮物当前位置</a:t>
                      </a:r>
                    </a:p>
                  </a:txBody>
                  <a:tcPr marL="152400" marR="152400" marT="95250" marB="95250" anchor="ctr">
                    <a:solidFill>
                      <a:srgbClr val="E8F4F2"/>
                    </a:solidFill>
                  </a:tcPr>
                </a:tc>
              </a:tr>
              <a:tr h="6477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F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船体与水深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F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不额外加入船舶约束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F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安全占用范围 + 五点水深检查</a:t>
                      </a:r>
                    </a:p>
                  </a:txBody>
                  <a:tcPr marL="152400" marR="152400" marT="95250" marB="95250" anchor="ctr">
                    <a:solidFill>
                      <a:srgbClr val="E8F4F2"/>
                    </a:solidFill>
                  </a:tcPr>
                </a:tc>
              </a:tr>
              <a:tr h="6477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F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路径代价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F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几何行驶距离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F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距离 × 逆流惩罚系数</a:t>
                      </a:r>
                    </a:p>
                  </a:txBody>
                  <a:tcPr marL="152400" marR="152400" marT="95250" marB="95250" anchor="ctr">
                    <a:solidFill>
                      <a:srgbClr val="E8F4F2"/>
                    </a:solidFill>
                  </a:tcPr>
                </a:tc>
              </a:tr>
              <a:tr h="6477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F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环境更新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F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首次规划后沿原路径行驶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F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约每 1.2 秒或路径为空时重规划</a:t>
                      </a:r>
                    </a:p>
                  </a:txBody>
                  <a:tcPr marL="152400" marR="152400" marT="95250" marB="95250" anchor="ctr">
                    <a:solidFill>
                      <a:srgbClr val="E8F4F2"/>
                    </a:solidFill>
                  </a:tcPr>
                </a:tc>
              </a:tr>
              <a:tr h="6477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F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路径输出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F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栅格节点序列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F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通视检查后删去冗余中间点</a:t>
                      </a:r>
                    </a:p>
                  </a:txBody>
                  <a:tcPr marL="152400" marR="152400" marT="95250" marB="95250" anchor="ctr">
                    <a:solidFill>
                      <a:srgbClr val="E8F4F2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1C0B01-7B65-4BB3-BA6D-FCA3A0CDD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43575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07F80"/>
                </a:solidFill>
                <a:latin typeface="Microsoft YaHei"/>
                <a:ea typeface="Microsoft YaHei"/>
                <a:cs typeface="Microsoft YaHei"/>
              </a:rPr>
              <a:t>没有更换：f = g + h；h 仍是平面欧氏距离。</a:t>
            </a:r>
          </a:p>
        </p:txBody>
      </p:sp>
    </p:spTree>
    <p:extLst>
      <p:ext uri="{BB962C8B-B14F-4D97-AF65-F5344CB8AC3E}">
        <p14:creationId xmlns:p14="http://schemas.microsoft.com/office/powerpoint/2010/main" val="15694550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DB1D10-B66B-41DA-A057-EFC61002C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7F80"/>
                </a:solidFill>
                <a:latin typeface="Microsoft YaHei"/>
                <a:ea typeface="Microsoft YaHei"/>
                <a:cs typeface="Microsoft YaHei"/>
              </a:rPr>
              <a:t>03  /  绕障机制示意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6EFD99-9B4C-4CB4-AFE3-896323AFC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2F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2F3D"/>
                </a:solidFill>
                <a:latin typeface="Microsoft YaHei"/>
                <a:ea typeface="Microsoft YaHei"/>
                <a:cs typeface="Microsoft YaHei"/>
              </a:rPr>
              <a:t>新障碍出现后，旧路线需要重新计算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CBC2E8-02CF-4ACD-86A5-4FF0AF094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A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A76"/>
                </a:solidFill>
                <a:latin typeface="Microsoft YaHei"/>
                <a:ea typeface="Microsoft YaHei"/>
                <a:cs typeface="Microsoft YaHei"/>
              </a:rPr>
              <a:t>城市方舟  /  救援船路径规划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C213B5-3FDA-4DC8-ACB2-3085F6038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A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A76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7B941F-EAE5-4DA7-A499-5C9F23E8E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57325"/>
            <a:ext cx="5257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536A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536A76"/>
                </a:solidFill>
                <a:latin typeface="Microsoft YaHei"/>
                <a:ea typeface="Microsoft YaHei"/>
                <a:cs typeface="Microsoft YaHei"/>
              </a:rPr>
              <a:t>静态、单次规划：旧路线不更新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F9624F-EDCA-483F-A569-849BAFFDE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457325"/>
            <a:ext cx="523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7F80"/>
                </a:solidFill>
                <a:latin typeface="Microsoft YaHei"/>
                <a:ea typeface="Microsoft YaHei"/>
                <a:cs typeface="Microsoft YaHei"/>
              </a:rPr>
              <a:t>当前方案：按更新后的障碍绕行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925cb0dd09465a"/>
          <a:stretch xmlns:a="http://schemas.openxmlformats.org/drawingml/2006/main"/>
        </p:blipFill>
        <p:spPr>
          <a:xfrm xmlns:a="http://schemas.openxmlformats.org/drawingml/2006/main">
            <a:off x="2516503" y="1885950"/>
            <a:ext cx="7158994" cy="402907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2C588E-E057-491A-9F1E-0661362B4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38825"/>
            <a:ext cx="10972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36A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36A76"/>
                </a:solidFill>
                <a:latin typeface="Microsoft YaHei"/>
                <a:ea typeface="Microsoft YaHei"/>
                <a:cs typeface="Microsoft YaHei"/>
              </a:rPr>
              <a:t>灰虚线：旧路线    青线：更新路线    橙色：新增漂浮物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3659CB-2AFD-4AC0-AAF1-EFFF651C7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6267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00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07F80"/>
                </a:solidFill>
                <a:latin typeface="Microsoft YaHei"/>
                <a:ea typeface="Microsoft YaHei"/>
                <a:cs typeface="Microsoft YaHei"/>
              </a:rPr>
              <a:t>机制示意图，非仿真实测轨迹；对比的是“是否更新并重规划”。</a:t>
            </a:r>
          </a:p>
        </p:txBody>
      </p:sp>
    </p:spTree>
    <p:extLst>
      <p:ext uri="{BB962C8B-B14F-4D97-AF65-F5344CB8AC3E}">
        <p14:creationId xmlns:p14="http://schemas.microsoft.com/office/powerpoint/2010/main" val="213624870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E45F23-F80A-4D9C-8ADB-CBC7495A9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7F80"/>
                </a:solidFill>
                <a:latin typeface="Microsoft YaHei"/>
                <a:ea typeface="Microsoft YaHei"/>
                <a:cs typeface="Microsoft YaHei"/>
              </a:rPr>
              <a:t>04  /  对应当前代码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F89B81-DE57-4C83-B9DE-24E53F634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2F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2F3D"/>
                </a:solidFill>
                <a:latin typeface="Microsoft YaHei"/>
                <a:ea typeface="Microsoft YaHei"/>
                <a:cs typeface="Microsoft YaHei"/>
              </a:rPr>
              <a:t>改进的具体内容：可通行判断与逆流代价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C53950-9141-409A-A86D-933581789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A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A76"/>
                </a:solidFill>
                <a:latin typeface="Microsoft YaHei"/>
                <a:ea typeface="Microsoft YaHei"/>
                <a:cs typeface="Microsoft YaHei"/>
              </a:rPr>
              <a:t>城市方舟  /  救援船路径规划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B909F9-BD9E-4ADB-8B1C-AD08A9053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A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A76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FF157B-564E-47F6-B1DE-D088B84E1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07F80"/>
                </a:solidFill>
                <a:latin typeface="Microsoft YaHei"/>
                <a:ea typeface="Microsoft YaHei"/>
                <a:cs typeface="Microsoft YaHei"/>
              </a:rPr>
              <a:t>① 先判断：这段水域是否允许船通过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71B184-FB1B-46C6-9F76-2BB07CE48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2F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2F3D"/>
                </a:solidFill>
                <a:latin typeface="Microsoft YaHei"/>
                <a:ea typeface="Microsoft YaHei"/>
                <a:cs typeface="Microsoft YaHei"/>
              </a:rPr>
              <a:t>静态安全检测半宽 48 mm；船间中心排斥距离 96 mm。</a:t>
            </a:r>
          </a:p>
          <a:p xmlns:a="http://schemas.openxmlformats.org/drawingml/2006/main">
            <a:pPr>
              <a:defRPr sz="2025" b="0">
                <a:solidFill>
                  <a:srgbClr val="172F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2F3D"/>
                </a:solidFill>
                <a:latin typeface="Microsoft YaHei"/>
                <a:ea typeface="Microsoft YaHei"/>
                <a:cs typeface="Microsoft YaHei"/>
              </a:rPr>
              <a:t>在中心及四周检测水深：水深 ≥ max(8 mm，吃水 + 1.8 mm)。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79D696-6D71-479E-8D3F-A1F0973BE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1470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07F80"/>
                </a:solidFill>
                <a:latin typeface="Microsoft YaHei"/>
                <a:ea typeface="Microsoft YaHei"/>
                <a:cs typeface="Microsoft YaHei"/>
              </a:rPr>
              <a:t>② 再比较：相邻节点之间哪条路线代价更低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C27B86-2921-47C1-879D-AE41FC385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3825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2F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2F3D"/>
                </a:solidFill>
                <a:latin typeface="Microsoft YaHei"/>
                <a:ea typeface="Microsoft YaHei"/>
                <a:cs typeface="Microsoft YaHei"/>
              </a:rPr>
              <a:t>c(i,j) = Δs × [1 + max(0, −v · d) / 0.04]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4A9762-4B88-46D8-95B7-6079C513F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86300"/>
            <a:ext cx="1097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36A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36A76"/>
                </a:solidFill>
                <a:latin typeface="Microsoft YaHei"/>
                <a:ea typeface="Microsoft YaHei"/>
                <a:cs typeface="Microsoft YaHei"/>
              </a:rPr>
              <a:t>Δs：节点间距    v：当地流速（m/s）    d：行驶方向单位向量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982DFE-695B-4DFD-B7A8-F5E2C4910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67325"/>
            <a:ext cx="1097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7F80"/>
                </a:solidFill>
                <a:latin typeface="Microsoft YaHei"/>
                <a:ea typeface="Microsoft YaHei"/>
                <a:cs typeface="Microsoft YaHei"/>
              </a:rPr>
              <a:t>逆流越强，代价越大；顺流不额外奖励。h 仍使用欧氏距离。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069EED-01B4-4787-81F9-0E08B7794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86450"/>
            <a:ext cx="109728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36A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36A76"/>
                </a:solidFill>
                <a:latin typeface="Microsoft YaHei"/>
                <a:ea typeface="Microsoft YaHei"/>
                <a:cs typeface="Microsoft YaHei"/>
              </a:rPr>
              <a:t>注意：这是流场加权距离，不是直接计算的能耗或到达时间。</a:t>
            </a:r>
          </a:p>
        </p:txBody>
      </p:sp>
    </p:spTree>
    <p:extLst>
      <p:ext uri="{BB962C8B-B14F-4D97-AF65-F5344CB8AC3E}">
        <p14:creationId xmlns:p14="http://schemas.microsoft.com/office/powerpoint/2010/main" val="154265839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5839AE-EF02-4A43-A20E-6981B55D6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7F80"/>
                </a:solidFill>
                <a:latin typeface="Microsoft YaHei"/>
                <a:ea typeface="Microsoft YaHei"/>
                <a:cs typeface="Microsoft YaHei"/>
              </a:rPr>
              <a:t>05  /  Unity 仿真实现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ED6723-4616-41B1-8028-9E68A0739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2F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2F3D"/>
                </a:solidFill>
                <a:latin typeface="Microsoft YaHei"/>
                <a:ea typeface="Microsoft YaHei"/>
                <a:cs typeface="Microsoft YaHei"/>
              </a:rPr>
              <a:t>路径规划与物理航行，是两层不同的计算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013C69-F6D3-41B6-889E-DB0938A12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A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A76"/>
                </a:solidFill>
                <a:latin typeface="Microsoft YaHei"/>
                <a:ea typeface="Microsoft YaHei"/>
                <a:cs typeface="Microsoft YaHei"/>
              </a:rPr>
              <a:t>城市方舟  /  救援船路径规划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1D3C7F-D05D-46AC-8A0B-9C98FFC7A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A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A76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1c4c8686b04d32"/>
          <a:stretch xmlns:a="http://schemas.openxmlformats.org/drawingml/2006/main"/>
        </p:blipFill>
        <p:spPr>
          <a:xfrm xmlns:a="http://schemas.openxmlformats.org/drawingml/2006/main">
            <a:off x="609600" y="1620441"/>
            <a:ext cx="6838950" cy="4274344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08B14D-5D57-4DF0-849F-C35DFC81F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638300"/>
            <a:ext cx="352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07F80"/>
                </a:solidFill>
                <a:latin typeface="Microsoft YaHei"/>
                <a:ea typeface="Microsoft YaHei"/>
                <a:cs typeface="Microsoft YaHei"/>
              </a:rPr>
              <a:t>规划层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5DCC71-4982-42D9-962E-0B1447C7B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181225"/>
            <a:ext cx="36766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2F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2F3D"/>
                </a:solidFill>
                <a:latin typeface="Microsoft YaHei"/>
                <a:ea typeface="Microsoft YaHei"/>
                <a:cs typeface="Microsoft YaHei"/>
              </a:rPr>
              <a:t>读取水域与障碍</a:t>
            </a:r>
          </a:p>
          <a:p xmlns:a="http://schemas.openxmlformats.org/drawingml/2006/main">
            <a:pPr>
              <a:defRPr sz="2025" b="0">
                <a:solidFill>
                  <a:srgbClr val="172F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2F3D"/>
                </a:solidFill>
                <a:latin typeface="Microsoft YaHei"/>
                <a:ea typeface="Microsoft YaHei"/>
                <a:cs typeface="Microsoft YaHei"/>
              </a:rPr>
              <a:t>运行 A* 并压缩路径</a:t>
            </a:r>
          </a:p>
          <a:p xmlns:a="http://schemas.openxmlformats.org/drawingml/2006/main">
            <a:pPr>
              <a:defRPr sz="2025" b="0">
                <a:solidFill>
                  <a:srgbClr val="172F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2F3D"/>
                </a:solidFill>
                <a:latin typeface="Microsoft YaHei"/>
                <a:ea typeface="Microsoft YaHei"/>
                <a:cs typeface="Microsoft YaHei"/>
              </a:rPr>
              <a:t>约每 1.2 秒重新规划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5795D7-B99A-4BF0-A6C5-2C1A57C93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771900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07F80"/>
                </a:solidFill>
                <a:latin typeface="Microsoft YaHei"/>
                <a:ea typeface="Microsoft YaHei"/>
                <a:cs typeface="Microsoft YaHei"/>
              </a:rPr>
              <a:t>运动与避让层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406205-543E-4F5C-BA14-2C6D34AB7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314825"/>
            <a:ext cx="36766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2F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2F3D"/>
                </a:solidFill>
                <a:latin typeface="Microsoft YaHei"/>
                <a:ea typeface="Microsoft YaHei"/>
                <a:cs typeface="Microsoft YaHei"/>
              </a:rPr>
              <a:t>跟踪航点、差速推进</a:t>
            </a:r>
          </a:p>
          <a:p xmlns:a="http://schemas.openxmlformats.org/drawingml/2006/main">
            <a:pPr>
              <a:defRPr sz="2025" b="0">
                <a:solidFill>
                  <a:srgbClr val="172F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2F3D"/>
                </a:solidFill>
                <a:latin typeface="Microsoft YaHei"/>
                <a:ea typeface="Microsoft YaHei"/>
                <a:cs typeface="Microsoft YaHei"/>
              </a:rPr>
              <a:t>短时船间冲突检查</a:t>
            </a:r>
          </a:p>
          <a:p xmlns:a="http://schemas.openxmlformats.org/drawingml/2006/main">
            <a:pPr>
              <a:defRPr sz="2025" b="0">
                <a:solidFill>
                  <a:srgbClr val="172F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2F3D"/>
                </a:solidFill>
                <a:latin typeface="Microsoft YaHei"/>
                <a:ea typeface="Microsoft YaHei"/>
                <a:cs typeface="Microsoft YaHei"/>
              </a:rPr>
              <a:t>受水流、阻力和碰撞影响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F65B44-2EF5-4C1D-8561-877F7ED4F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7F80"/>
                </a:solidFill>
                <a:latin typeface="Microsoft YaHei"/>
                <a:ea typeface="Microsoft YaHei"/>
                <a:cs typeface="Microsoft YaHei"/>
              </a:rPr>
              <a:t>显示的规划线 ≠ 未来真实航迹；实际航迹应单独记录并验证。</a:t>
            </a:r>
          </a:p>
        </p:txBody>
      </p:sp>
    </p:spTree>
    <p:extLst>
      <p:ext uri="{BB962C8B-B14F-4D97-AF65-F5344CB8AC3E}">
        <p14:creationId xmlns:p14="http://schemas.microsoft.com/office/powerpoint/2010/main" val="140598270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3DF00B-234E-4D71-BBCE-5527F69ED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7F80"/>
                </a:solidFill>
                <a:latin typeface="Microsoft YaHei"/>
                <a:ea typeface="Microsoft YaHei"/>
                <a:cs typeface="Microsoft YaHei"/>
              </a:rPr>
              <a:t>06  /  验证方案与结论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B7F81B-69CC-47F9-AC21-47319401F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2F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2F3D"/>
                </a:solidFill>
                <a:latin typeface="Microsoft YaHei"/>
                <a:ea typeface="Microsoft YaHei"/>
                <a:cs typeface="Microsoft YaHei"/>
              </a:rPr>
              <a:t>如何证明改进有效：同条件 A/B 对照实验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C916D9-3A6A-4251-B08F-D4186E3C6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A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A76"/>
                </a:solidFill>
                <a:latin typeface="Microsoft YaHei"/>
                <a:ea typeface="Microsoft YaHei"/>
                <a:cs typeface="Microsoft YaHei"/>
              </a:rPr>
              <a:t>城市方舟  /  救援船路径规划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5485B6-C893-4A39-B0B8-EEEE342C4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A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A76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609600" y="1581150"/>
          <a:ext xmlns:a="http://schemas.openxmlformats.org/drawingml/2006/main" cx="10972800" cy="31623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095625"/>
                <a:gridCol w="3781425"/>
                <a:gridCol w="4095750"/>
              </a:tblGrid>
              <a:tr h="63246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测试场景</a:t>
                      </a:r>
                    </a:p>
                  </a:txBody>
                  <a:tcPr marL="152400" marR="152400" marT="95250" marB="95250" anchor="ctr">
                    <a:solidFill>
                      <a:srgbClr val="172F3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重点验证</a:t>
                      </a:r>
                    </a:p>
                  </a:txBody>
                  <a:tcPr marL="152400" marR="152400" marT="95250" marB="95250" anchor="ctr">
                    <a:solidFill>
                      <a:srgbClr val="172F3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建议记录指标</a:t>
                      </a:r>
                    </a:p>
                  </a:txBody>
                  <a:tcPr marL="152400" marR="152400" marT="95250" marB="95250" anchor="ctr">
                    <a:solidFill>
                      <a:srgbClr val="172F3D"/>
                    </a:solidFill>
                  </a:tcPr>
                </a:tc>
              </a:tr>
              <a:tr h="63246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2F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仅有已知静态障碍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2F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两种方案均能绕障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2F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规划耗时、路径长度</a:t>
                      </a:r>
                    </a:p>
                  </a:txBody>
                  <a:tcPr marL="152400" marR="152400" marT="95250" marB="95250" anchor="ctr">
                    <a:solidFill>
                      <a:srgbClr val="E8F4F2"/>
                    </a:solidFill>
                  </a:tcPr>
                </a:tc>
              </a:tr>
              <a:tr h="63246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2F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狭窄通道 / 浅水区域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2F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船体与水深约束是否有效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2F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碰撞次数、搁浅次数、最小净距</a:t>
                      </a:r>
                    </a:p>
                  </a:txBody>
                  <a:tcPr marL="152400" marR="152400" marT="95250" marB="95250" anchor="ctr">
                    <a:solidFill>
                      <a:srgbClr val="E8F4F2"/>
                    </a:solidFill>
                  </a:tcPr>
                </a:tc>
              </a:tr>
              <a:tr h="63246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2F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漂浮物进入原航线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2F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更新路线能否恢复可行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2F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响应时间、重规划次数、到达率</a:t>
                      </a:r>
                    </a:p>
                  </a:txBody>
                  <a:tcPr marL="152400" marR="152400" marT="95250" marB="95250" anchor="ctr">
                    <a:solidFill>
                      <a:srgbClr val="E8F4F2"/>
                    </a:solidFill>
                  </a:tcPr>
                </a:tc>
              </a:tr>
              <a:tr h="63246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2F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相同流场与救援任务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2F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逆流代价是否改善航行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2F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逆流暴露、航时、任务完成率</a:t>
                      </a:r>
                    </a:p>
                  </a:txBody>
                  <a:tcPr marL="152400" marR="152400" marT="95250" marB="95250" anchor="ctr">
                    <a:solidFill>
                      <a:srgbClr val="E8F4F2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47B9F7-2608-4D0B-A767-36793C56B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109728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36A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36A76"/>
                </a:solidFill>
                <a:latin typeface="Microsoft YaHei"/>
                <a:ea typeface="Microsoft YaHei"/>
                <a:cs typeface="Microsoft YaHei"/>
              </a:rPr>
              <a:t>控制变量：相同地图、起终点、流场、任务和推进控制器。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25AD51-8C03-462F-9EAF-3C3EC3A3F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8640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07F80"/>
                </a:solidFill>
                <a:latin typeface="Microsoft YaHei"/>
                <a:ea typeface="Microsoft YaHei"/>
                <a:cs typeface="Microsoft YaHei"/>
              </a:rPr>
              <a:t>当前结论：实现了“船舶约束 + 流场代价 + 在线重规划”的 A* 系统。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C0800A-D2E8-49E6-B997-C24DB1CEA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0275"/>
            <a:ext cx="109728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36A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36A76"/>
                </a:solidFill>
                <a:latin typeface="Microsoft YaHei"/>
                <a:ea typeface="Microsoft YaHei"/>
                <a:cs typeface="Microsoft YaHei"/>
              </a:rPr>
              <a:t>已核实功能差异；尚无同条件 A/B 统计，不宣称提升百分比或全局最优。</a:t>
            </a:r>
          </a:p>
        </p:txBody>
      </p:sp>
    </p:spTree>
    <p:extLst>
      <p:ext uri="{BB962C8B-B14F-4D97-AF65-F5344CB8AC3E}">
        <p14:creationId xmlns:p14="http://schemas.microsoft.com/office/powerpoint/2010/main" val="31901419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2026-09-10T08:41:49.8380000Z</dcterms:created>
  <dcterms:modified xsi:type="dcterms:W3CDTF">2026-09-10T08:41:49.8380000Z</dcterms:modified>
</coreProperties>
</file>