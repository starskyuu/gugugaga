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007ad7d564f77" /><Relationship Type="http://schemas.openxmlformats.org/officeDocument/2006/relationships/extended-properties" Target="/docProps/app.xml" Id="R100d65c8e7af4a49" /><Relationship Type="http://schemas.openxmlformats.org/officeDocument/2006/relationships/officeDocument" Target="/ppt/presentation.xml" Id="Rf5159b6fc98545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ea61015e884258"/>
  </p:sldMasterIdLst>
  <p:notesMasterIdLst>
    <p:notesMasterId xmlns:r="http://schemas.openxmlformats.org/officeDocument/2006/relationships" r:id="Rb91ca3f603914607"/>
  </p:notesMasterIdLst>
  <p:sldIdLst>
    <p:sldId xmlns:r="http://schemas.openxmlformats.org/officeDocument/2006/relationships" id="256" r:id="Rc5f68ee56dc646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6d071b4ea04de7" /><Relationship Type="http://schemas.openxmlformats.org/officeDocument/2006/relationships/slideMaster" Target="/ppt/slideMasters/slideMaster1.xml" Id="R3fea61015e884258" /><Relationship Type="http://schemas.openxmlformats.org/officeDocument/2006/relationships/notesMaster" Target="/ppt/notesMasters/notesMaster1.xml" Id="Rb91ca3f603914607" /><Relationship Type="http://schemas.openxmlformats.org/officeDocument/2006/relationships/presProps" Target="/ppt/presProps.xml" Id="R4f8c03936d104235" /><Relationship Type="http://schemas.openxmlformats.org/officeDocument/2006/relationships/tableStyles" Target="/ppt/tableStyles.xml" Id="Rc5b91228645344ab" /><Relationship Type="http://schemas.openxmlformats.org/officeDocument/2006/relationships/slide" Target="/ppt/slides/slide1.xml" Id="Rc5f68ee56dc646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8bdbfa9c5140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ec61d7fdaa44fe" /><Relationship Type="http://schemas.openxmlformats.org/officeDocument/2006/relationships/notesMaster" Target="/ppt/notesMasters/notesMaster1.xml" Id="Rc7f2ac7a046040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eeeaf4a9a46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d7339bd4a24b0e" /><Relationship Type="http://schemas.openxmlformats.org/officeDocument/2006/relationships/slideLayout" Target="/ppt/slideLayouts/slideLayout1.xml" Id="Rbfae77b01e2842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ae77b01e2842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84804502b4afa" /><Relationship Type="http://schemas.openxmlformats.org/officeDocument/2006/relationships/notesSlide" Target="/ppt/notesSlides/notesSlide1.xml" Id="Rb5d9d6d6953f42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28EBFDA-E5F3-4D22-B190-CAC2C8C7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76217A8-ABC7-4A91-8A36-4B80F092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项目方案梳理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FF40C4-F3BE-4C52-871F-F6B50289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GPS + YOLO 轻量目标定位与反馈系统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D91FA9A2-2176-4F74-A7C3-FEECD956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从视觉识别与坐标输入，到机械响应、通信与高度计算</a:t>
            </a:r>
          </a:p>
        </p:txBody>
      </p:sp>
      <p:sp>
        <p:nvSpPr>
          <p:cNvPr id="5" name="source-anchor">
            <a:extLst xmlns:a="http://schemas.openxmlformats.org/drawingml/2006/main">
              <a:ext uri="{FF2B5EF4-FFF2-40B4-BE49-F238E27FC236}">
                <a16:creationId xmlns:a16="http://schemas.microsoft.com/office/drawing/2014/main" id="{6C868D25-6921-40E1-A8F9-3FA6CC49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20002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1906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hub-anchor">
            <a:extLst xmlns:a="http://schemas.openxmlformats.org/drawingml/2006/main">
              <a:ext uri="{FF2B5EF4-FFF2-40B4-BE49-F238E27FC236}">
                <a16:creationId xmlns:a16="http://schemas.microsoft.com/office/drawing/2014/main" id="{371C2CD0-F09C-4FE5-9935-9F9A9CD1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2098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output-anchor">
            <a:extLst xmlns:a="http://schemas.openxmlformats.org/drawingml/2006/main">
              <a:ext uri="{FF2B5EF4-FFF2-40B4-BE49-F238E27FC236}">
                <a16:creationId xmlns:a16="http://schemas.microsoft.com/office/drawing/2014/main" id="{8F4D6D85-DE7A-4053-85CF-594B74A3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2095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1906">
            <a:solidFill>
              <a:srgbClr val="98A2B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mech-anchor">
            <a:extLst xmlns:a="http://schemas.openxmlformats.org/drawingml/2006/main">
              <a:ext uri="{FF2B5EF4-FFF2-40B4-BE49-F238E27FC236}">
                <a16:creationId xmlns:a16="http://schemas.microsoft.com/office/drawing/2014/main" id="{BD3275BB-43E8-4372-AE1F-C29BDA19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2095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1906">
            <a:solidFill>
              <a:srgbClr val="98A2B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comm-anchor">
            <a:extLst xmlns:a="http://schemas.openxmlformats.org/drawingml/2006/main">
              <a:ext uri="{FF2B5EF4-FFF2-40B4-BE49-F238E27FC236}">
                <a16:creationId xmlns:a16="http://schemas.microsoft.com/office/drawing/2014/main" id="{2A3B357E-BCA2-437E-9E67-B0A391A2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81575"/>
            <a:ext cx="27051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1906">
            <a:solidFill>
              <a:srgbClr val="98A2B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calc-anchor">
            <a:extLst xmlns:a="http://schemas.openxmlformats.org/drawingml/2006/main">
              <a:ext uri="{FF2B5EF4-FFF2-40B4-BE49-F238E27FC236}">
                <a16:creationId xmlns:a16="http://schemas.microsoft.com/office/drawing/2014/main" id="{113E70E0-7CC5-4F10-BB4B-F379C36A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81575"/>
            <a:ext cx="2762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1906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4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24200" y="3114675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6934200" y="2543175"/>
            <a:ext cx="154305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34200" y="3114675"/>
            <a:ext cx="154305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48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829300" y="3752850"/>
            <a:ext cx="0" cy="1228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81850" y="5362575"/>
            <a:ext cx="1152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med" len="med"/>
          </a:ln>
        </p:spPr>
      </p:cxnSp>
      <p:sp>
        <p:nvSpPr>
          <p:cNvPr id="16" name="input-kicker">
            <a:extLst xmlns:a="http://schemas.openxmlformats.org/drawingml/2006/main">
              <a:ext uri="{FF2B5EF4-FFF2-40B4-BE49-F238E27FC236}">
                <a16:creationId xmlns:a16="http://schemas.microsoft.com/office/drawing/2014/main" id="{09C6281F-3F15-4EBD-B2B7-C1FBFA56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24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输入层</a:t>
            </a:r>
          </a:p>
        </p:txBody>
      </p:sp>
      <p:sp>
        <p:nvSpPr>
          <p:cNvPr id="17" name="input-main">
            <a:extLst xmlns:a="http://schemas.openxmlformats.org/drawingml/2006/main">
              <a:ext uri="{FF2B5EF4-FFF2-40B4-BE49-F238E27FC236}">
                <a16:creationId xmlns:a16="http://schemas.microsoft.com/office/drawing/2014/main" id="{9E5FE103-EC06-4DB8-9914-0C35CA46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GPS 模块 + YOLO</a:t>
            </a:r>
          </a:p>
        </p:txBody>
      </p:sp>
      <p:sp>
        <p:nvSpPr>
          <p:cNvPr id="18" name="input-note">
            <a:extLst xmlns:a="http://schemas.openxmlformats.org/drawingml/2006/main">
              <a:ext uri="{FF2B5EF4-FFF2-40B4-BE49-F238E27FC236}">
                <a16:creationId xmlns:a16="http://schemas.microsoft.com/office/drawing/2014/main" id="{36584725-3409-4DEB-97BD-F722FA2D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861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每帧目标识别 / 坐标</a:t>
            </a:r>
          </a:p>
        </p:txBody>
      </p:sp>
      <p:sp>
        <p:nvSpPr>
          <p:cNvPr id="19" name="hub-title">
            <a:extLst xmlns:a="http://schemas.openxmlformats.org/drawingml/2006/main">
              <a:ext uri="{FF2B5EF4-FFF2-40B4-BE49-F238E27FC236}">
                <a16:creationId xmlns:a16="http://schemas.microsoft.com/office/drawing/2014/main" id="{F97D9591-5D10-4AB9-AB41-96FFB935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ESP32 协调控制</a:t>
            </a:r>
          </a:p>
        </p:txBody>
      </p:sp>
      <p:sp>
        <p:nvSpPr>
          <p:cNvPr id="20" name="hub-note">
            <a:extLst xmlns:a="http://schemas.openxmlformats.org/drawingml/2006/main">
              <a:ext uri="{FF2B5EF4-FFF2-40B4-BE49-F238E27FC236}">
                <a16:creationId xmlns:a16="http://schemas.microsoft.com/office/drawing/2014/main" id="{A9D4ACD8-A95C-41E4-99BE-D8321343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7657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接收坐标系</a:t>
            </a:r>
          </a:p>
          <a:p xmlns:a="http://schemas.openxmlformats.org/drawingml/2006/main">
            <a:pPr algn="ctr"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联动 GPIO / 执行单元</a:t>
            </a:r>
          </a:p>
        </p:txBody>
      </p:sp>
      <p:sp>
        <p:nvSpPr>
          <p:cNvPr id="21" name="hub-chip">
            <a:extLst xmlns:a="http://schemas.openxmlformats.org/drawingml/2006/main">
              <a:ext uri="{FF2B5EF4-FFF2-40B4-BE49-F238E27FC236}">
                <a16:creationId xmlns:a16="http://schemas.microsoft.com/office/drawing/2014/main" id="{BA2CDDD5-3E03-470D-84CB-E8867036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控制与转发枢纽</a:t>
            </a:r>
          </a:p>
        </p:txBody>
      </p:sp>
      <p:sp>
        <p:nvSpPr>
          <p:cNvPr id="22" name="display-title">
            <a:extLst xmlns:a="http://schemas.openxmlformats.org/drawingml/2006/main">
              <a:ext uri="{FF2B5EF4-FFF2-40B4-BE49-F238E27FC236}">
                <a16:creationId xmlns:a16="http://schemas.microsoft.com/office/drawing/2014/main" id="{87FF754A-3BCD-410A-A364-E9062D85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669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屏幕显示</a:t>
            </a:r>
          </a:p>
        </p:txBody>
      </p:sp>
      <p:sp>
        <p:nvSpPr>
          <p:cNvPr id="23" name="display-note">
            <a:extLst xmlns:a="http://schemas.openxmlformats.org/drawingml/2006/main">
              <a:ext uri="{FF2B5EF4-FFF2-40B4-BE49-F238E27FC236}">
                <a16:creationId xmlns:a16="http://schemas.microsoft.com/office/drawing/2014/main" id="{5FFE311C-0942-41ED-9211-1565D41F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目标状态与坐标</a:t>
            </a:r>
          </a:p>
        </p:txBody>
      </p:sp>
      <p:sp>
        <p:nvSpPr>
          <p:cNvPr id="24" name="mech-title">
            <a:extLst xmlns:a="http://schemas.openxmlformats.org/drawingml/2006/main">
              <a:ext uri="{FF2B5EF4-FFF2-40B4-BE49-F238E27FC236}">
                <a16:creationId xmlns:a16="http://schemas.microsoft.com/office/drawing/2014/main" id="{93603DEC-A353-4AE9-ADBE-FF46F0CB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242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机械结构</a:t>
            </a:r>
          </a:p>
        </p:txBody>
      </p:sp>
      <p:sp>
        <p:nvSpPr>
          <p:cNvPr id="25" name="mech-note">
            <a:extLst xmlns:a="http://schemas.openxmlformats.org/drawingml/2006/main">
              <a:ext uri="{FF2B5EF4-FFF2-40B4-BE49-F238E27FC236}">
                <a16:creationId xmlns:a16="http://schemas.microsoft.com/office/drawing/2014/main" id="{F956BFEA-EE0A-4836-9044-713DFAA4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29050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执行机构 → 高塔</a:t>
            </a:r>
          </a:p>
        </p:txBody>
      </p:sp>
      <p:sp>
        <p:nvSpPr>
          <p:cNvPr id="26" name="comm-title">
            <a:extLst xmlns:a="http://schemas.openxmlformats.org/drawingml/2006/main">
              <a:ext uri="{FF2B5EF4-FFF2-40B4-BE49-F238E27FC236}">
                <a16:creationId xmlns:a16="http://schemas.microsoft.com/office/drawing/2014/main" id="{1008BAA0-867C-4E13-A006-61E1269D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133975"/>
            <a:ext cx="226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通信：ESP32 mini ↔ 树莓派</a:t>
            </a:r>
          </a:p>
        </p:txBody>
      </p:sp>
      <p:sp>
        <p:nvSpPr>
          <p:cNvPr id="27" name="comm-note">
            <a:extLst xmlns:a="http://schemas.openxmlformats.org/drawingml/2006/main">
              <a:ext uri="{FF2B5EF4-FFF2-40B4-BE49-F238E27FC236}">
                <a16:creationId xmlns:a16="http://schemas.microsoft.com/office/drawing/2014/main" id="{98BDD4C7-8671-4194-8C9A-5208A725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419725"/>
            <a:ext cx="1847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Wi‑Fi 数据交互</a:t>
            </a:r>
          </a:p>
        </p:txBody>
      </p:sp>
      <p:sp>
        <p:nvSpPr>
          <p:cNvPr id="28" name="calc-title">
            <a:extLst xmlns:a="http://schemas.openxmlformats.org/drawingml/2006/main">
              <a:ext uri="{FF2B5EF4-FFF2-40B4-BE49-F238E27FC236}">
                <a16:creationId xmlns:a16="http://schemas.microsoft.com/office/drawing/2014/main" id="{E95AF1E1-4339-403F-94CD-695A726F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339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训练与计算：YOLO + 余弦法</a:t>
            </a:r>
          </a:p>
        </p:txBody>
      </p:sp>
      <p:sp>
        <p:nvSpPr>
          <p:cNvPr id="29" name="calc-note">
            <a:extLst xmlns:a="http://schemas.openxmlformats.org/drawingml/2006/main">
              <a:ext uri="{FF2B5EF4-FFF2-40B4-BE49-F238E27FC236}">
                <a16:creationId xmlns:a16="http://schemas.microsoft.com/office/drawing/2014/main" id="{732D6195-8602-4621-89C4-3CCBFA6A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9725"/>
            <a:ext cx="2286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目标小人数据集 → 计算高度</a:t>
            </a:r>
          </a:p>
        </p:txBody>
      </p:sp>
      <p:sp>
        <p:nvSpPr>
          <p:cNvPr id="30" name="left-label">
            <a:extLst xmlns:a="http://schemas.openxmlformats.org/drawingml/2006/main">
              <a:ext uri="{FF2B5EF4-FFF2-40B4-BE49-F238E27FC236}">
                <a16:creationId xmlns:a16="http://schemas.microsoft.com/office/drawing/2014/main" id="{CE81CB9F-C407-458C-BCB5-A757E39D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01 视觉与定位输入</a:t>
            </a:r>
          </a:p>
        </p:txBody>
      </p:sp>
      <p:sp>
        <p:nvSpPr>
          <p:cNvPr id="31" name="right-label">
            <a:extLst xmlns:a="http://schemas.openxmlformats.org/drawingml/2006/main">
              <a:ext uri="{FF2B5EF4-FFF2-40B4-BE49-F238E27FC236}">
                <a16:creationId xmlns:a16="http://schemas.microsoft.com/office/drawing/2014/main" id="{A18A6338-2F1C-437A-A88C-0D818C37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97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03 反馈与执行</a:t>
            </a:r>
          </a:p>
        </p:txBody>
      </p:sp>
      <p:sp>
        <p:nvSpPr>
          <p:cNvPr id="32" name="bottom-label">
            <a:extLst xmlns:a="http://schemas.openxmlformats.org/drawingml/2006/main">
              <a:ext uri="{FF2B5EF4-FFF2-40B4-BE49-F238E27FC236}">
                <a16:creationId xmlns:a16="http://schemas.microsoft.com/office/drawing/2014/main" id="{356C9609-B5C6-4763-BF1C-BA418410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91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02 通信、训练与计算</a:t>
            </a:r>
          </a:p>
        </p:txBody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B514A93D-A6CC-4A00-B1A6-82BA9122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方案概览｜可用于项目汇报与系统设计讨论</a:t>
            </a:r>
          </a:p>
        </p:txBody>
      </p:sp>
      <p:sp>
        <p:nvSpPr>
          <p:cNvPr id="34" name="footer2">
            <a:extLst xmlns:a="http://schemas.openxmlformats.org/drawingml/2006/main">
              <a:ext uri="{FF2B5EF4-FFF2-40B4-BE49-F238E27FC236}">
                <a16:creationId xmlns:a16="http://schemas.microsoft.com/office/drawing/2014/main" id="{BBABBD94-39CA-4451-B09B-6BEF344B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343650"/>
            <a:ext cx="1647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2B3"/>
                </a:solidFill>
              </a:defRPr>
            </a:pPr>
            <a:r>
              <a:rPr sz="900" b="0">
                <a:solidFill>
                  <a:srgbClr val="98A2B3"/>
                </a:solidFill>
              </a:rPr>
              <a:t>GPS · YOLO · ESP32</a:t>
            </a:r>
          </a:p>
        </p:txBody>
      </p:sp>
    </p:spTree>
    <p:extLst>
      <p:ext uri="{BB962C8B-B14F-4D97-AF65-F5344CB8AC3E}">
        <p14:creationId xmlns:p14="http://schemas.microsoft.com/office/powerpoint/2010/main" val="1591687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2026-09-03T02:42:47.3370000Z</dcterms:created>
  <dcterms:modified xsi:type="dcterms:W3CDTF">2026-09-03T02:42:47.3370000Z</dcterms:modified>
</coreProperties>
</file>