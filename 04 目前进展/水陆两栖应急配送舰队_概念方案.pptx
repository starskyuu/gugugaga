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8b63a03654bff" /><Relationship Type="http://schemas.openxmlformats.org/officeDocument/2006/relationships/extended-properties" Target="/docProps/app.xml" Id="R847f3c601b1342a2" /><Relationship Type="http://schemas.openxmlformats.org/officeDocument/2006/relationships/officeDocument" Target="/ppt/presentation.xml" Id="R1a4e6defc5b8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dc46842764a01"/>
  </p:sldMasterIdLst>
  <p:notesMasterIdLst>
    <p:notesMasterId xmlns:r="http://schemas.openxmlformats.org/officeDocument/2006/relationships" r:id="Rd17b65bf3c074c94"/>
  </p:notesMasterIdLst>
  <p:sldIdLst>
    <p:sldId xmlns:r="http://schemas.openxmlformats.org/officeDocument/2006/relationships" id="256" r:id="R3bcd2e5dac2d496d"/>
    <p:sldId xmlns:r="http://schemas.openxmlformats.org/officeDocument/2006/relationships" id="257" r:id="R835ddc9fa40443e3"/>
    <p:sldId xmlns:r="http://schemas.openxmlformats.org/officeDocument/2006/relationships" id="258" r:id="R66933b07ae234089"/>
    <p:sldId xmlns:r="http://schemas.openxmlformats.org/officeDocument/2006/relationships" id="259" r:id="R22405a4535714688"/>
    <p:sldId xmlns:r="http://schemas.openxmlformats.org/officeDocument/2006/relationships" id="260" r:id="R8674ea01f6dd4e0a"/>
    <p:sldId xmlns:r="http://schemas.openxmlformats.org/officeDocument/2006/relationships" id="261" r:id="Rc553b4f51fec4293"/>
    <p:sldId xmlns:r="http://schemas.openxmlformats.org/officeDocument/2006/relationships" id="262" r:id="Rf130780053da4305"/>
    <p:sldId xmlns:r="http://schemas.openxmlformats.org/officeDocument/2006/relationships" id="263" r:id="Rc76b5b2a620048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ae0fe04fda4fb0" /><Relationship Type="http://schemas.openxmlformats.org/officeDocument/2006/relationships/slideMaster" Target="/ppt/slideMasters/slideMaster1.xml" Id="Rcc1dc46842764a01" /><Relationship Type="http://schemas.openxmlformats.org/officeDocument/2006/relationships/notesMaster" Target="/ppt/notesMasters/notesMaster1.xml" Id="Rd17b65bf3c074c94" /><Relationship Type="http://schemas.openxmlformats.org/officeDocument/2006/relationships/presProps" Target="/ppt/presProps.xml" Id="Rfa21a5b956484dd7" /><Relationship Type="http://schemas.openxmlformats.org/officeDocument/2006/relationships/tableStyles" Target="/ppt/tableStyles.xml" Id="R8f6bfac7b0264af2" /><Relationship Type="http://schemas.openxmlformats.org/officeDocument/2006/relationships/slide" Target="/ppt/slides/slide1.xml" Id="R3bcd2e5dac2d496d" /><Relationship Type="http://schemas.openxmlformats.org/officeDocument/2006/relationships/slide" Target="/ppt/slides/slide2.xml" Id="R835ddc9fa40443e3" /><Relationship Type="http://schemas.openxmlformats.org/officeDocument/2006/relationships/slide" Target="/ppt/slides/slide3.xml" Id="R66933b07ae234089" /><Relationship Type="http://schemas.openxmlformats.org/officeDocument/2006/relationships/slide" Target="/ppt/slides/slide4.xml" Id="R22405a4535714688" /><Relationship Type="http://schemas.openxmlformats.org/officeDocument/2006/relationships/slide" Target="/ppt/slides/slide5.xml" Id="R8674ea01f6dd4e0a" /><Relationship Type="http://schemas.openxmlformats.org/officeDocument/2006/relationships/slide" Target="/ppt/slides/slide6.xml" Id="Rc553b4f51fec4293" /><Relationship Type="http://schemas.openxmlformats.org/officeDocument/2006/relationships/slide" Target="/ppt/slides/slide7.xml" Id="Rf130780053da4305" /><Relationship Type="http://schemas.openxmlformats.org/officeDocument/2006/relationships/slide" Target="/ppt/slides/slide8.xml" Id="Rc76b5b2a620048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a577f5801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a63808050f4759" /><Relationship Type="http://schemas.openxmlformats.org/officeDocument/2006/relationships/notesMaster" Target="/ppt/notesMasters/notesMaster1.xml" Id="R36ca19f38b14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b0d48219ce458d" /><Relationship Type="http://schemas.openxmlformats.org/officeDocument/2006/relationships/notesMaster" Target="/ppt/notesMasters/notesMaster1.xml" Id="R09bab8f91cef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e80867425432b" /><Relationship Type="http://schemas.openxmlformats.org/officeDocument/2006/relationships/notesMaster" Target="/ppt/notesMasters/notesMaster1.xml" Id="R5ec03b6a2cd6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772bba9294f30" /><Relationship Type="http://schemas.openxmlformats.org/officeDocument/2006/relationships/notesMaster" Target="/ppt/notesMasters/notesMaster1.xml" Id="Rfff606c0065044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401fd04b5646b1" /><Relationship Type="http://schemas.openxmlformats.org/officeDocument/2006/relationships/notesMaster" Target="/ppt/notesMasters/notesMaster1.xml" Id="R3d726ed36193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a2d7ca4dbd4bba" /><Relationship Type="http://schemas.openxmlformats.org/officeDocument/2006/relationships/notesMaster" Target="/ppt/notesMasters/notesMaster1.xml" Id="R110babbd813e40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01e9aba46431e" /><Relationship Type="http://schemas.openxmlformats.org/officeDocument/2006/relationships/notesMaster" Target="/ppt/notesMasters/notesMaster1.xml" Id="R68726244b761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ace57152f94a5c" /><Relationship Type="http://schemas.openxmlformats.org/officeDocument/2006/relationships/notesMaster" Target="/ppt/notesMasters/notesMaster1.xml" Id="R3ca776ad2fb4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7c88840a44d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b390e83464cb6" /><Relationship Type="http://schemas.openxmlformats.org/officeDocument/2006/relationships/slideLayout" Target="/ppt/slideLayouts/slideLayout1.xml" Id="R8d35517e4f2f4b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5517e4f2f4b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b6031ea9844e5" /><Relationship Type="http://schemas.openxmlformats.org/officeDocument/2006/relationships/notesSlide" Target="/ppt/notesSlides/notesSlide1.xml" Id="R821fad59b51941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085fb792a469d" /><Relationship Type="http://schemas.openxmlformats.org/officeDocument/2006/relationships/notesSlide" Target="/ppt/notesSlides/notesSlide2.xml" Id="Rd5d4a034e016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5eef3b7864449" /><Relationship Type="http://schemas.openxmlformats.org/officeDocument/2006/relationships/notesSlide" Target="/ppt/notesSlides/notesSlide3.xml" Id="R7264186815c441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80fc9a2bf4954" /><Relationship Type="http://schemas.openxmlformats.org/officeDocument/2006/relationships/notesSlide" Target="/ppt/notesSlides/notesSlide4.xml" Id="Rb2a29e2f17f5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0ae1b95349dc" /><Relationship Type="http://schemas.openxmlformats.org/officeDocument/2006/relationships/notesSlide" Target="/ppt/notesSlides/notesSlide5.xml" Id="R1205ac85af1b4d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796a26c3e4bc1" /><Relationship Type="http://schemas.openxmlformats.org/officeDocument/2006/relationships/notesSlide" Target="/ppt/notesSlides/notesSlide6.xml" Id="Rfc6745ebdcfa4a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9c6d97dc1486c" /><Relationship Type="http://schemas.openxmlformats.org/officeDocument/2006/relationships/notesSlide" Target="/ppt/notesSlides/notesSlide7.xml" Id="Rcb3b2261cbbc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129138b214eda" /><Relationship Type="http://schemas.openxmlformats.org/officeDocument/2006/relationships/notesSlide" Target="/ppt/notesSlides/notesSlide8.xml" Id="R9f65180963bd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F68C8-78E3-4133-A1A6-3A59303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oundRect">
            <a:avLst>
              <a:gd name="adj" fmla="val 909"/>
            </a:avLst>
          </a:prstGeom>
          <a:solidFill xmlns:a="http://schemas.openxmlformats.org/drawingml/2006/main">
            <a:srgbClr val="103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DCCA9-6E91-4057-AF5A-DC7EB3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07361-D85F-4DDA-A605-9EC16B0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E9405-BA4F-48E6-B404-495683F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E966C-2245-4E75-BC86-8F699BF2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973B4-86F0-4B3D-8A30-FC8F40E8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923FC-EA62-4C3C-AB12-BC83FED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D59B0-BB25-4576-A3B3-50A8477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435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A2C4C-8DBC-4C46-8310-48ABAF8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DE787-9C76-457A-B535-37CA14AC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476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63AE-4ECA-4AD7-80A0-1A558416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C7E9"/>
                </a:solidFill>
              </a:defRPr>
            </a:pPr>
            <a:r>
              <a:rPr sz="975" b="1">
                <a:solidFill>
                  <a:srgbClr val="62C7E9"/>
                </a:solidFill>
              </a:rPr>
              <a:t>城市洪涝 · 通信 × 交通 × 物资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85A02-55CE-4008-BF01-50B388D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水陆两栖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应急配送舰队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6A5C5-9723-47E4-B4F8-56BD291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7F4"/>
                </a:solidFill>
              </a:defRPr>
            </a:pPr>
            <a:r>
              <a:rPr sz="1875" b="0">
                <a:solidFill>
                  <a:srgbClr val="CDE7F4"/>
                </a:solidFill>
              </a:rPr>
              <a:t>用“中心基站 + 家庭求援终端 + 多艘小船”</a:t>
            </a:r>
          </a:p>
          <a:p xmlns:a="http://schemas.openxmlformats.org/drawingml/2006/main">
            <a:pPr algn="l">
              <a:defRPr sz="1875" b="0">
                <a:solidFill>
                  <a:srgbClr val="CDE7F4"/>
                </a:solidFill>
              </a:defRPr>
            </a:pPr>
            <a:r>
              <a:rPr sz="1875" b="0">
                <a:solidFill>
                  <a:srgbClr val="CDE7F4"/>
                </a:solidFill>
              </a:rPr>
              <a:t>建立洪涝期的物资配送与通信保障闭环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A2C03-1BA7-41B8-9118-38DCFD02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28384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4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A25B4-88BE-4087-8315-C6A2E332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7CA80-40E4-4ED9-B324-0B9E7DAE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B1CFD-CC2D-4EAD-A9E5-E42EFCEF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EC240-A00E-4D3B-8622-E46B8940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77ECA-13E9-4709-90D4-BEB0695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水陆两栖配送船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B8447-8F41-49AE-A7D2-584770A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FLOOD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76173-A018-4150-A337-45445F7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FE2"/>
                </a:solidFill>
              </a:defRPr>
            </a:pPr>
            <a:r>
              <a:rPr sz="975" b="0">
                <a:solidFill>
                  <a:srgbClr val="AFCFE2"/>
                </a:solidFill>
              </a:rPr>
              <a:t>概念方案 / 课程答辩</a:t>
            </a:r>
          </a:p>
        </p:txBody>
      </p:sp>
    </p:spTree>
    <p:extLst>
      <p:ext uri="{BB962C8B-B14F-4D97-AF65-F5344CB8AC3E}">
        <p14:creationId xmlns:p14="http://schemas.microsoft.com/office/powerpoint/2010/main" val="1980153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B8C7A-8110-4504-8114-A92A0796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01 · 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CD44D-6EEC-45D2-86BA-EA1F7289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洪水切断道路，也切断了最后一公里救援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C55A3-4AB6-4896-8E42-9AABCC50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B69E-EC42-424B-B851-89F7E37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34365-10D8-4EF7-A5E5-E9A4AB6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D22D5-02AD-4492-AD5F-F01BA102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87A41-8BF9-49DC-9752-31690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A0EB2-4FEB-4A01-A382-C7EF78A6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4"/>
                </a:solidFill>
              </a:defRPr>
            </a:pPr>
            <a:r>
              <a:rPr sz="1875" b="1">
                <a:solidFill>
                  <a:srgbClr val="132234"/>
                </a:solidFill>
              </a:rPr>
              <a:t>道路不通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A5A44-366F-4BB3-9573-51F72D0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8"/>
                </a:solidFill>
              </a:defRPr>
            </a:pPr>
            <a:r>
              <a:rPr sz="1425" b="0">
                <a:solidFill>
                  <a:srgbClr val="5C6B78"/>
                </a:solidFill>
              </a:rPr>
              <a:t>积水、漂浮物与断裂路段使普通车辆无法抵达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CB76F-9A3C-40BD-8BD9-899CD77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3337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EDCEB-59BA-4710-BA48-633D631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4BCB1-DF4F-4146-8796-FA2BB62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C2A99-7351-4A48-9F4D-68373CBC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4"/>
                </a:solidFill>
              </a:defRPr>
            </a:pPr>
            <a:r>
              <a:rPr sz="1875" b="1">
                <a:solidFill>
                  <a:srgbClr val="132234"/>
                </a:solidFill>
              </a:rPr>
              <a:t>信息不准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32A43-217C-453F-A6B2-212CFB11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8"/>
                </a:solidFill>
              </a:defRPr>
            </a:pPr>
            <a:r>
              <a:rPr sz="1425" b="0">
                <a:solidFill>
                  <a:srgbClr val="5C6B78"/>
                </a:solidFill>
              </a:rPr>
              <a:t>受困家庭的位置、人数和需求难以及时汇总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0A6BA-821C-4A86-8181-3C691B50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3337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E6601-17AB-40F5-BB58-BD816426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5A301-F8AC-45FB-B923-CEACE51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E5B6E-F9C9-4FC7-9AFD-15A0F4AA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4"/>
                </a:solidFill>
              </a:defRPr>
            </a:pPr>
            <a:r>
              <a:rPr sz="1875" b="1">
                <a:solidFill>
                  <a:srgbClr val="132234"/>
                </a:solidFill>
              </a:rPr>
              <a:t>配送失序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93B89-AD6F-436A-9CEB-23FAD1F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B78"/>
                </a:solidFill>
              </a:defRPr>
            </a:pPr>
            <a:r>
              <a:rPr sz="1425" b="0">
                <a:solidFill>
                  <a:srgbClr val="5C6B78"/>
                </a:solidFill>
              </a:rPr>
              <a:t>有限救援船只缺少统一派单与航线协同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106E6-BF1C-417E-BC9E-BE6D978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0F696-15F6-4F58-BFB9-378F42C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7B8"/>
                </a:solidFill>
              </a:defRPr>
            </a:pPr>
            <a:r>
              <a:rPr sz="1350" b="1">
                <a:solidFill>
                  <a:srgbClr val="2677B8"/>
                </a:solidFill>
              </a:rPr>
              <a:t>设计目标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0B1EC-F5AF-4EB5-8585-0715149B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959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4"/>
                </a:solidFill>
              </a:defRPr>
            </a:pPr>
            <a:r>
              <a:rPr sz="1875" b="1">
                <a:solidFill>
                  <a:srgbClr val="132234"/>
                </a:solidFill>
              </a:rPr>
              <a:t>让每一户“能发出求援、能被定位、能知道物资何时到达”。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CF1D4-2C6D-4646-B9BA-B1FE7B19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515677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8653B-CA8D-41B3-80AE-5EF24F13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02 · 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47E0-4CE0-4FB2-B2B7-56814F46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一个中心基站，连接一张可调度的救援网络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7B98E-2455-422F-ABD7-DDAC782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75C4-4CC0-406E-8BA2-4D891BE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A4147-CC7C-499E-9E25-344A38E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10490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49883-24A8-4180-9007-50305F82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228E8-FD36-480A-A12E-6F322AC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C563B-8FF5-47E0-B85B-B9EFC80D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67CCA-7518-4CFD-83F4-CC75775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276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9947-398E-496D-A1AA-6B3BC08C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276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EADE0-5586-4D79-9E4A-3DCF2E41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91C46-9A65-40DA-82B7-55CEE618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中心基站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42416-B6B4-4311-AED4-8B87653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DE7F4"/>
                </a:solidFill>
              </a:defRPr>
            </a:pPr>
            <a:r>
              <a:rPr sz="1275" b="0">
                <a:solidFill>
                  <a:srgbClr val="CDE7F4"/>
                </a:solidFill>
              </a:rPr>
              <a:t>灾情地图 · 派单 · 充换电</a:t>
            </a:r>
          </a:p>
          <a:p xmlns:a="http://schemas.openxmlformats.org/drawingml/2006/main">
            <a:pPr algn="ctr">
              <a:defRPr sz="1275" b="0">
                <a:solidFill>
                  <a:srgbClr val="CDE7F4"/>
                </a:solidFill>
              </a:defRPr>
            </a:pPr>
            <a:r>
              <a:rPr sz="1275" b="0">
                <a:solidFill>
                  <a:srgbClr val="CDE7F4"/>
                </a:solidFill>
              </a:rPr>
              <a:t>通信回传 · 船队调度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4D44E-F086-476E-B820-00C4E8D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1524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B48CA-7E3C-4354-8373-6C641514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4"/>
                </a:solidFill>
              </a:defRPr>
            </a:pPr>
            <a:r>
              <a:rPr sz="1575" b="1">
                <a:solidFill>
                  <a:srgbClr val="132234"/>
                </a:solidFill>
              </a:rPr>
              <a:t>配送船队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6DA58-4351-49FF-85BC-06F681C7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水路 + 陆路</a:t>
            </a:r>
          </a:p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动态改道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40CBE-A941-49D4-A1C5-8AE11852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1524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B460A-487D-4538-B4FA-BD9E0B3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234"/>
                </a:solidFill>
              </a:defRPr>
            </a:pPr>
            <a:r>
              <a:rPr sz="1500" b="1">
                <a:solidFill>
                  <a:srgbClr val="132234"/>
                </a:solidFill>
              </a:rPr>
              <a:t>通信巡检船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BD0F3-5CF9-4996-8147-4426C458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中继覆盖</a:t>
            </a:r>
          </a:p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灾情回传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7C0CB-0725-487E-8111-9FC18E2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057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3B446-D97C-473F-9DAA-A3DF1B68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234"/>
                </a:solidFill>
              </a:defRPr>
            </a:pPr>
            <a:r>
              <a:rPr sz="1500" b="1">
                <a:solidFill>
                  <a:srgbClr val="132234"/>
                </a:solidFill>
              </a:rPr>
              <a:t>家庭求援终端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979FD-EE30-4C84-9710-0071929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定位 · 一键求救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4D695-AA28-473D-9644-582D9E4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2057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BF6C7-1520-49AE-8265-76B3097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234"/>
                </a:solidFill>
              </a:defRPr>
            </a:pPr>
            <a:r>
              <a:rPr sz="1500" b="1">
                <a:solidFill>
                  <a:srgbClr val="132234"/>
                </a:solidFill>
              </a:rPr>
              <a:t>社区服务点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0EBB1-12DF-45F6-96E2-CC2DD2B5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临时取货 · 集中补给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EB7F1-A6BF-43E6-A3E6-B8C98F1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77B8"/>
                </a:solidFill>
              </a:defRPr>
            </a:pPr>
            <a:r>
              <a:rPr sz="1650" b="1">
                <a:solidFill>
                  <a:srgbClr val="2677B8"/>
                </a:solidFill>
              </a:rPr>
              <a:t>数据与物资在同一套系统里闭环流动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A6D81-75F7-4940-9F62-1051B100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1352768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3CB564-8E59-4444-AC86-17DFAB4E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03 · 船队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121FF-ED98-4793-AF77-07443F1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多艘小船分工协作，而不是一艘“万能救援船”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9EBEF-889F-4803-B9B0-17BB73B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7E22F-4644-4696-A410-818F6F0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0B07C-5BB6-4909-9270-862FC74A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14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16F4C-478F-470E-89E4-E25A175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D5D5-EC1F-4E5C-838C-F3C493BB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59AA4-882D-471B-8D83-AC21E53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89AFE-308F-45FF-B54B-4937B079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A927B-EC47-4943-B651-4B2A07C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配送船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11E6E-6D89-4679-BB4A-74268315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配送船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833D4-146E-487E-A955-1BCAC42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小、灵活、快速抵达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6A6B6-53B3-498C-A04B-F60ECA5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BFFD3-67FE-4205-A22A-255EEB11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339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7B8"/>
                </a:solidFill>
              </a:defRPr>
            </a:pPr>
            <a:r>
              <a:rPr sz="1200" b="1">
                <a:solidFill>
                  <a:srgbClr val="2677B8"/>
                </a:solidFill>
              </a:rPr>
              <a:t>食品 / 饮水 / 药品 / 充电宝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AB1CF-321D-44E6-922E-A76194B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314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683EC-BD35-4B19-BEEB-8942DF09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DA072-7A3B-4198-A8DB-5402822B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47900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D979C-49CF-4E5E-86B5-182E2920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00C66-D9D8-495D-B15E-08EFCBAD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3C8AC-EAAF-47C4-9737-72C1DC5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通信巡检船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1288D-140D-47DF-AD42-18C6E7E7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通信巡检船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6C4C6-C28E-4D45-BE13-5B05B576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稳、远、持续工作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55A12-761A-4E30-9649-E056638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D222A-14DB-4B09-8702-B2E8981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339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7B8"/>
                </a:solidFill>
              </a:defRPr>
            </a:pPr>
            <a:r>
              <a:rPr sz="1200" b="1">
                <a:solidFill>
                  <a:srgbClr val="2677B8"/>
                </a:solidFill>
              </a:rPr>
              <a:t>移动中继 / 摄像回传 / 航道探测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E7BF0-AD02-415D-8CAA-40D8E0E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314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289F5-D58D-4A12-AF74-6EC8AE4F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25B33-9ABD-47E3-BF5A-6971EDB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FB4FF-0187-4D26-A153-D484848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8782E-6C37-4E61-89AF-7BB971A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5A9B2-6C7A-4348-983C-8A1CD80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转运船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28CD1-D744-478F-8E93-BA6F635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转运船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C7598E-6EE1-4EB4-82E6-8A416E4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大、可拼接、连续补给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E00E3-58B2-47D0-ADEC-3D08EC0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8D28E-0AD8-43FB-AA71-7A631F7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339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77B8"/>
                </a:solidFill>
              </a:defRPr>
            </a:pPr>
            <a:r>
              <a:rPr sz="1200" b="1">
                <a:solidFill>
                  <a:srgbClr val="2677B8"/>
                </a:solidFill>
              </a:rPr>
              <a:t>集中物资 / 人员转移 / 船队补给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2A120-E5F2-4A8A-812E-33D9E705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D87930-0352-4A12-8197-A9FF6BDC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4"/>
                </a:solidFill>
              </a:defRPr>
            </a:pPr>
            <a:r>
              <a:rPr sz="1350" b="1">
                <a:solidFill>
                  <a:srgbClr val="132234"/>
                </a:solidFill>
              </a:rPr>
              <a:t>统一接口：每艘船都具备定位、通信、基础避障与可拆卸物资舱。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65E534-C2EE-4F2E-9CB2-299A7A0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363349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1BB4C-F31F-419D-A214-8A52A2B3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04 · 终端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3A90A-8C1E-46F0-A5B6-3CCFCB7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把每一户受灾家庭变成主动、可响应的救援节点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BA77E-4DD0-46E2-B02A-2286CF4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887B8-2101-4F0B-B622-795FA577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76D75-FF72-452A-B74C-E9B9BE43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7CA18-CEAB-46B5-B92E-4655EB0B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47900"/>
            <a:ext cx="1695450" cy="18097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183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69918-2711-47DB-89BE-EE2C949F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43175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EB2D9-1986-4AA5-8707-61B10629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146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76CB0-604B-45BC-9A69-0884A0A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671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一键求援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C8CDC-992D-48A4-ADF4-41C9D57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E7F4"/>
                </a:solidFill>
              </a:defRPr>
            </a:pPr>
            <a:r>
              <a:rPr sz="1200" b="0">
                <a:solidFill>
                  <a:srgbClr val="CDE7F4"/>
                </a:solidFill>
              </a:rPr>
              <a:t>低功耗供电 · 防水外壳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6925B-628D-4409-8B1E-ECF2C80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4E1D6-BED4-41E7-86C6-C30386D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288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FD1E9-CB19-48EF-A75D-96E180B6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71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4"/>
                </a:solidFill>
              </a:defRPr>
            </a:pPr>
            <a:r>
              <a:rPr sz="1650" b="1">
                <a:solidFill>
                  <a:srgbClr val="132234"/>
                </a:solidFill>
              </a:rPr>
              <a:t>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5DE56-E95B-409F-8BD5-9D6C1CE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上报房屋位置与是否可进入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70014-3850-44F0-AA11-85978160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857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4B61B-AE4C-4334-90D9-A8E2C0BB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50DF3-EC84-4BC0-8D37-C98E5BD9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95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36312-3E76-4CD0-886F-01B00DB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4"/>
                </a:solidFill>
              </a:defRPr>
            </a:pPr>
            <a:r>
              <a:rPr sz="1650" b="1">
                <a:solidFill>
                  <a:srgbClr val="132234"/>
                </a:solidFill>
              </a:rPr>
              <a:t>需求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C763C-8BA6-4216-8467-2CCA784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0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填写药品、饮水、食品、人数等信息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A6695-CD3C-494E-87BB-6A6BB78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857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738E0-A807-4FD0-809B-74D370E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24458-3EEF-41E5-80FE-5802456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62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1099D-3B56-4D85-92DB-361647D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05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4"/>
                </a:solidFill>
              </a:defRPr>
            </a:pPr>
            <a:r>
              <a:rPr sz="1650" b="1">
                <a:solidFill>
                  <a:srgbClr val="132234"/>
                </a:solidFill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0B1C6-721E-44F1-B4F8-0651FF5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672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显示已接单、预计到达与完成状态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CD410-F48E-4128-8FF8-D5131FE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4857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61486-EC81-48C5-92BA-266302C1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7B8"/>
                </a:solidFill>
              </a:defRPr>
            </a:pPr>
            <a:r>
              <a:rPr sz="1350" b="1">
                <a:solidFill>
                  <a:srgbClr val="2677B8"/>
                </a:solidFill>
              </a:rPr>
              <a:t>建议命名：家庭求援定位终端（不是永久监控设备）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80D16-D976-48B0-949E-B045C4A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1989921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9EC650-292B-4AFA-BC50-8C059784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05 · 调度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59F6F-8037-4F9F-8F3F-E312A095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从求援到送达，系统按需求与风险自动分配任务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E215F-5317-4BC4-AE46-37DC950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0BF38-90A7-4160-8078-B2E6B17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ABCE7-8C70-46F7-8A5D-65C02164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33B8E-271C-4F46-99FF-C77C28C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672F-5560-42F4-9B94-39B75BA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A738E-0878-46D3-A8D2-395251F9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求援上报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5C9A8-3377-4676-86F1-387575CE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位置、人数、物资需求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34B92-39AA-44C9-B55B-F695E9B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099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24166-21BD-4F3A-952A-B4F2CBF3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73703-9ADC-4865-8337-2BD1517A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19BA7-D150-4FF1-8F99-A6AF3AA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任务分级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A16D0-7EA8-4E56-BAF4-1EB61603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药品 / 婴幼儿 / 老人优先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2CAF2-9564-470E-A4DA-AED91AF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C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3173A-D9B5-478D-8347-B6CBB03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A82AB-0CD9-4393-84BF-3C7DFAC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37D56-026E-49A1-9C96-D0CBF12C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就近派船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4E8A6-1193-4B92-9121-13D4588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考虑水深、航线和载重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97B1F-E2D7-4D5B-BB44-F011203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28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B08F7-0772-408A-975C-224BEF8E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95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FED34-12DB-4149-ADFA-20F1F80E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4"/>
                </a:solidFill>
              </a:defRPr>
            </a:pPr>
            <a:r>
              <a:rPr sz="1800" b="1">
                <a:solidFill>
                  <a:srgbClr val="132234"/>
                </a:solidFill>
              </a:rPr>
              <a:t>到户反馈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F2C8-496E-47D8-80F6-6F44F9A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57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签收、续航与下一任务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62762-1285-4575-80B0-EE004B7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1B91C-B6B2-4BAA-B49D-07CC02B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7B8"/>
                </a:solidFill>
              </a:defRPr>
            </a:pPr>
            <a:r>
              <a:rPr sz="1350" b="1">
                <a:solidFill>
                  <a:srgbClr val="2677B8"/>
                </a:solidFill>
              </a:rPr>
              <a:t>派单优先级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7AC53-6A93-4E6F-880A-90E4A5AF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234"/>
                </a:solidFill>
              </a:defRPr>
            </a:pPr>
            <a:r>
              <a:rPr sz="1950" b="1">
                <a:solidFill>
                  <a:srgbClr val="132234"/>
                </a:solidFill>
              </a:rPr>
              <a:t>生命救援 &gt; 医疗需求 &gt; 老幼照护 &gt; 基本生活物资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2B6A6-7A28-4A1C-BB9F-E45E8B69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292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8"/>
                </a:solidFill>
              </a:defRPr>
            </a:pPr>
            <a:r>
              <a:rPr sz="1200" b="0">
                <a:solidFill>
                  <a:srgbClr val="5C6B78"/>
                </a:solidFill>
              </a:rPr>
              <a:t>动态因素：积水深度、可达航线、船只剩余电量、终端信号强度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55CDB-C493-46FE-B847-2ED7659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1611834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0D1A08-7285-478E-BE4A-F992306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06 · 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95F63-F15F-4429-8D2D-DCB71C2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4"/>
                </a:solidFill>
              </a:defRPr>
            </a:pPr>
            <a:r>
              <a:rPr sz="2700" b="1">
                <a:solidFill>
                  <a:srgbClr val="132234"/>
                </a:solidFill>
              </a:rPr>
              <a:t>三艘船在一小时内完成三类救援任务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8D0E8-E126-4D77-AE65-F6A93A1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8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8"/>
                </a:solidFill>
              </a:defRPr>
            </a:pPr>
            <a:r>
              <a:rPr sz="1050" b="1">
                <a:solidFill>
                  <a:srgbClr val="5C6B7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31E2E-60AB-4463-84B0-389069C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DC64E-ABC6-4448-B223-A57AC39A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143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B9F75-EB25-4C5D-9FAF-2400A0D4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7B8"/>
                </a:solidFill>
              </a:defRPr>
            </a:pPr>
            <a:r>
              <a:rPr sz="1200" b="1">
                <a:solidFill>
                  <a:srgbClr val="2677B8"/>
                </a:solidFill>
              </a:rPr>
              <a:t>受淹社区示意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F4DC4-0B67-4C91-8778-42E65814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6D530-0A04-4B15-9888-7652E615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A栋</a:t>
            </a:r>
          </a:p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药品需求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2286F-2447-455F-AE10-8E1166D4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66882-C37C-4D88-A3B2-762CD656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B栋</a:t>
            </a:r>
          </a:p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饮水需求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9667F-FE63-4C94-8769-30FE484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17792-4713-44DD-A68E-3983BCD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575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C栋</a:t>
            </a:r>
          </a:p>
          <a:p xmlns:a="http://schemas.openxmlformats.org/drawingml/2006/main">
            <a:pPr algn="ctr">
              <a:defRPr sz="1275" b="1">
                <a:solidFill>
                  <a:srgbClr val="132234"/>
                </a:solidFill>
              </a:defRPr>
            </a:pPr>
            <a:r>
              <a:rPr sz="1275" b="1">
                <a:solidFill>
                  <a:srgbClr val="132234"/>
                </a:solidFill>
              </a:rPr>
              <a:t>老人求援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9B40C-CF5B-49FC-B7EE-1809300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52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8878-BD17-45B2-95C0-BE6E800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中心基站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E86F2-E17E-4472-B5DA-DE95AB7A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67225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F63B2-177F-4524-B40B-9E517FF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38625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0BF53-A14D-4384-A0B6-45DD802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4FDF3-9B12-4C24-AD07-1ED73887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9AF26-A194-4CA8-85EA-9DB95DC8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625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船 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3E50A-54DA-4477-9062-F6F9882F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67225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53BAE-8B5C-4492-89AC-8AF6F27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F9975-2FB6-470E-9217-DB8DAD6A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0105D-6FA6-4478-9325-D1C22D4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46596-783A-4E7A-A0FE-DCDEAAEE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9625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船 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30330-2D68-450B-A5CE-2C4B61D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67225"/>
            <a:ext cx="114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1E466-232B-48E3-ACFC-A8C9987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533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84DF6-661A-4B90-B578-F68A753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E8848-9814-4D5A-9C5A-0A2CDD6E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91075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4BB27-8142-491F-8C4D-BF15708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625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234"/>
                </a:solidFill>
              </a:defRPr>
            </a:pPr>
            <a:r>
              <a:rPr sz="975" b="1">
                <a:solidFill>
                  <a:srgbClr val="132234"/>
                </a:solidFill>
              </a:rPr>
              <a:t>船 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26571-2732-4F8C-8866-127115EB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237BC-11F1-4C92-8A52-282F5AB3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948AA-C290-4229-B94C-D211F94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77B8"/>
                </a:solidFill>
              </a:defRPr>
            </a:pPr>
            <a:r>
              <a:rPr sz="975" b="1">
                <a:solidFill>
                  <a:srgbClr val="2677B8"/>
                </a:solidFill>
              </a:rPr>
              <a:t>任务结果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4E193-0F5F-45E8-99C2-D88D975E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7B8"/>
                </a:solidFill>
              </a:defRPr>
            </a:pPr>
            <a:r>
              <a:rPr sz="1275" b="1">
                <a:solidFill>
                  <a:srgbClr val="2677B8"/>
                </a:solidFill>
              </a:rPr>
              <a:t>船 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6F8C33-936B-434F-A6A7-E0F406B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4"/>
                </a:solidFill>
              </a:defRPr>
            </a:pPr>
            <a:r>
              <a:rPr sz="1350" b="0">
                <a:solidFill>
                  <a:srgbClr val="132234"/>
                </a:solidFill>
              </a:rPr>
              <a:t>送药至 C 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EBBF8-16F7-4475-91A8-B848D39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7B8"/>
                </a:solidFill>
              </a:defRPr>
            </a:pPr>
            <a:r>
              <a:rPr sz="1275" b="1">
                <a:solidFill>
                  <a:srgbClr val="2677B8"/>
                </a:solidFill>
              </a:rPr>
              <a:t>船 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95E48-5C9D-486C-B30B-B9BA656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19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4"/>
                </a:solidFill>
              </a:defRPr>
            </a:pPr>
            <a:r>
              <a:rPr sz="1350" b="0">
                <a:solidFill>
                  <a:srgbClr val="132234"/>
                </a:solidFill>
              </a:rPr>
              <a:t>送水至 B 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E32550-3296-48CD-8705-84D353E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7B8"/>
                </a:solidFill>
              </a:defRPr>
            </a:pPr>
            <a:r>
              <a:rPr sz="1275" b="1">
                <a:solidFill>
                  <a:srgbClr val="2677B8"/>
                </a:solidFill>
              </a:rPr>
              <a:t>船 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F67492-A6D9-49FB-8355-707D0190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4"/>
                </a:solidFill>
              </a:defRPr>
            </a:pPr>
            <a:r>
              <a:rPr sz="1350" b="0">
                <a:solidFill>
                  <a:srgbClr val="132234"/>
                </a:solidFill>
              </a:rPr>
              <a:t>巡检并扩展通信覆盖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4338E5-296C-408B-917D-8089F164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7813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418F5C-4CB2-4233-8405-3DC6607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7B8"/>
                </a:solidFill>
              </a:defRPr>
            </a:pPr>
            <a:r>
              <a:rPr sz="1200" b="1">
                <a:solidFill>
                  <a:srgbClr val="2677B8"/>
                </a:solidFill>
              </a:rPr>
              <a:t>核心价值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1662F-9A21-40BB-82F1-6B867EE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同一时间，覆盖更多家庭</a:t>
            </a:r>
          </a:p>
          <a:p xmlns:a="http://schemas.openxmlformats.org/drawingml/2006/main">
            <a:pPr algn="l">
              <a:defRPr sz="1350" b="0">
                <a:solidFill>
                  <a:srgbClr val="5C6B78"/>
                </a:solidFill>
              </a:defRPr>
            </a:pPr>
            <a:r>
              <a:rPr sz="1350" b="0">
                <a:solidFill>
                  <a:srgbClr val="5C6B78"/>
                </a:solidFill>
              </a:rPr>
              <a:t>并保持基站对全局的可见性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CD8A89-45A3-45D6-AB0B-3C2B8CBE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8"/>
                </a:solidFill>
              </a:defRPr>
            </a:pPr>
            <a:r>
              <a:rPr sz="825" b="0">
                <a:solidFill>
                  <a:srgbClr val="5C6B78"/>
                </a:solidFill>
              </a:rPr>
              <a:t>水陆两栖应急配送舰队</a:t>
            </a:r>
          </a:p>
        </p:txBody>
      </p:sp>
    </p:spTree>
    <p:extLst>
      <p:ext uri="{BB962C8B-B14F-4D97-AF65-F5344CB8AC3E}">
        <p14:creationId xmlns:p14="http://schemas.microsoft.com/office/powerpoint/2010/main" val="1003803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4A0B6-6FAA-430D-89CB-AD6ECEC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710DE-B345-4DE4-BCFE-48DBDBE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C7E9"/>
                </a:solidFill>
              </a:defRPr>
            </a:pPr>
            <a:r>
              <a:rPr sz="975" b="1">
                <a:solidFill>
                  <a:srgbClr val="62C7E9"/>
                </a:solidFill>
              </a:rPr>
              <a:t>设计结论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AB95D-18E7-4844-88F7-9FEAB8A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76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让洪涝救援从“找人送物”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变成“可感知、可调度、可追踪”的服务网络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B8C44-612D-48F9-9455-EF05E86F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9BE17-8D56-4F30-86CD-A7F53A60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C7E9"/>
                </a:solidFill>
              </a:defRPr>
            </a:pPr>
            <a:r>
              <a:rPr sz="1800" b="1">
                <a:solidFill>
                  <a:srgbClr val="62C7E9"/>
                </a:solidFill>
              </a:rPr>
              <a:t>可感知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0880D-7E76-466F-9E0F-7512CC7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7F4"/>
                </a:solidFill>
              </a:defRPr>
            </a:pPr>
            <a:r>
              <a:rPr sz="1425" b="0">
                <a:solidFill>
                  <a:srgbClr val="CDE7F4"/>
                </a:solidFill>
              </a:rPr>
              <a:t>每户终端主动发出位置与需求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933BE-8E98-444B-ABED-6057C29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C7E9"/>
                </a:solidFill>
              </a:defRPr>
            </a:pPr>
            <a:r>
              <a:rPr sz="1800" b="1">
                <a:solidFill>
                  <a:srgbClr val="62C7E9"/>
                </a:solidFill>
              </a:rPr>
              <a:t>可调度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F4F10-A07F-475F-B4E4-82D2EF90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7F4"/>
                </a:solidFill>
              </a:defRPr>
            </a:pPr>
            <a:r>
              <a:rPr sz="1425" b="0">
                <a:solidFill>
                  <a:srgbClr val="CDE7F4"/>
                </a:solidFill>
              </a:rPr>
              <a:t>中心基站统一分配船队与航线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D83C0-C667-47F7-95C4-34096FB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C7E9"/>
                </a:solidFill>
              </a:defRPr>
            </a:pPr>
            <a:r>
              <a:rPr sz="1800" b="1">
                <a:solidFill>
                  <a:srgbClr val="62C7E9"/>
                </a:solidFill>
              </a:rPr>
              <a:t>可追踪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541CF-AF69-461C-BD72-D02B7B4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7F4"/>
                </a:solidFill>
              </a:defRPr>
            </a:pPr>
            <a:r>
              <a:rPr sz="1425" b="0">
                <a:solidFill>
                  <a:srgbClr val="CDE7F4"/>
                </a:solidFill>
              </a:rPr>
              <a:t>配送状态、通信覆盖与灾情同步回传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34B23-F0E2-4214-A0F4-FE426098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下一步：完成船体模块、家庭终端与社区调度界面的原型设计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C3223-0032-45FD-A23B-9F60A84F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FE2"/>
                </a:solidFill>
              </a:defRPr>
            </a:pPr>
            <a:r>
              <a:rPr sz="1050" b="0">
                <a:solidFill>
                  <a:srgbClr val="AFCFE2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749345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2026-08-31T09:11:00.2140000Z</dcterms:created>
  <dcterms:modified xsi:type="dcterms:W3CDTF">2026-08-31T09:11:00.2140000Z</dcterms:modified>
</coreProperties>
</file>