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7fb6d5e05964b5a" /><Relationship Type="http://schemas.openxmlformats.org/officeDocument/2006/relationships/extended-properties" Target="/docProps/app.xml" Id="Rb3e54e5edc1d44b9" /><Relationship Type="http://schemas.openxmlformats.org/officeDocument/2006/relationships/officeDocument" Target="/ppt/presentation.xml" Id="R8ee46295d9eb483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de837324a7e470e"/>
  </p:sldMasterIdLst>
  <p:notesMasterIdLst>
    <p:notesMasterId xmlns:r="http://schemas.openxmlformats.org/officeDocument/2006/relationships" r:id="R1fa6a1e013ae4979"/>
  </p:notesMasterIdLst>
  <p:sldIdLst>
    <p:sldId xmlns:r="http://schemas.openxmlformats.org/officeDocument/2006/relationships" id="256" r:id="R1ed7c9a27cab4a80"/>
    <p:sldId xmlns:r="http://schemas.openxmlformats.org/officeDocument/2006/relationships" id="257" r:id="Rc0f827e973ae418b"/>
    <p:sldId xmlns:r="http://schemas.openxmlformats.org/officeDocument/2006/relationships" id="258" r:id="Ra98c1b1d8c5f45f2"/>
    <p:sldId xmlns:r="http://schemas.openxmlformats.org/officeDocument/2006/relationships" id="259" r:id="R9e090ae6d5d843f5"/>
    <p:sldId xmlns:r="http://schemas.openxmlformats.org/officeDocument/2006/relationships" id="260" r:id="R1b520d20dbb14cbf"/>
    <p:sldId xmlns:r="http://schemas.openxmlformats.org/officeDocument/2006/relationships" id="261" r:id="R5ae8c4105e724d67"/>
    <p:sldId xmlns:r="http://schemas.openxmlformats.org/officeDocument/2006/relationships" id="262" r:id="Rce1c3f399ae44456"/>
    <p:sldId xmlns:r="http://schemas.openxmlformats.org/officeDocument/2006/relationships" id="263" r:id="R7bd30bbcab644460"/>
    <p:sldId xmlns:r="http://schemas.openxmlformats.org/officeDocument/2006/relationships" id="264" r:id="R0e950256ef954a7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d45a315dacb4c65" /><Relationship Type="http://schemas.openxmlformats.org/officeDocument/2006/relationships/slideMaster" Target="/ppt/slideMasters/slideMaster1.xml" Id="R4de837324a7e470e" /><Relationship Type="http://schemas.openxmlformats.org/officeDocument/2006/relationships/notesMaster" Target="/ppt/notesMasters/notesMaster1.xml" Id="R1fa6a1e013ae4979" /><Relationship Type="http://schemas.openxmlformats.org/officeDocument/2006/relationships/presProps" Target="/ppt/presProps.xml" Id="R56f1d11bff16454d" /><Relationship Type="http://schemas.openxmlformats.org/officeDocument/2006/relationships/tableStyles" Target="/ppt/tableStyles.xml" Id="R12328ebe8c274974" /><Relationship Type="http://schemas.openxmlformats.org/officeDocument/2006/relationships/slide" Target="/ppt/slides/slide1.xml" Id="R1ed7c9a27cab4a80" /><Relationship Type="http://schemas.openxmlformats.org/officeDocument/2006/relationships/slide" Target="/ppt/slides/slide2.xml" Id="Rc0f827e973ae418b" /><Relationship Type="http://schemas.openxmlformats.org/officeDocument/2006/relationships/slide" Target="/ppt/slides/slide3.xml" Id="Ra98c1b1d8c5f45f2" /><Relationship Type="http://schemas.openxmlformats.org/officeDocument/2006/relationships/slide" Target="/ppt/slides/slide4.xml" Id="R9e090ae6d5d843f5" /><Relationship Type="http://schemas.openxmlformats.org/officeDocument/2006/relationships/slide" Target="/ppt/slides/slide5.xml" Id="R1b520d20dbb14cbf" /><Relationship Type="http://schemas.openxmlformats.org/officeDocument/2006/relationships/slide" Target="/ppt/slides/slide6.xml" Id="R5ae8c4105e724d67" /><Relationship Type="http://schemas.openxmlformats.org/officeDocument/2006/relationships/slide" Target="/ppt/slides/slide7.xml" Id="Rce1c3f399ae44456" /><Relationship Type="http://schemas.openxmlformats.org/officeDocument/2006/relationships/slide" Target="/ppt/slides/slide8.xml" Id="R7bd30bbcab644460" /><Relationship Type="http://schemas.openxmlformats.org/officeDocument/2006/relationships/slide" Target="/ppt/slides/slide9.xml" Id="R0e950256ef954a7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12af0738841483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d237c96b94f4e2e" /><Relationship Type="http://schemas.openxmlformats.org/officeDocument/2006/relationships/notesMaster" Target="/ppt/notesMasters/notesMaster1.xml" Id="R63e51f14893e4b0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dd68045f1854d88" /><Relationship Type="http://schemas.openxmlformats.org/officeDocument/2006/relationships/notesMaster" Target="/ppt/notesMasters/notesMaster1.xml" Id="R1fca9760ee82474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cd674a567b04386" /><Relationship Type="http://schemas.openxmlformats.org/officeDocument/2006/relationships/notesMaster" Target="/ppt/notesMasters/notesMaster1.xml" Id="R18da50a65da546e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27eacc683c44b76" /><Relationship Type="http://schemas.openxmlformats.org/officeDocument/2006/relationships/notesMaster" Target="/ppt/notesMasters/notesMaster1.xml" Id="R3845a705cff04c3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775e82d6d664bc8" /><Relationship Type="http://schemas.openxmlformats.org/officeDocument/2006/relationships/notesMaster" Target="/ppt/notesMasters/notesMaster1.xml" Id="Rfd6986628f0c42c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3665e1f75d3447d" /><Relationship Type="http://schemas.openxmlformats.org/officeDocument/2006/relationships/notesMaster" Target="/ppt/notesMasters/notesMaster1.xml" Id="R7ee10023f3ca43b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09de90e66b7467f" /><Relationship Type="http://schemas.openxmlformats.org/officeDocument/2006/relationships/notesMaster" Target="/ppt/notesMasters/notesMaster1.xml" Id="R7d4f4032897044c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62875a644ca4efd" /><Relationship Type="http://schemas.openxmlformats.org/officeDocument/2006/relationships/notesMaster" Target="/ppt/notesMasters/notesMaster1.xml" Id="R7547d007d7824f9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7ba037be3914d06" /><Relationship Type="http://schemas.openxmlformats.org/officeDocument/2006/relationships/notesMaster" Target="/ppt/notesMasters/notesMaster1.xml" Id="Rfc227b45ff30437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封面图用于统一外观方向：它应明显是一个可手工制作的桌面模型，不承担真实通信、承重、储能或防水性能。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Built-in image generation; final prompt recorded in project notes.</a:t>
            </a:r>
          </a:p>
          <a:p xmlns:a="http://schemas.openxmlformats.org/drawingml/2006/main">
            <a:r>
              <a:t>- F:/gugugaga/03 目前进展/水陆两栖应急配送舰队_概念方案.pptx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把工程验证与展示模型分开。团队本轮只讨论视觉表达、比例、装配和展示动作。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model-making assumptions.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1:10 只是便于讨论的工作比例。如果已有船或机器人模型，应优先以它们的实际外廓尺寸反推泊位和塔高。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model-making assumptions.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模型模块尽量用插接、磁吸或螺丝连接，避免一次粘死，以便团队讨论后调整高度和位置。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model-making assumptions.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PVC 发泡板也可换成泡沫板；如果希望更精致，可在结构确认后把局部面板改成激光切割亚克力。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model-making assumptions.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所有电子件限制在 5 V 低压。模型阶段不购买锂电池组、逆变器、MPPT、工业路由器或真实充电模块。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model-making assumptions.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采购前先盘点现有工具。板材和木条建议留 20% 余量，用于试切和返工。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model-making assumptions.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建议先用普通卡纸做白模，确认尺寸后再切正式板材，可以显著减少浪费。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model-making assumptions.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会议结论应聚焦：比例、机器人外廓、是否带灯、库存缺口。其余工程问题留给后续功能样机。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model-making assumptions.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4f8abb56f94d8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3380715a636402f" /><Relationship Type="http://schemas.openxmlformats.org/officeDocument/2006/relationships/slideLayout" Target="/ppt/slideLayouts/slideLayout1.xml" Id="R4fad7f7ed586491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fad7f7ed586491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f93368fcbc4b65" /><Relationship Type="http://schemas.openxmlformats.org/officeDocument/2006/relationships/image" Target="/ppt/media/image.png" Id="Rda3778468ce1443c" /><Relationship Type="http://schemas.openxmlformats.org/officeDocument/2006/relationships/notesSlide" Target="/ppt/notesSlides/notesSlide1.xml" Id="Rd4dc6d1b97dc4db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fd4895327640e7" /><Relationship Type="http://schemas.openxmlformats.org/officeDocument/2006/relationships/notesSlide" Target="/ppt/notesSlides/notesSlide2.xml" Id="Refb550707249465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4282f1f2194024" /><Relationship Type="http://schemas.openxmlformats.org/officeDocument/2006/relationships/notesSlide" Target="/ppt/notesSlides/notesSlide3.xml" Id="R7f8f714642f3447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ab788691a840ea" /><Relationship Type="http://schemas.openxmlformats.org/officeDocument/2006/relationships/notesSlide" Target="/ppt/notesSlides/notesSlide4.xml" Id="R76295c6fb7874cd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591a81f36d43cc" /><Relationship Type="http://schemas.openxmlformats.org/officeDocument/2006/relationships/notesSlide" Target="/ppt/notesSlides/notesSlide5.xml" Id="R13f3b3e4079c402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f17a9597024974" /><Relationship Type="http://schemas.openxmlformats.org/officeDocument/2006/relationships/notesSlide" Target="/ppt/notesSlides/notesSlide6.xml" Id="Rd3df6369e15a4a8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b9f2a87fe343d9" /><Relationship Type="http://schemas.openxmlformats.org/officeDocument/2006/relationships/notesSlide" Target="/ppt/notesSlides/notesSlide7.xml" Id="Rd9c9c0e11f22493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730de6dec64f50" /><Relationship Type="http://schemas.openxmlformats.org/officeDocument/2006/relationships/notesSlide" Target="/ppt/notesSlides/notesSlide8.xml" Id="Ree2665d5c0fb44c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6a45a7b04d4626" /><Relationship Type="http://schemas.openxmlformats.org/officeDocument/2006/relationships/notesSlide" Target="/ppt/notesSlides/notesSlide9.xml" Id="Rc138f90553e046f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01DE5B-A793-4006-9A37-A7FB02195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47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47FD8"/>
                </a:solidFill>
                <a:latin typeface="Microsoft YaHei"/>
                <a:ea typeface="Microsoft YaHei"/>
                <a:cs typeface="Microsoft YaHei"/>
              </a:rPr>
              <a:t>水陆两栖应急配送舰队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407B3D-C0F4-403A-BA1A-333C58E2B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5429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4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4171A"/>
                </a:solidFill>
                <a:latin typeface="Microsoft YaHei"/>
                <a:ea typeface="Microsoft YaHei"/>
                <a:cs typeface="Microsoft YaHei"/>
              </a:rPr>
              <a:t>中心基站“塔”</a:t>
            </a:r>
          </a:p>
          <a:p xmlns:a="http://schemas.openxmlformats.org/drawingml/2006/main">
            <a:pPr algn="l">
              <a:defRPr sz="4350" b="1">
                <a:solidFill>
                  <a:srgbClr val="14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4171A"/>
                </a:solidFill>
                <a:latin typeface="Microsoft YaHei"/>
                <a:ea typeface="Microsoft YaHei"/>
                <a:cs typeface="Microsoft YaHei"/>
              </a:rPr>
              <a:t>微缩模型怎么做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453CE2-0F02-4838-8D4E-4E61B2598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813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67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6770"/>
                </a:solidFill>
                <a:latin typeface="Microsoft YaHei"/>
                <a:ea typeface="Microsoft YaHei"/>
                <a:cs typeface="Microsoft YaHei"/>
              </a:rPr>
              <a:t>团队内部学习与材料采购讨论 · V0.2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457BBC-DF8D-4114-9830-B5E55773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24250"/>
            <a:ext cx="5048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171A"/>
                </a:solidFill>
                <a:latin typeface="Microsoft YaHei"/>
                <a:ea typeface="Microsoft YaHei"/>
                <a:cs typeface="Microsoft YaHei"/>
              </a:rPr>
              <a:t>目标不是造一座真塔，而是用桌面模型讲清楚结构、功能分区和机器人停靠关系。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E7C5CC-0D61-4AD9-8AAB-9DEA1C1C7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0"/>
            <a:ext cx="2238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C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E05E8E-B69C-40F0-B397-E5D0A2E99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81600"/>
            <a:ext cx="523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7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6770"/>
                </a:solidFill>
                <a:latin typeface="Microsoft YaHei"/>
                <a:ea typeface="Microsoft YaHei"/>
                <a:cs typeface="Microsoft YaHei"/>
              </a:rPr>
              <a:t>建议基线：1:10 左右 · 35 cm 高 · 30 cm 方形底板 · 可拆装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3778468ce1443c"/>
          <a:srcRect xmlns:a="http://schemas.openxmlformats.org/drawingml/2006/main" l="22610" t="0" r="2261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72200" y="342900"/>
            <a:ext cx="5562600" cy="5715000"/>
          </a:xfrm>
          <a:prstGeom xmlns:a="http://schemas.openxmlformats.org/drawingml/2006/main" prst="roundRect">
            <a:avLst>
              <a:gd name="adj" fmla="val 2055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C2F111-3406-4704-8809-B4876EA7F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67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0677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171246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A959A3-A877-4E7B-BB22-D4D107FB6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47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47FD8"/>
                </a:solidFill>
                <a:latin typeface="Microsoft YaHei"/>
                <a:ea typeface="Microsoft YaHei"/>
                <a:cs typeface="Microsoft YaHei"/>
              </a:rPr>
              <a:t>01 · 演示目标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613A80-941D-4B48-B2EA-9BC5FFBE1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4171A"/>
                </a:solidFill>
                <a:latin typeface="Microsoft YaHei"/>
                <a:ea typeface="Microsoft YaHei"/>
                <a:cs typeface="Microsoft YaHei"/>
              </a:rPr>
              <a:t>模型只需要回答三个问题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B6736E-F55A-4363-B72C-70EA200FE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620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D68769-D739-49B9-82BF-837C24623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67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6770"/>
                </a:solidFill>
                <a:latin typeface="Microsoft YaHei"/>
                <a:ea typeface="Microsoft YaHei"/>
                <a:cs typeface="Microsoft YaHei"/>
              </a:rPr>
              <a:t>中心基站塔 · 微缩模型内部沟通 V0.2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754AD0-C25E-4822-A5C5-5E4499131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67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0677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C3C71E-C02E-46AD-9101-78D9F9824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05000"/>
            <a:ext cx="76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47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347FD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C7DB93-7581-4AF2-B608-692DAF1C8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955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171A"/>
                </a:solidFill>
                <a:latin typeface="Microsoft YaHei"/>
                <a:ea typeface="Microsoft YaHei"/>
                <a:cs typeface="Microsoft YaHei"/>
              </a:rPr>
              <a:t>长什么样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7046B9-AC17-4C91-90FE-E5E05F5E4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670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FA00F4-F204-44E0-BC35-B450DEC70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67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06770"/>
                </a:solidFill>
                <a:latin typeface="Microsoft YaHei"/>
                <a:ea typeface="Microsoft YaHei"/>
                <a:cs typeface="Microsoft YaHei"/>
              </a:rPr>
              <a:t>塔体比例是否协调</a:t>
            </a:r>
          </a:p>
          <a:p xmlns:a="http://schemas.openxmlformats.org/drawingml/2006/main">
            <a:pPr algn="l">
              <a:defRPr sz="1575" b="0">
                <a:solidFill>
                  <a:srgbClr val="6067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06770"/>
                </a:solidFill>
                <a:latin typeface="Microsoft YaHei"/>
                <a:ea typeface="Microsoft YaHei"/>
                <a:cs typeface="Microsoft YaHei"/>
              </a:rPr>
              <a:t>顶部、机柜、底座是否清楚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0A1F4E-3484-41A1-B45A-5C6CBF30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905000"/>
            <a:ext cx="76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47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347FD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F72CCF-11FF-4532-826E-DA5C55D50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4955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171A"/>
                </a:solidFill>
                <a:latin typeface="Microsoft YaHei"/>
                <a:ea typeface="Microsoft YaHei"/>
                <a:cs typeface="Microsoft YaHei"/>
              </a:rPr>
              <a:t>模块怎么排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B99362-A95A-4074-879B-1611C0741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670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F81E97-3390-420E-BDE7-DCE479561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33375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67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06770"/>
                </a:solidFill>
                <a:latin typeface="Microsoft YaHei"/>
                <a:ea typeface="Microsoft YaHei"/>
                <a:cs typeface="Microsoft YaHei"/>
              </a:rPr>
              <a:t>通信、能源、控制模块</a:t>
            </a:r>
          </a:p>
          <a:p xmlns:a="http://schemas.openxmlformats.org/drawingml/2006/main">
            <a:pPr algn="l">
              <a:defRPr sz="1575" b="0">
                <a:solidFill>
                  <a:srgbClr val="6067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06770"/>
                </a:solidFill>
                <a:latin typeface="Microsoft YaHei"/>
                <a:ea typeface="Microsoft YaHei"/>
                <a:cs typeface="Microsoft YaHei"/>
              </a:rPr>
              <a:t>能否被团队一眼识别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F2FB45-0F5F-41A0-AA99-C3FD1952D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05000"/>
            <a:ext cx="76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47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347FD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116873-4F99-4A6B-9EA8-A8CCC99FA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955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171A"/>
                </a:solidFill>
                <a:latin typeface="Microsoft YaHei"/>
                <a:ea typeface="Microsoft YaHei"/>
                <a:cs typeface="Microsoft YaHei"/>
              </a:rPr>
              <a:t>机器人怎么停靠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5810F7-32B8-41BA-BF81-3695A1FFE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670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7053AA-5F04-43B0-A880-529A0A8F3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3375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67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06770"/>
                </a:solidFill>
                <a:latin typeface="Microsoft YaHei"/>
                <a:ea typeface="Microsoft YaHei"/>
                <a:cs typeface="Microsoft YaHei"/>
              </a:rPr>
              <a:t>泊位尺寸是否合适</a:t>
            </a:r>
          </a:p>
          <a:p xmlns:a="http://schemas.openxmlformats.org/drawingml/2006/main">
            <a:pPr algn="l">
              <a:defRPr sz="1575" b="0">
                <a:solidFill>
                  <a:srgbClr val="6067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06770"/>
                </a:solidFill>
                <a:latin typeface="Microsoft YaHei"/>
                <a:ea typeface="Microsoft YaHei"/>
                <a:cs typeface="Microsoft YaHei"/>
              </a:rPr>
              <a:t>进出路径会不会互相干扰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BFAD4B-EE25-457A-ACFA-9CC2502CB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0"/>
            <a:ext cx="112776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1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60F999-8A00-43D6-A4E2-6F5DA3670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625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9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C94B4B"/>
                </a:solidFill>
                <a:latin typeface="Microsoft YaHei"/>
                <a:ea typeface="Microsoft YaHei"/>
                <a:cs typeface="Microsoft YaHei"/>
              </a:rPr>
              <a:t>本轮不验证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EF9499-5996-4734-B6AA-4C7CE7891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153025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171A"/>
                </a:solidFill>
                <a:latin typeface="Microsoft YaHei"/>
                <a:ea typeface="Microsoft YaHei"/>
                <a:cs typeface="Microsoft YaHei"/>
              </a:rPr>
              <a:t>真实承重 / 抗风 / 防水 / 通信距离 / 太阳能发电 / 大电池充电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3FA67A-7ED8-4C5D-A3DD-C5E26456A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54355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67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6770"/>
                </a:solidFill>
                <a:latin typeface="Microsoft YaHei"/>
                <a:ea typeface="Microsoft YaHei"/>
                <a:cs typeface="Microsoft YaHei"/>
              </a:rPr>
              <a:t>这些内容只用外形件和标签表达，不购买工程级器件。</a:t>
            </a:r>
          </a:p>
        </p:txBody>
      </p:sp>
    </p:spTree>
    <p:extLst>
      <p:ext uri="{BB962C8B-B14F-4D97-AF65-F5344CB8AC3E}">
        <p14:creationId xmlns:p14="http://schemas.microsoft.com/office/powerpoint/2010/main" val="8818631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06252A-E85D-4A8A-B01E-06F26ED8D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47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47FD8"/>
                </a:solidFill>
                <a:latin typeface="Microsoft YaHei"/>
                <a:ea typeface="Microsoft YaHei"/>
                <a:cs typeface="Microsoft YaHei"/>
              </a:rPr>
              <a:t>02 · 比例与尺寸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252ADD-F5CA-4B7B-A02B-8036843D6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4171A"/>
                </a:solidFill>
                <a:latin typeface="Microsoft YaHei"/>
                <a:ea typeface="Microsoft YaHei"/>
                <a:cs typeface="Microsoft YaHei"/>
              </a:rPr>
              <a:t>建议做成 35 cm 高的桌面模型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C578DE-6C1B-4877-A0A2-9CB652D28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620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EE12DC-B3FC-46CB-8E5F-08AA2F2D0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67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6770"/>
                </a:solidFill>
                <a:latin typeface="Microsoft YaHei"/>
                <a:ea typeface="Microsoft YaHei"/>
                <a:cs typeface="Microsoft YaHei"/>
              </a:rPr>
              <a:t>中心基站塔 · 微缩模型内部沟通 V0.2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FCBE25-A04A-4C81-9229-DA1FDCABC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67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0677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4D27F0-2D14-40B3-AD6B-01C65DBEE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37147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02F9BD-54E1-4D70-8011-9C3F1C407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209800"/>
            <a:ext cx="40005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4171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242FD8-A7B7-4434-8CF6-664E886C3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143125"/>
            <a:ext cx="1162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7F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BF325F-A45B-49F3-8854-4A72EDB89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952750"/>
            <a:ext cx="1047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1F8"/>
          </a:solidFill>
          <a:ln xmlns:a="http://schemas.openxmlformats.org/drawingml/2006/main" w="9525">
            <a:solidFill>
              <a:srgbClr val="347F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8B2EA3-1451-4810-9AA9-5508F01CD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114800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9525">
            <a:solidFill>
              <a:srgbClr val="14171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84997D-EF78-4B2F-87E0-37E0A1952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991100"/>
            <a:ext cx="24288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CD75C2-4E33-4596-AABE-0D1718BF0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95900"/>
            <a:ext cx="3095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EF4203-E501-4717-AA52-5AE36A06D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43125"/>
            <a:ext cx="19050" cy="3419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7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9D1B5E-C8DC-4CD8-A8DC-4F444D58F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67125"/>
            <a:ext cx="704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47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47FD8"/>
                </a:solidFill>
                <a:latin typeface="Microsoft YaHei"/>
                <a:ea typeface="Microsoft YaHei"/>
                <a:cs typeface="Microsoft YaHei"/>
              </a:rPr>
              <a:t>35 cm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0DC0E3-7230-4DF4-859B-A6BC61D39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667375"/>
            <a:ext cx="90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47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47FD8"/>
                </a:solidFill>
                <a:latin typeface="Microsoft YaHei"/>
                <a:ea typeface="Microsoft YaHei"/>
                <a:cs typeface="Microsoft YaHei"/>
              </a:rPr>
              <a:t>30 cm</a:t>
            </a:r>
          </a:p>
        </p:txBody>
      </p:sp>
      <p:graphicFrame>
        <p:nvGraphicFramePr>
          <p:cNvPr id="34" name=""/>
          <p:cNvGraphicFramePr/>
          <p:nvPr/>
        </p:nvGraphicFramePr>
        <p:xfrm>
          <a:off xmlns:a="http://schemas.openxmlformats.org/drawingml/2006/main" x="5095875" y="1847850"/>
          <a:ext xmlns:a="http://schemas.openxmlformats.org/drawingml/2006/main" cx="6638925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22848"/>
                <a:gridCol w="2065443"/>
                <a:gridCol w="2950633"/>
              </a:tblGrid>
              <a:tr h="5556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</a:t>
                      </a:r>
                    </a:p>
                  </a:txBody>
                  <a:tcPr marL="76200" marR="76200" marT="47625" marB="47625" anchor="ctr">
                    <a:solidFill>
                      <a:srgbClr val="1417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建议尺寸</a:t>
                      </a:r>
                    </a:p>
                  </a:txBody>
                  <a:tcPr marL="76200" marR="76200" marT="47625" marB="47625" anchor="ctr">
                    <a:solidFill>
                      <a:srgbClr val="1417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用途</a:t>
                      </a:r>
                    </a:p>
                  </a:txBody>
                  <a:tcPr marL="76200" marR="76200" marT="47625" marB="47625" anchor="ctr">
                    <a:solidFill>
                      <a:srgbClr val="14171A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17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模型总高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17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350 mm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17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桌面展示，运输方便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17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底板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17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300 × 300 mm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17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容纳四脚和两个停靠位</a:t>
                      </a:r>
                    </a:p>
                  </a:txBody>
                  <a:tcPr marL="76200" marR="76200" marT="38100" marB="38100" anchor="ctr"/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17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主体宽度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17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80–100 mm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17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保证层次清楚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17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机柜模块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17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80 × 80 × 60 mm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17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做成可抽取盒体</a:t>
                      </a:r>
                    </a:p>
                  </a:txBody>
                  <a:tcPr marL="76200" marR="76200" marT="38100" marB="38100" anchor="ctr"/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17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单个泊位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17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 × 100 mm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17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按现有机器人模型再微调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96FAC5-D320-4CE0-83C1-2BCD2E1F2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4768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47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47FD8"/>
                </a:solidFill>
                <a:latin typeface="Microsoft YaHei"/>
                <a:ea typeface="Microsoft YaHei"/>
                <a:cs typeface="Microsoft YaHei"/>
              </a:rPr>
              <a:t>比例换算原则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0957D7-FBFB-4329-A5C7-AE9EC16F3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457825"/>
            <a:ext cx="4876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171A"/>
                </a:solidFill>
                <a:latin typeface="Microsoft YaHei"/>
                <a:ea typeface="Microsoft YaHei"/>
                <a:cs typeface="Microsoft YaHei"/>
              </a:rPr>
              <a:t>先量机器人模型，再决定泊位；塔高和底板可以 ±20% 调整。</a:t>
            </a:r>
          </a:p>
        </p:txBody>
      </p:sp>
    </p:spTree>
    <p:extLst>
      <p:ext uri="{BB962C8B-B14F-4D97-AF65-F5344CB8AC3E}">
        <p14:creationId xmlns:p14="http://schemas.microsoft.com/office/powerpoint/2010/main" val="3461623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AD75393-04E7-40C5-ADED-B15829557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47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47FD8"/>
                </a:solidFill>
                <a:latin typeface="Microsoft YaHei"/>
                <a:ea typeface="Microsoft YaHei"/>
                <a:cs typeface="Microsoft YaHei"/>
              </a:rPr>
              <a:t>03 · 模型结构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D54207-3028-4E06-BCE7-329A552D6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4171A"/>
                </a:solidFill>
                <a:latin typeface="Microsoft YaHei"/>
                <a:ea typeface="Microsoft YaHei"/>
                <a:cs typeface="Microsoft YaHei"/>
              </a:rPr>
              <a:t>用五个可拆模块，把结构关系讲清楚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84261F-2447-4C5E-8BF3-F9B522E6B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620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48F6A4-B5DF-4E82-AF94-449A4818C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67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6770"/>
                </a:solidFill>
                <a:latin typeface="Microsoft YaHei"/>
                <a:ea typeface="Microsoft YaHei"/>
                <a:cs typeface="Microsoft YaHei"/>
              </a:rPr>
              <a:t>中心基站塔 · 微缩模型内部沟通 V0.2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E411FB-7F7F-41D4-B59C-FAF1F6842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67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0677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3E83C9-ECD1-4A12-A595-3708756FD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811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7F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30DCAB-B0FC-41EB-889D-290ADA842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669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B262ED-847F-42CF-8C82-858C56D47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781175"/>
            <a:ext cx="2143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171A"/>
                </a:solidFill>
                <a:latin typeface="Microsoft YaHei"/>
                <a:ea typeface="Microsoft YaHei"/>
                <a:cs typeface="Microsoft YaHei"/>
              </a:rPr>
              <a:t>顶部平台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A1C71D-D9A1-443B-A929-69C57BCE2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907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7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6770"/>
                </a:solidFill>
                <a:latin typeface="Microsoft YaHei"/>
                <a:ea typeface="Microsoft YaHei"/>
                <a:cs typeface="Microsoft YaHei"/>
              </a:rPr>
              <a:t>太阳能板、天线、警示灯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766D15-DD2B-4875-AFCE-B57DFC5A9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05050"/>
            <a:ext cx="6048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17E393-726F-4DDD-BAB2-A590A902F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22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9B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AC42F2-2082-4B8B-955A-E6BFFCF05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479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0E0BB0-7134-4B26-9583-D2C54F1B2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62225"/>
            <a:ext cx="2143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171A"/>
                </a:solidFill>
                <a:latin typeface="Microsoft YaHei"/>
                <a:ea typeface="Microsoft YaHei"/>
                <a:cs typeface="Microsoft YaHei"/>
              </a:rPr>
              <a:t>四根斜撑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C6B91E-1586-43F6-8DED-E851E7E50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717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7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6770"/>
                </a:solidFill>
                <a:latin typeface="Microsoft YaHei"/>
                <a:ea typeface="Microsoft YaHei"/>
                <a:cs typeface="Microsoft YaHei"/>
              </a:rPr>
              <a:t>表现塔体稳定与展开感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7F792C-8B8A-41C5-8771-145C2406E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86100"/>
            <a:ext cx="6048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04FADA-FF81-43D9-A02E-C21907490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432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1C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1D1CB1-BE29-4A73-82BB-8BC346EAF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6E2DA8-D921-4884-A5E0-9233F6EDC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43275"/>
            <a:ext cx="2143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171A"/>
                </a:solidFill>
                <a:latin typeface="Microsoft YaHei"/>
                <a:ea typeface="Microsoft YaHei"/>
                <a:cs typeface="Microsoft YaHei"/>
              </a:rPr>
              <a:t>可抽取机柜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B02993-A5FB-4DD3-88B5-025D6D412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528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7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6770"/>
                </a:solidFill>
                <a:latin typeface="Microsoft YaHei"/>
                <a:ea typeface="Microsoft YaHei"/>
                <a:cs typeface="Microsoft YaHei"/>
              </a:rPr>
              <a:t>内部放标签或假元件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D6415B-A837-4479-BA8A-208E229F6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67150"/>
            <a:ext cx="6048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D1AE9C-7031-4FE0-94EB-6FD554937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243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7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8603B0-357B-48AF-B70B-0D458B6CF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100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FF156A-ECCF-4BDB-8C7F-44EFA9884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24325"/>
            <a:ext cx="2143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171A"/>
                </a:solidFill>
                <a:latin typeface="Microsoft YaHei"/>
                <a:ea typeface="Microsoft YaHei"/>
                <a:cs typeface="Microsoft YaHei"/>
              </a:rPr>
              <a:t>双停靠位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54FCA6-2DEF-4B5B-9F0D-3A2E7A0E6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1338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7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6770"/>
                </a:solidFill>
                <a:latin typeface="Microsoft YaHei"/>
                <a:ea typeface="Microsoft YaHei"/>
                <a:cs typeface="Microsoft YaHei"/>
              </a:rPr>
              <a:t>演示机器人进入与离开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0A8245-1108-4C78-9F5F-62710B417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48200"/>
            <a:ext cx="6048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418F7B-D003-47CF-9265-9F142DCBB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053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67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4231CE-70D3-4C72-93DB-EE0A22ECB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911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BAFBCD-D72E-4C83-AB9E-C0B651764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905375"/>
            <a:ext cx="2143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171A"/>
                </a:solidFill>
                <a:latin typeface="Microsoft YaHei"/>
                <a:ea typeface="Microsoft YaHei"/>
                <a:cs typeface="Microsoft YaHei"/>
              </a:rPr>
              <a:t>整体底板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8AC2FB-E65D-4DD1-9FA4-638F5F9DD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9149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7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6770"/>
                </a:solidFill>
                <a:latin typeface="Microsoft YaHei"/>
                <a:ea typeface="Microsoft YaHei"/>
                <a:cs typeface="Microsoft YaHei"/>
              </a:rPr>
              <a:t>固定场景、道路和水面边界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CBC246-BF69-4445-BE62-DCA0C871E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429250"/>
            <a:ext cx="6048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23C25C-EE0B-44E5-8F8D-E864D2542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752600"/>
            <a:ext cx="3381375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4D55095-9DAB-41FF-9C32-43F5E8CD2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383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4171A"/>
                </a:solidFill>
                <a:latin typeface="Microsoft YaHei"/>
                <a:ea typeface="Microsoft YaHei"/>
                <a:cs typeface="Microsoft YaHei"/>
              </a:rPr>
              <a:t>装配逻辑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6C704F5-C95D-4994-99CE-A365910A3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670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47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47FD8"/>
                </a:solidFill>
                <a:latin typeface="Microsoft YaHei"/>
                <a:ea typeface="Microsoft YaHei"/>
                <a:cs typeface="Microsoft YaHei"/>
              </a:rPr>
              <a:t>顶部平台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89F1C9F-7442-4BF8-A967-1EF1BB2CC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0099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7F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88C00A3-E8BF-48A7-88CF-B4C8C6853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29000"/>
            <a:ext cx="17716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1F8"/>
          </a:solidFill>
          <a:ln xmlns:a="http://schemas.openxmlformats.org/drawingml/2006/main" w="9525">
            <a:solidFill>
              <a:srgbClr val="347F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ADB7341-F200-4C8F-BCD8-5CE3493F7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57600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4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171A"/>
                </a:solidFill>
                <a:latin typeface="Microsoft YaHei"/>
                <a:ea typeface="Microsoft YaHei"/>
                <a:cs typeface="Microsoft YaHei"/>
              </a:rPr>
              <a:t>机柜盒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F78AD3F-DECA-4AAA-9A42-833E09797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57700"/>
            <a:ext cx="2343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9525">
            <a:solidFill>
              <a:srgbClr val="14171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7D63CC7-D518-4339-9539-310AC36B9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81525"/>
            <a:ext cx="234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4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171A"/>
                </a:solidFill>
                <a:latin typeface="Microsoft YaHei"/>
                <a:ea typeface="Microsoft YaHei"/>
                <a:cs typeface="Microsoft YaHei"/>
              </a:rPr>
              <a:t>停靠位 × 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56B8A30-D5D5-43EE-8B2E-B420C4A0C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181600"/>
            <a:ext cx="2914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6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889886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774582-8169-4C9B-8A51-1DD18957C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47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47FD8"/>
                </a:solidFill>
                <a:latin typeface="Microsoft YaHei"/>
                <a:ea typeface="Microsoft YaHei"/>
                <a:cs typeface="Microsoft YaHei"/>
              </a:rPr>
              <a:t>04 · 材料选择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9E06E9-B3BB-40F2-8F2B-81D72EAD2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4171A"/>
                </a:solidFill>
                <a:latin typeface="Microsoft YaHei"/>
                <a:ea typeface="Microsoft YaHei"/>
                <a:cs typeface="Microsoft YaHei"/>
              </a:rPr>
              <a:t>首版优先买容易切、容易改的模型材料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018628-12AB-4ECA-B1D8-4F58D8C5F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620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C0DCCC-D47E-4658-95FC-97D3CB0AE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67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6770"/>
                </a:solidFill>
                <a:latin typeface="Microsoft YaHei"/>
                <a:ea typeface="Microsoft YaHei"/>
                <a:cs typeface="Microsoft YaHei"/>
              </a:rPr>
              <a:t>中心基站塔 · 微缩模型内部沟通 V0.2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5FDE24-E311-481D-AF1C-41EBF762A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67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06770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457200" y="1714500"/>
          <a:ext xmlns:a="http://schemas.openxmlformats.org/drawingml/2006/main" cx="112776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79600"/>
                <a:gridCol w="3417455"/>
                <a:gridCol w="3075709"/>
                <a:gridCol w="2904836"/>
              </a:tblGrid>
              <a:tr h="557893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部位</a:t>
                      </a:r>
                    </a:p>
                  </a:txBody>
                  <a:tcPr marL="76200" marR="76200" marT="47625" marB="47625" anchor="ctr">
                    <a:solidFill>
                      <a:srgbClr val="1417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推荐材料</a:t>
                      </a:r>
                    </a:p>
                  </a:txBody>
                  <a:tcPr marL="76200" marR="76200" marT="47625" marB="47625" anchor="ctr">
                    <a:solidFill>
                      <a:srgbClr val="347F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规格建议</a:t>
                      </a:r>
                    </a:p>
                  </a:txBody>
                  <a:tcPr marL="76200" marR="76200" marT="47625" marB="47625" anchor="ctr">
                    <a:solidFill>
                      <a:srgbClr val="1417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暂不推荐</a:t>
                      </a:r>
                    </a:p>
                  </a:txBody>
                  <a:tcPr marL="76200" marR="76200" marT="47625" marB="47625" anchor="ctr">
                    <a:solidFill>
                      <a:srgbClr val="14171A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17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底板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17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 mm PVC 发泡板或椴木板</a:t>
                      </a:r>
                    </a:p>
                  </a:txBody>
                  <a:tcPr marL="76200" marR="76200" marT="38100" marB="38100" anchor="ctr">
                    <a:solidFill>
                      <a:srgbClr val="DD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17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300 × 300 mm，1 张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17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厚钢板、实心亚克力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17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塔柱/斜撑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17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 × 5 mm 椴木条</a:t>
                      </a:r>
                    </a:p>
                  </a:txBody>
                  <a:tcPr marL="76200" marR="76200" marT="38100" marB="38100" anchor="ctr">
                    <a:solidFill>
                      <a:srgbClr val="DD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17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 3 m，总量留 20% 余量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17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4040 工业铝型材</a:t>
                      </a:r>
                    </a:p>
                  </a:txBody>
                  <a:tcPr marL="76200" marR="76200" marT="38100" marB="38100" anchor="ctr"/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17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平台/机柜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17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2–3 mm PVC 发泡板</a:t>
                      </a:r>
                    </a:p>
                  </a:txBody>
                  <a:tcPr marL="76200" marR="76200" marT="38100" marB="38100" anchor="ctr">
                    <a:solidFill>
                      <a:srgbClr val="DD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17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A3 规格 2–3 张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17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真实防水机柜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17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透明罩/窗口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17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mm PET 或透明亚克力</a:t>
                      </a:r>
                    </a:p>
                  </a:txBody>
                  <a:tcPr marL="76200" marR="76200" marT="38100" marB="38100" anchor="ctr">
                    <a:solidFill>
                      <a:srgbClr val="DD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17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A4 规格 1 张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17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厚玻璃</a:t>
                      </a:r>
                    </a:p>
                  </a:txBody>
                  <a:tcPr marL="76200" marR="76200" marT="38100" marB="38100" anchor="ctr"/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17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太阳能板外观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17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蓝色卡纸或打印贴纸</a:t>
                      </a:r>
                    </a:p>
                  </a:txBody>
                  <a:tcPr marL="76200" marR="76200" marT="38100" marB="38100" anchor="ctr">
                    <a:solidFill>
                      <a:srgbClr val="DD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17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 100 × 80 mm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17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真实光伏组件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17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连接方式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17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502 点固 + 白胶加固</a:t>
                      </a:r>
                    </a:p>
                  </a:txBody>
                  <a:tcPr marL="76200" marR="76200" marT="38100" marB="38100" anchor="ctr">
                    <a:solidFill>
                      <a:srgbClr val="DD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17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另备美纹纸定位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17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焊接、结构胶满粘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B04348-7EF3-42A0-9BB2-EC541938B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67400"/>
            <a:ext cx="11277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47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47FD8"/>
                </a:solidFill>
                <a:latin typeface="Microsoft YaHei"/>
                <a:ea typeface="Microsoft YaHei"/>
                <a:cs typeface="Microsoft YaHei"/>
              </a:rPr>
              <a:t>选择标准：低成本、手工工具可加工、出错后能替换。</a:t>
            </a:r>
          </a:p>
        </p:txBody>
      </p:sp>
    </p:spTree>
    <p:extLst>
      <p:ext uri="{BB962C8B-B14F-4D97-AF65-F5344CB8AC3E}">
        <p14:creationId xmlns:p14="http://schemas.microsoft.com/office/powerpoint/2010/main" val="17764959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03F86E-21C8-47E6-A894-BDAE9B018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47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47FD8"/>
                </a:solidFill>
                <a:latin typeface="Microsoft YaHei"/>
                <a:ea typeface="Microsoft YaHei"/>
                <a:cs typeface="Microsoft YaHei"/>
              </a:rPr>
              <a:t>05 · 灯光与交互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CBA607-57A4-4455-9C57-6912DFE24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4171A"/>
                </a:solidFill>
                <a:latin typeface="Microsoft YaHei"/>
                <a:ea typeface="Microsoft YaHei"/>
                <a:cs typeface="Microsoft YaHei"/>
              </a:rPr>
              <a:t>电子部分只做“看得懂”的低压演示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A43284-B684-44EF-8474-18A383A03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620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4DB92C-9254-4697-A9FE-51BC61E7B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67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6770"/>
                </a:solidFill>
                <a:latin typeface="Microsoft YaHei"/>
                <a:ea typeface="Microsoft YaHei"/>
                <a:cs typeface="Microsoft YaHei"/>
              </a:rPr>
              <a:t>中心基站塔 · 微缩模型内部沟通 V0.2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F712FA-79EA-4567-A682-092289C44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67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06770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4C0D7C-832E-4567-A684-D24EBD353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33337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23AE10-54A9-40EE-A126-781698907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171A"/>
                </a:solidFill>
                <a:latin typeface="Microsoft YaHei"/>
                <a:ea typeface="Microsoft YaHei"/>
                <a:cs typeface="Microsoft YaHei"/>
              </a:rPr>
              <a:t>基础版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8F4A6B-7E72-4501-99A0-2829026D3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86050"/>
            <a:ext cx="2838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171A"/>
                </a:solidFill>
                <a:latin typeface="Microsoft YaHei"/>
                <a:ea typeface="Microsoft YaHei"/>
                <a:cs typeface="Microsoft YaHei"/>
              </a:rPr>
              <a:t>无电路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8A0E51-287C-4273-A3EF-26F19BB70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19450"/>
            <a:ext cx="2838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559793-4EAE-42E5-A199-37AA57C5A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76625"/>
            <a:ext cx="2838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67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06770"/>
                </a:solidFill>
                <a:latin typeface="Microsoft YaHei"/>
                <a:ea typeface="Microsoft YaHei"/>
                <a:cs typeface="Microsoft YaHei"/>
              </a:rPr>
              <a:t>用颜色和标签表达模块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5DD5E7-B1EB-41A6-A1F5-08F1D47C7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24350"/>
            <a:ext cx="2838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067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06770"/>
                </a:solidFill>
                <a:latin typeface="Microsoft YaHei"/>
                <a:ea typeface="Microsoft YaHei"/>
                <a:cs typeface="Microsoft YaHei"/>
              </a:rPr>
              <a:t>最稳妥，先做结构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F98502-2156-4A18-B171-334E1938B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809750"/>
            <a:ext cx="33337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1F8"/>
          </a:solidFill>
          <a:ln xmlns:a="http://schemas.openxmlformats.org/drawingml/2006/main" w="19050">
            <a:solidFill>
              <a:srgbClr val="347F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2FF00B-CE59-4F22-928A-71238A23E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9550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47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47FD8"/>
                </a:solidFill>
                <a:latin typeface="Microsoft YaHei"/>
                <a:ea typeface="Microsoft YaHei"/>
                <a:cs typeface="Microsoft YaHei"/>
              </a:rPr>
              <a:t>推荐版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2CF679-4F3F-4EED-9A3C-EB3175EE5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86050"/>
            <a:ext cx="2838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171A"/>
                </a:solidFill>
                <a:latin typeface="Microsoft YaHei"/>
                <a:ea typeface="Microsoft YaHei"/>
                <a:cs typeface="Microsoft YaHei"/>
              </a:rPr>
              <a:t>5 V USB + LED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70A54A-7592-478C-84E4-D9907724E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19450"/>
            <a:ext cx="2838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35BEEB-209D-446A-80DC-48BC1595F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76625"/>
            <a:ext cx="2838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67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06770"/>
                </a:solidFill>
                <a:latin typeface="Microsoft YaHei"/>
                <a:ea typeface="Microsoft YaHei"/>
                <a:cs typeface="Microsoft YaHei"/>
              </a:rPr>
              <a:t>顶部警示灯、机柜状态灯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67B75B-7040-40DC-92E0-151F692BC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24350"/>
            <a:ext cx="2838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E9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E9B73"/>
                </a:solidFill>
                <a:latin typeface="Microsoft YaHei"/>
                <a:ea typeface="Microsoft YaHei"/>
                <a:cs typeface="Microsoft YaHei"/>
              </a:rPr>
              <a:t>效果明显，接线简单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1D1F32-AEA6-495E-A231-DAAE6501A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33337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078D1B-9E50-4885-8660-6403672EA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9550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171A"/>
                </a:solidFill>
                <a:latin typeface="Microsoft YaHei"/>
                <a:ea typeface="Microsoft YaHei"/>
                <a:cs typeface="Microsoft YaHei"/>
              </a:rPr>
              <a:t>进阶版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F7E32A-DEF5-4EF1-93A5-A1B2A4650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86050"/>
            <a:ext cx="2838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171A"/>
                </a:solidFill>
                <a:latin typeface="Microsoft YaHei"/>
                <a:ea typeface="Microsoft YaHei"/>
                <a:cs typeface="Microsoft YaHei"/>
              </a:rPr>
              <a:t>Arduino / ESP32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88B46A-BCFF-444F-9C9D-A9A22CD06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19450"/>
            <a:ext cx="2838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2AD245-40A2-46C2-B534-E722E38BB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76625"/>
            <a:ext cx="2838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67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06770"/>
                </a:solidFill>
                <a:latin typeface="Microsoft YaHei"/>
                <a:ea typeface="Microsoft YaHei"/>
                <a:cs typeface="Microsoft YaHei"/>
              </a:rPr>
              <a:t>灯光模式、舵机开门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F89622-2D94-405A-B91E-1F250E1D5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324350"/>
            <a:ext cx="2838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067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06770"/>
                </a:solidFill>
                <a:latin typeface="Microsoft YaHei"/>
                <a:ea typeface="Microsoft YaHei"/>
                <a:cs typeface="Microsoft YaHei"/>
              </a:rPr>
              <a:t>结构确定后再加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D3179F-2208-4E66-9AE8-678EF8D77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00650"/>
            <a:ext cx="11277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0009FF-3574-4261-9EC1-2D89CE452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9115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47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47FD8"/>
                </a:solidFill>
                <a:latin typeface="Microsoft YaHei"/>
                <a:ea typeface="Microsoft YaHei"/>
                <a:cs typeface="Microsoft YaHei"/>
              </a:rPr>
              <a:t>推荐首购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6A6686-05D4-47CD-A45B-4F489D2D6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372100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4171A"/>
                </a:solidFill>
                <a:latin typeface="Microsoft YaHei"/>
                <a:ea typeface="Microsoft YaHei"/>
                <a:cs typeface="Microsoft YaHei"/>
              </a:rPr>
              <a:t>USB 供电线 ×1 · 5 mm LED ×6 · 220 Ω 电阻 ×6 · 微型开关 ×1 · 细导线 2 m</a:t>
            </a:r>
          </a:p>
        </p:txBody>
      </p:sp>
    </p:spTree>
    <p:extLst>
      <p:ext uri="{BB962C8B-B14F-4D97-AF65-F5344CB8AC3E}">
        <p14:creationId xmlns:p14="http://schemas.microsoft.com/office/powerpoint/2010/main" val="2076693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FE7FEE-B4B5-4EC7-B4EA-4D96736C9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47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47FD8"/>
                </a:solidFill>
                <a:latin typeface="Microsoft YaHei"/>
                <a:ea typeface="Microsoft YaHei"/>
                <a:cs typeface="Microsoft YaHei"/>
              </a:rPr>
              <a:t>06 · 采购清单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33767D-C98B-44D9-861F-6B2F97ADE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4171A"/>
                </a:solidFill>
                <a:latin typeface="Microsoft YaHei"/>
                <a:ea typeface="Microsoft YaHei"/>
                <a:cs typeface="Microsoft YaHei"/>
              </a:rPr>
              <a:t>第一轮材料一次买齐，真实设备一个都不买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EC2309-B3CB-49D1-82CA-9463F3EA8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620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5978D9-AAC3-4757-82ED-C1A851FC8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67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6770"/>
                </a:solidFill>
                <a:latin typeface="Microsoft YaHei"/>
                <a:ea typeface="Microsoft YaHei"/>
                <a:cs typeface="Microsoft YaHei"/>
              </a:rPr>
              <a:t>中心基站塔 · 微缩模型内部沟通 V0.2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31EA53-7389-484F-A9C0-D6832320A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67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06770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457200" y="1676400"/>
          <a:ext xmlns:a="http://schemas.openxmlformats.org/drawingml/2006/main" cx="11277600" cy="4267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90095"/>
                <a:gridCol w="4654248"/>
                <a:gridCol w="2506133"/>
                <a:gridCol w="2327124"/>
              </a:tblGrid>
              <a:tr h="42672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类别</a:t>
                      </a:r>
                    </a:p>
                  </a:txBody>
                  <a:tcPr marL="76200" marR="76200" marT="47625" marB="47625" anchor="ctr">
                    <a:solidFill>
                      <a:srgbClr val="1417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材料 / 工具</a:t>
                      </a:r>
                    </a:p>
                  </a:txBody>
                  <a:tcPr marL="76200" marR="76200" marT="47625" marB="47625" anchor="ctr">
                    <a:solidFill>
                      <a:srgbClr val="1417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建议数量</a:t>
                      </a:r>
                    </a:p>
                  </a:txBody>
                  <a:tcPr marL="76200" marR="76200" marT="47625" marB="47625" anchor="ctr">
                    <a:solidFill>
                      <a:srgbClr val="1417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采购状态</a:t>
                      </a:r>
                    </a:p>
                  </a:txBody>
                  <a:tcPr marL="76200" marR="76200" marT="47625" marB="47625" anchor="ctr">
                    <a:solidFill>
                      <a:srgbClr val="14171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17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板材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17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 mm 底板；2–3 mm PVC 发泡板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17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 1 张 / 3 张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17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立即购买</a:t>
                      </a:r>
                    </a:p>
                  </a:txBody>
                  <a:tcPr marL="76200" marR="76200" marT="38100" marB="38100" anchor="ctr">
                    <a:solidFill>
                      <a:srgbClr val="E5F5EE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17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杆件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17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 × 5 mm 椴木条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17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 3 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17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立即购买</a:t>
                      </a:r>
                    </a:p>
                  </a:txBody>
                  <a:tcPr marL="76200" marR="76200" marT="38100" marB="38100" anchor="ctr">
                    <a:solidFill>
                      <a:srgbClr val="E5F5EE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17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透明件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17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mm PET 透明片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17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A4 × 1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17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立即购买</a:t>
                      </a:r>
                    </a:p>
                  </a:txBody>
                  <a:tcPr marL="76200" marR="76200" marT="38100" marB="38100" anchor="ctr">
                    <a:solidFill>
                      <a:srgbClr val="E5F5EE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17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粘接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17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白胶、502、美纹纸、双面胶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17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 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17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立即购买</a:t>
                      </a:r>
                    </a:p>
                  </a:txBody>
                  <a:tcPr marL="76200" marR="76200" marT="38100" marB="38100" anchor="ctr">
                    <a:solidFill>
                      <a:srgbClr val="E5F5EE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17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表面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17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白/灰喷漆或贴纸；蓝色卡纸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17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 1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17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立即购买</a:t>
                      </a:r>
                    </a:p>
                  </a:txBody>
                  <a:tcPr marL="76200" marR="76200" marT="38100" marB="38100" anchor="ctr">
                    <a:solidFill>
                      <a:srgbClr val="E5F5EE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17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模型五金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17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M2 小螺丝、微型磁铁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17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 1 包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17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建议购买</a:t>
                      </a:r>
                    </a:p>
                  </a:txBody>
                  <a:tcPr marL="76200" marR="76200" marT="38100" marB="38100" anchor="ctr"/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17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灯光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17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USB 线、LED、电阻、开关、导线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17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套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17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建议购买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17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加工工具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17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钢尺、切割垫、模型刀、手钻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17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缺什么补什么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17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按现有库存</a:t>
                      </a:r>
                    </a:p>
                  </a:txBody>
                  <a:tcPr marL="76200" marR="76200" marT="38100" marB="38100" anchor="ctr"/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17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真实设备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17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天线、路由器、光伏板、储能电池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17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17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本轮不买</a:t>
                      </a:r>
                    </a:p>
                  </a:txBody>
                  <a:tcPr marL="76200" marR="76200" marT="38100" marB="38100" anchor="ctr">
                    <a:solidFill>
                      <a:srgbClr val="F7E3E3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91660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75DCD9-ED13-44FE-824F-DFA2A1489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47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47FD8"/>
                </a:solidFill>
                <a:latin typeface="Microsoft YaHei"/>
                <a:ea typeface="Microsoft YaHei"/>
                <a:cs typeface="Microsoft YaHei"/>
              </a:rPr>
              <a:t>07 · 制作顺序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22C86A-C737-483C-854B-59F5C9D9B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4171A"/>
                </a:solidFill>
                <a:latin typeface="Microsoft YaHei"/>
                <a:ea typeface="Microsoft YaHei"/>
                <a:cs typeface="Microsoft YaHei"/>
              </a:rPr>
              <a:t>按四步制作，先定比例，再加细节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86B3EE-DC7A-48B1-9445-05BB3B199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620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17418A-E630-434A-90C7-22AC10753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67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6770"/>
                </a:solidFill>
                <a:latin typeface="Microsoft YaHei"/>
                <a:ea typeface="Microsoft YaHei"/>
                <a:cs typeface="Microsoft YaHei"/>
              </a:rPr>
              <a:t>中心基站塔 · 微缩模型内部沟通 V0.2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7E40CC-F9A4-468A-B040-7616CDFAE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67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06770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7EA404-8556-4D63-BCCB-09275C205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10287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2F82AF-5A61-49D2-8E13-AB8EB2034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336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1C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4C82E2-FB09-45E0-9448-1876201F1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193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7E4631-8063-4FF4-96D2-2234DD11F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4171A"/>
                </a:solidFill>
                <a:latin typeface="Microsoft YaHei"/>
                <a:ea typeface="Microsoft YaHei"/>
                <a:cs typeface="Microsoft YaHei"/>
              </a:rPr>
              <a:t>纸板白模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F4F8BA-BE12-481D-AEC3-FCE2E6F7D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47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47FD8"/>
                </a:solidFill>
                <a:latin typeface="Microsoft YaHei"/>
                <a:ea typeface="Microsoft YaHei"/>
                <a:cs typeface="Microsoft YaHei"/>
              </a:rPr>
              <a:t>0.5 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94D494-7B24-43E2-A98E-7979631EF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62350"/>
            <a:ext cx="238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067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6770"/>
                </a:solidFill>
                <a:latin typeface="Microsoft YaHei"/>
                <a:ea typeface="Microsoft YaHei"/>
                <a:cs typeface="Microsoft YaHei"/>
              </a:rPr>
              <a:t>打印 1:1 展开图</a:t>
            </a:r>
          </a:p>
          <a:p xmlns:a="http://schemas.openxmlformats.org/drawingml/2006/main">
            <a:pPr algn="ctr">
              <a:defRPr sz="1350" b="0">
                <a:solidFill>
                  <a:srgbClr val="6067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6770"/>
                </a:solidFill>
                <a:latin typeface="Microsoft YaHei"/>
                <a:ea typeface="Microsoft YaHei"/>
                <a:cs typeface="Microsoft YaHei"/>
              </a:rPr>
              <a:t>确认塔高与泊位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3CCE52-269F-4FAD-8673-DFC61F8A6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5336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7F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BEA469-30F8-48CC-836B-3ADFCF772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193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D42DB8-6DB3-49EC-B0E1-D63A3BF22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9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4171A"/>
                </a:solidFill>
                <a:latin typeface="Microsoft YaHei"/>
                <a:ea typeface="Microsoft YaHei"/>
                <a:cs typeface="Microsoft YaHei"/>
              </a:rPr>
              <a:t>主体结构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B02C5D-C100-4FED-9ACC-5B9230E59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861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47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47FD8"/>
                </a:solidFill>
                <a:latin typeface="Microsoft YaHei"/>
                <a:ea typeface="Microsoft YaHei"/>
                <a:cs typeface="Microsoft YaHei"/>
              </a:rPr>
              <a:t>1 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B2AE95-7A9D-4C38-8CC1-87F39D2DD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62350"/>
            <a:ext cx="238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067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6770"/>
                </a:solidFill>
                <a:latin typeface="Microsoft YaHei"/>
                <a:ea typeface="Microsoft YaHei"/>
                <a:cs typeface="Microsoft YaHei"/>
              </a:rPr>
              <a:t>切底板和木条</a:t>
            </a:r>
          </a:p>
          <a:p xmlns:a="http://schemas.openxmlformats.org/drawingml/2006/main">
            <a:pPr algn="ctr">
              <a:defRPr sz="1350" b="0">
                <a:solidFill>
                  <a:srgbClr val="6067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6770"/>
                </a:solidFill>
                <a:latin typeface="Microsoft YaHei"/>
                <a:ea typeface="Microsoft YaHei"/>
                <a:cs typeface="Microsoft YaHei"/>
              </a:rPr>
              <a:t>试装、校正垂直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72A147-E894-4DA5-B0AB-66AEF7D43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5336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7F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D1EEFB-E011-47EA-96B1-C574A630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6193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8BBD61-FB48-4C26-8701-BAE7A3AC4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09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4171A"/>
                </a:solidFill>
                <a:latin typeface="Microsoft YaHei"/>
                <a:ea typeface="Microsoft YaHei"/>
                <a:cs typeface="Microsoft YaHei"/>
              </a:rPr>
              <a:t>表面与模块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C3C044-900D-4041-86C2-BC760207B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0861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47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47FD8"/>
                </a:solidFill>
                <a:latin typeface="Microsoft YaHei"/>
                <a:ea typeface="Microsoft YaHei"/>
                <a:cs typeface="Microsoft YaHei"/>
              </a:rPr>
              <a:t>1 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A3CD99-A141-476D-9026-0C240DDA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562350"/>
            <a:ext cx="238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067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6770"/>
                </a:solidFill>
                <a:latin typeface="Microsoft YaHei"/>
                <a:ea typeface="Microsoft YaHei"/>
                <a:cs typeface="Microsoft YaHei"/>
              </a:rPr>
              <a:t>补面板、机柜</a:t>
            </a:r>
          </a:p>
          <a:p xmlns:a="http://schemas.openxmlformats.org/drawingml/2006/main">
            <a:pPr algn="ctr">
              <a:defRPr sz="1350" b="0">
                <a:solidFill>
                  <a:srgbClr val="6067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6770"/>
                </a:solidFill>
                <a:latin typeface="Microsoft YaHei"/>
                <a:ea typeface="Microsoft YaHei"/>
                <a:cs typeface="Microsoft YaHei"/>
              </a:rPr>
              <a:t>天线与太阳能板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25AC6A-8677-4088-B4E4-D7FC9846C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5336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7F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B7946B-81D8-4ACF-8F51-5F0FE0D64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6193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6A4E11-FB24-4E06-BDE5-4719D0931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809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4171A"/>
                </a:solidFill>
                <a:latin typeface="Microsoft YaHei"/>
                <a:ea typeface="Microsoft YaHei"/>
                <a:cs typeface="Microsoft YaHei"/>
              </a:rPr>
              <a:t>灯光与演示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849167-CDEE-415A-8A15-68DD435DE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0861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47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47FD8"/>
                </a:solidFill>
                <a:latin typeface="Microsoft YaHei"/>
                <a:ea typeface="Microsoft YaHei"/>
                <a:cs typeface="Microsoft YaHei"/>
              </a:rPr>
              <a:t>0.5 天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8A24E9-0AEF-4F8A-9726-E7A3284AF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562350"/>
            <a:ext cx="238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067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6770"/>
                </a:solidFill>
                <a:latin typeface="Microsoft YaHei"/>
                <a:ea typeface="Microsoft YaHei"/>
                <a:cs typeface="Microsoft YaHei"/>
              </a:rPr>
              <a:t>接 LED</a:t>
            </a:r>
          </a:p>
          <a:p xmlns:a="http://schemas.openxmlformats.org/drawingml/2006/main">
            <a:pPr algn="ctr">
              <a:defRPr sz="1350" b="0">
                <a:solidFill>
                  <a:srgbClr val="6067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6770"/>
                </a:solidFill>
                <a:latin typeface="Microsoft YaHei"/>
                <a:ea typeface="Microsoft YaHei"/>
                <a:cs typeface="Microsoft YaHei"/>
              </a:rPr>
              <a:t>演练机器人进出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F93041-29B8-442A-ABB8-87D71CD18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0"/>
            <a:ext cx="112776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1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6D35AA-A7C0-4207-8C73-2FF567F9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625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9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C94B4B"/>
                </a:solidFill>
                <a:latin typeface="Microsoft YaHei"/>
                <a:ea typeface="Microsoft YaHei"/>
                <a:cs typeface="Microsoft YaHei"/>
              </a:rPr>
              <a:t>停止线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A9D4E1-9F2D-4A92-8798-B3F259114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14350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4171A"/>
                </a:solidFill>
                <a:latin typeface="Microsoft YaHei"/>
                <a:ea typeface="Microsoft YaHei"/>
                <a:cs typeface="Microsoft YaHei"/>
              </a:rPr>
              <a:t>白模阶段若机器人进不去、比例不协调，就先改尺寸；不要急着喷漆和粘死。</a:t>
            </a:r>
          </a:p>
        </p:txBody>
      </p:sp>
    </p:spTree>
    <p:extLst>
      <p:ext uri="{BB962C8B-B14F-4D97-AF65-F5344CB8AC3E}">
        <p14:creationId xmlns:p14="http://schemas.microsoft.com/office/powerpoint/2010/main" val="5042955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BA7E38-E06D-473D-AC22-99684788C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47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47FD8"/>
                </a:solidFill>
                <a:latin typeface="Microsoft YaHei"/>
                <a:ea typeface="Microsoft YaHei"/>
                <a:cs typeface="Microsoft YaHei"/>
              </a:rPr>
              <a:t>08 · 团队决策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B42260-33EA-4198-943D-C44A6D97D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4171A"/>
                </a:solidFill>
                <a:latin typeface="Microsoft YaHei"/>
                <a:ea typeface="Microsoft YaHei"/>
                <a:cs typeface="Microsoft YaHei"/>
              </a:rPr>
              <a:t>建议今天只确认比例和首轮采购清单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E188EA-2EB5-47E2-96F1-772D1936F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620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90D325-C773-4729-A37A-D356265D7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67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6770"/>
                </a:solidFill>
                <a:latin typeface="Microsoft YaHei"/>
                <a:ea typeface="Microsoft YaHei"/>
                <a:cs typeface="Microsoft YaHei"/>
              </a:rPr>
              <a:t>中心基站塔 · 微缩模型内部沟通 V0.2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410CD1-75DA-4CFB-8DD4-86AFD645B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67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06770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540269-D221-4EB1-B04B-150140BA7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47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47FD8"/>
                </a:solidFill>
                <a:latin typeface="Microsoft YaHei"/>
                <a:ea typeface="Microsoft YaHei"/>
                <a:cs typeface="Microsoft YaHei"/>
              </a:rPr>
              <a:t>推荐方案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AEA448-2595-4A0E-BB3F-25E18AFBA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47900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171A"/>
                </a:solidFill>
                <a:latin typeface="Microsoft YaHei"/>
                <a:ea typeface="Microsoft YaHei"/>
                <a:cs typeface="Microsoft YaHei"/>
              </a:rPr>
              <a:t>1:10 左右 / 35 cm 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961444-1796-4311-961F-61FDE4DCA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9240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9B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89B64"/>
                </a:solidFill>
                <a:latin typeface="Microsoft YaHei"/>
                <a:ea typeface="Microsoft YaHei"/>
                <a:cs typeface="Microsoft YaHei"/>
              </a:rPr>
              <a:t>结构材料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0EC5E0-6419-4006-9420-33F581FDC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24790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171A"/>
                </a:solidFill>
                <a:latin typeface="Microsoft YaHei"/>
                <a:ea typeface="Microsoft YaHei"/>
                <a:cs typeface="Microsoft YaHei"/>
              </a:rPr>
              <a:t>PVC 发泡板 + 椴木条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5EC45F-ECD9-477F-80DA-E608FC28F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240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9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E9B73"/>
                </a:solidFill>
                <a:latin typeface="Microsoft YaHei"/>
                <a:ea typeface="Microsoft YaHei"/>
                <a:cs typeface="Microsoft YaHei"/>
              </a:rPr>
              <a:t>演示方式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3AE402-BDC2-44FD-B3E8-76CBE4B35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4790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171A"/>
                </a:solidFill>
                <a:latin typeface="Microsoft YaHei"/>
                <a:ea typeface="Microsoft YaHei"/>
                <a:cs typeface="Microsoft YaHei"/>
              </a:rPr>
              <a:t>双泊位 + 5 V LED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DD8E9A-40ED-4BFB-8B9D-FA6B61985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766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61841F-12D9-42FD-9B9E-045A4120C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1475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4171A"/>
                </a:solidFill>
                <a:latin typeface="Microsoft YaHei"/>
                <a:ea typeface="Microsoft YaHei"/>
                <a:cs typeface="Microsoft YaHei"/>
              </a:rPr>
              <a:t>开工前确认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D2B5D5-39E9-43AF-8767-EB2AEC279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195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47F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2E71A3-6E51-4B93-948E-76B02E3DC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60045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171A"/>
                </a:solidFill>
                <a:latin typeface="Microsoft YaHei"/>
                <a:ea typeface="Microsoft YaHei"/>
                <a:cs typeface="Microsoft YaHei"/>
              </a:rPr>
              <a:t>现有机器人模型的长 × 宽 × 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ACA5A6-CAAC-400C-877C-C3145E1E0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195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47F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BABAE5-9B60-49D1-BBCA-FDA7A1C49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0045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171A"/>
                </a:solidFill>
                <a:latin typeface="Microsoft YaHei"/>
                <a:ea typeface="Microsoft YaHei"/>
                <a:cs typeface="Microsoft YaHei"/>
              </a:rPr>
              <a:t>模型是否需要整体搬运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406E72-ECE0-4ADC-838F-59BEB9814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95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47F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FFDBBB-A23E-43C8-882F-F66E8623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47675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171A"/>
                </a:solidFill>
                <a:latin typeface="Microsoft YaHei"/>
                <a:ea typeface="Microsoft YaHei"/>
                <a:cs typeface="Microsoft YaHei"/>
              </a:rPr>
              <a:t>是否必须演示舱门或升降动作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347BC9-7669-4384-84B3-8555B22C0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495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47F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A1752B-93D7-42E3-AB12-70A182A02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7675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171A"/>
                </a:solidFill>
                <a:latin typeface="Microsoft YaHei"/>
                <a:ea typeface="Microsoft YaHei"/>
                <a:cs typeface="Microsoft YaHei"/>
              </a:rPr>
              <a:t>团队现有工具和板材库存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5D169D-73A1-439A-822F-9CC47B993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0545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7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29A778-B10F-4AEE-AF5C-964A82C96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38800"/>
            <a:ext cx="10896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确认这 4 项后即可下单；真实通信、电源和结构件全部延后。</a:t>
            </a:r>
          </a:p>
        </p:txBody>
      </p:sp>
    </p:spTree>
    <p:extLst>
      <p:ext uri="{BB962C8B-B14F-4D97-AF65-F5344CB8AC3E}">
        <p14:creationId xmlns:p14="http://schemas.microsoft.com/office/powerpoint/2010/main" val="13156687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2026-09-01T07:20:56.5130000Z</dcterms:created>
  <dcterms:modified xsi:type="dcterms:W3CDTF">2026-09-01T07:20:56.5130000Z</dcterms:modified>
</coreProperties>
</file>