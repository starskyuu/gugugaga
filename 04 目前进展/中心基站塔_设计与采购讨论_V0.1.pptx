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900a38f081481f" /><Relationship Type="http://schemas.openxmlformats.org/officeDocument/2006/relationships/extended-properties" Target="/docProps/app.xml" Id="R049951c16edb48a4" /><Relationship Type="http://schemas.openxmlformats.org/officeDocument/2006/relationships/officeDocument" Target="/ppt/presentation.xml" Id="R480631d720f64c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8797d4f3fc4bf6"/>
  </p:sldMasterIdLst>
  <p:notesMasterIdLst>
    <p:notesMasterId xmlns:r="http://schemas.openxmlformats.org/officeDocument/2006/relationships" r:id="Rc64eee54b80644d0"/>
  </p:notesMasterIdLst>
  <p:sldIdLst>
    <p:sldId xmlns:r="http://schemas.openxmlformats.org/officeDocument/2006/relationships" id="256" r:id="R405a13b0c7714e62"/>
    <p:sldId xmlns:r="http://schemas.openxmlformats.org/officeDocument/2006/relationships" id="257" r:id="Rbbfc15a86de14955"/>
    <p:sldId xmlns:r="http://schemas.openxmlformats.org/officeDocument/2006/relationships" id="258" r:id="Ra65923846e764961"/>
    <p:sldId xmlns:r="http://schemas.openxmlformats.org/officeDocument/2006/relationships" id="259" r:id="R0a010c2db5da4be6"/>
    <p:sldId xmlns:r="http://schemas.openxmlformats.org/officeDocument/2006/relationships" id="260" r:id="R1ccf5a05bb894f62"/>
    <p:sldId xmlns:r="http://schemas.openxmlformats.org/officeDocument/2006/relationships" id="261" r:id="R565042961be34799"/>
    <p:sldId xmlns:r="http://schemas.openxmlformats.org/officeDocument/2006/relationships" id="262" r:id="Rc36e7869787a4ead"/>
    <p:sldId xmlns:r="http://schemas.openxmlformats.org/officeDocument/2006/relationships" id="263" r:id="Rdd544f0d40c24bc7"/>
    <p:sldId xmlns:r="http://schemas.openxmlformats.org/officeDocument/2006/relationships" id="264" r:id="R73ecb9e7f03d40c2"/>
    <p:sldId xmlns:r="http://schemas.openxmlformats.org/officeDocument/2006/relationships" id="265" r:id="Rf2cac151c93f43ed"/>
    <p:sldId xmlns:r="http://schemas.openxmlformats.org/officeDocument/2006/relationships" id="266" r:id="R5bd20fa2b9a94fde"/>
    <p:sldId xmlns:r="http://schemas.openxmlformats.org/officeDocument/2006/relationships" id="267" r:id="R4a4e2a0199324192"/>
    <p:sldId xmlns:r="http://schemas.openxmlformats.org/officeDocument/2006/relationships" id="268" r:id="Re0e2e1e8eb4941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dfeb2e9f3a4808" /><Relationship Type="http://schemas.openxmlformats.org/officeDocument/2006/relationships/slideMaster" Target="/ppt/slideMasters/slideMaster1.xml" Id="R5f8797d4f3fc4bf6" /><Relationship Type="http://schemas.openxmlformats.org/officeDocument/2006/relationships/notesMaster" Target="/ppt/notesMasters/notesMaster1.xml" Id="Rc64eee54b80644d0" /><Relationship Type="http://schemas.openxmlformats.org/officeDocument/2006/relationships/presProps" Target="/ppt/presProps.xml" Id="Re82cb3d5bd014759" /><Relationship Type="http://schemas.openxmlformats.org/officeDocument/2006/relationships/tableStyles" Target="/ppt/tableStyles.xml" Id="R1a290002471640e8" /><Relationship Type="http://schemas.openxmlformats.org/officeDocument/2006/relationships/slide" Target="/ppt/slides/slide1.xml" Id="R405a13b0c7714e62" /><Relationship Type="http://schemas.openxmlformats.org/officeDocument/2006/relationships/slide" Target="/ppt/slides/slide2.xml" Id="Rbbfc15a86de14955" /><Relationship Type="http://schemas.openxmlformats.org/officeDocument/2006/relationships/slide" Target="/ppt/slides/slide3.xml" Id="Ra65923846e764961" /><Relationship Type="http://schemas.openxmlformats.org/officeDocument/2006/relationships/slide" Target="/ppt/slides/slide4.xml" Id="R0a010c2db5da4be6" /><Relationship Type="http://schemas.openxmlformats.org/officeDocument/2006/relationships/slide" Target="/ppt/slides/slide5.xml" Id="R1ccf5a05bb894f62" /><Relationship Type="http://schemas.openxmlformats.org/officeDocument/2006/relationships/slide" Target="/ppt/slides/slide6.xml" Id="R565042961be34799" /><Relationship Type="http://schemas.openxmlformats.org/officeDocument/2006/relationships/slide" Target="/ppt/slides/slide7.xml" Id="Rc36e7869787a4ead" /><Relationship Type="http://schemas.openxmlformats.org/officeDocument/2006/relationships/slide" Target="/ppt/slides/slide8.xml" Id="Rdd544f0d40c24bc7" /><Relationship Type="http://schemas.openxmlformats.org/officeDocument/2006/relationships/slide" Target="/ppt/slides/slide9.xml" Id="R73ecb9e7f03d40c2" /><Relationship Type="http://schemas.openxmlformats.org/officeDocument/2006/relationships/slide" Target="/ppt/slides/slide10.xml" Id="Rf2cac151c93f43ed" /><Relationship Type="http://schemas.openxmlformats.org/officeDocument/2006/relationships/slide" Target="/ppt/slides/slide11.xml" Id="R5bd20fa2b9a94fde" /><Relationship Type="http://schemas.openxmlformats.org/officeDocument/2006/relationships/slide" Target="/ppt/slides/slide12.xml" Id="R4a4e2a0199324192" /><Relationship Type="http://schemas.openxmlformats.org/officeDocument/2006/relationships/slide" Target="/ppt/slides/slide13.xml" Id="Re0e2e1e8eb4941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6632d1ba3c4b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df2eeb094844d4" /><Relationship Type="http://schemas.openxmlformats.org/officeDocument/2006/relationships/notesMaster" Target="/ppt/notesMasters/notesMaster1.xml" Id="R519535a7bc9e4b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b5caaaa0ee4a7c" /><Relationship Type="http://schemas.openxmlformats.org/officeDocument/2006/relationships/notesMaster" Target="/ppt/notesMasters/notesMaster1.xml" Id="R1dc4b8039ef342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48e16fe0534590" /><Relationship Type="http://schemas.openxmlformats.org/officeDocument/2006/relationships/notesMaster" Target="/ppt/notesMasters/notesMaster1.xml" Id="R2d6bd0fb350444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4c3e4441b94285" /><Relationship Type="http://schemas.openxmlformats.org/officeDocument/2006/relationships/notesMaster" Target="/ppt/notesMasters/notesMaster1.xml" Id="Rd315b8555ffa41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b43541b2b34759" /><Relationship Type="http://schemas.openxmlformats.org/officeDocument/2006/relationships/notesMaster" Target="/ppt/notesMasters/notesMaster1.xml" Id="Rc23173d9a0a649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7ceb9be4c6466e" /><Relationship Type="http://schemas.openxmlformats.org/officeDocument/2006/relationships/notesMaster" Target="/ppt/notesMasters/notesMaster1.xml" Id="Rd50398e33d9e49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f4ebc574684292" /><Relationship Type="http://schemas.openxmlformats.org/officeDocument/2006/relationships/notesMaster" Target="/ppt/notesMasters/notesMaster1.xml" Id="Rf1cb9b7e14474e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19a84c9a924420" /><Relationship Type="http://schemas.openxmlformats.org/officeDocument/2006/relationships/notesMaster" Target="/ppt/notesMasters/notesMaster1.xml" Id="R648d3bd2d0fa4d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3802df568443cc" /><Relationship Type="http://schemas.openxmlformats.org/officeDocument/2006/relationships/notesMaster" Target="/ppt/notesMasters/notesMaster1.xml" Id="Rdfdee4d5801147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18313852ed4121" /><Relationship Type="http://schemas.openxmlformats.org/officeDocument/2006/relationships/notesMaster" Target="/ppt/notesMasters/notesMaster1.xml" Id="R6d30335cb6804a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220b3118764729" /><Relationship Type="http://schemas.openxmlformats.org/officeDocument/2006/relationships/notesMaster" Target="/ppt/notesMasters/notesMaster1.xml" Id="R39f78a579f6e44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7124e761e3431d" /><Relationship Type="http://schemas.openxmlformats.org/officeDocument/2006/relationships/notesMaster" Target="/ppt/notesMasters/notesMaster1.xml" Id="R77a5115102ce4f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ec73040d704ee3" /><Relationship Type="http://schemas.openxmlformats.org/officeDocument/2006/relationships/notesMaster" Target="/ppt/notesMasters/notesMaster1.xml" Id="R73bb8e0eba4d40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这不是定型设计。封面图用于统一团队对模块位置和整体尺度的理解，所有尺寸与采购项都需要通过后续接口确认和试验验证。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concept image; prompt recorded in source-notes.txt.</a:t>
            </a:r>
          </a:p>
          <a:p xmlns:a="http://schemas.openxmlformats.org/drawingml/2006/main">
            <a:r>
              <a:t>- F:/gugugaga/03 目前进展/水陆两栖应急配送舰队_概念方案.pptx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本页是采购前置条件。团队如果对四个问题没有共识，电源、结构和对接件都容易重复购买。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design assumptions based on the existing fleet concept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六模块分层用于形成可采购的子系统边界。实际装配可把通信计算和电源核心放入两个独立 IP66 箱体。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F:/gugugaga/03 目前进展/水陆两栖应急配送舰队_概念方案.pptx</a:t>
            </a:r>
          </a:p>
          <a:p xmlns:a="http://schemas.openxmlformats.org/drawingml/2006/main">
            <a:r>
              <a:t>- F:/gugugaga/02 reading notes/02-安防机器人自动对接与充电.md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尺寸选择服务于内部样机：限制单段长度、保证设备抬高、为四支腿和压载留空间。进入户外部署前需要根据风载、水流力和地基条件复核。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V0.1 dimensional assumptions; structural calculation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铝型材的优势是可改，不是天然更安全。户外最终版可能转为热镀锌钢或专用桁架，但首台样机应优先降低接口试错成本。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Bosch Rexroth Aluminum Structural Framing 9.0 catalog: https://apps.boschrexroth.com/DCUS/2023/08.25.AT_Uploads/R999001283_2020-09_media-1.pdf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压载只是临时部署的手段，不等同于完成抗倾覆设计。采购支腿时保留可替换底板接口，便于在室内地面、泥地和混凝土上换不同锚固方案。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preliminary stability concept; wind and hydrodynamic load calculation required before field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功率预算是为了确定母线、线径和电源等级。船载电池容量未锁定前，不应一次购买所有充电器。储能估算未计低温、老化和转换损耗的细节裕量。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Canadian Solar official product information: module power up to 450 W, https://www.canadiansolar.com/?p=33</a:t>
            </a:r>
          </a:p>
          <a:p xmlns:a="http://schemas.openxmlformats.org/drawingml/2006/main">
            <a:r>
              <a:t>- Engineering calculation from V0.1 assumed loads.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本页强调母线与保护架构。MPPT 本体的防护等级低于户外箱体要求，应安装在 IP66 箱内并设计散热。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Victron SmartSolar MPPT 150/35 official specs: 12/24/36/48 V, 35 A, 98% peak efficiency, https://www.victronenergy.com/media/pg/Manual_SmartSolar_MPPT_150-35__150-45/en/technical-specifications.html</a:t>
            </a:r>
          </a:p>
          <a:p xmlns:a="http://schemas.openxmlformats.org/drawingml/2006/main">
            <a:r>
              <a:t>- MEAN WELL RSP-500-48 official datasheet: 48 V / 10.5 A / 504 W, https://www.meanwell.com/Upload/PDF/RSP-500/RSP-500-SPEC.PDF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首版通信不宜承诺覆盖距离。应先在目标社区环境做链路预算和遮挡测试。定向 CPE 适合塔到指挥点，家庭终端与船队更需要全向覆盖。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TP-Link CPE710 official page: 5 GHz 867 Mbps, 23 dBi, IP65, 24 V passive PoE, max 7.3 W, https://www.tp-link.com/us/business-networking/outdoor-radio/cpe710/v1/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IP 等级只描述外壳防尘防水能力，并不自动解决凝露、散热、线缆入口和维修开门后的风险。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Fibox ARCA IEC manufacturer declaration: polycarbonate enclosure family, IP66/IP65, https://www.fibox.com/hubfs/assets/MD_FIBOX_ARCA.pdf</a:t>
            </a:r>
          </a:p>
          <a:p xmlns:a="http://schemas.openxmlformats.org/drawingml/2006/main">
            <a:r>
              <a:t>- Fibox water/wastewater brochure: ARCA IEC IP66/67 and impact ratings, https://www.fibox.com/hubfs/Fibox_Water%20and%20Waste%20water_Brochure_EN_A4_LR_final.pdf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机械 BOM 可以先采购，因为它与船载电池电压和充电器协议无关。箱体尺寸应允许电源、断路器和弯线半径，而不是只按器件外形相加。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Bosch Rexroth structural framing catalog: https://apps.boschrexroth.com/DCUS/2023/08.25.AT_Uploads/R999001283_2020-09_media-1.pdf</a:t>
            </a:r>
          </a:p>
          <a:p xmlns:a="http://schemas.openxmlformats.org/drawingml/2006/main">
            <a:r>
              <a:t>- Fibox ARCA IEC declaration: https://www.fibox.com/hubfs/assets/MD_FIBOX_ARCA.pdf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平台件能验证 48 V 母线、通信链路和能源管理。充电器与自动对接件必须等船载电池和机械接口锁定，否则重复采购概率很高。品牌仅作为规格参照，可采购满足同等参数和认证的本地替代品。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TP-Link CPE710 official specs: https://www.tp-link.com/us/business-networking/outdoor-radio/cpe710/v1/</a:t>
            </a:r>
          </a:p>
          <a:p xmlns:a="http://schemas.openxmlformats.org/drawingml/2006/main">
            <a:r>
              <a:t>- Victron SmartSolar MPPT 150/35 official specs: https://www.victronenergy.com/media/pg/Manual_SmartSolar_MPPT_150-35__150-45/en/technical-specifications.html</a:t>
            </a:r>
          </a:p>
          <a:p xmlns:a="http://schemas.openxmlformats.org/drawingml/2006/main">
            <a:r>
              <a:t>- MEAN WELL RSP series official datasheets: https://www.meanwell.com/productSearch.aspx?pkeywords=RSP</a:t>
            </a:r>
          </a:p>
          <a:p xmlns:a="http://schemas.openxmlformats.org/drawingml/2006/main">
            <a:r>
              <a:t>- Canadian Solar official downloads: https://www.canadiansolar.com/downloads/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首轮采购目标是暴露接口问题，不是一步完成野外设备。三轮迭代每轮都应形成照片、温度、电流、装配时间和问题清单。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development sequence and decision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0605cd81f4d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7eb32e43744b0f" /><Relationship Type="http://schemas.openxmlformats.org/officeDocument/2006/relationships/slideLayout" Target="/ppt/slideLayouts/slideLayout1.xml" Id="R2f253e6d156841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253e6d156841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f0ab876db47d6" /><Relationship Type="http://schemas.openxmlformats.org/officeDocument/2006/relationships/image" Target="/ppt/media/image.png" Id="Raef4dede71b94039" /><Relationship Type="http://schemas.openxmlformats.org/officeDocument/2006/relationships/notesSlide" Target="/ppt/notesSlides/notesSlide1.xml" Id="Rad861c3760dd4a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5898cc20f4862" /><Relationship Type="http://schemas.openxmlformats.org/officeDocument/2006/relationships/notesSlide" Target="/ppt/notesSlides/notesSlide2.xml" Id="R6e0bf01b188249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06b31dda74a4f" /><Relationship Type="http://schemas.openxmlformats.org/officeDocument/2006/relationships/notesSlide" Target="/ppt/notesSlides/notesSlide3.xml" Id="Rc8288a1c270f4b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b7c97fd1447ad" /><Relationship Type="http://schemas.openxmlformats.org/officeDocument/2006/relationships/notesSlide" Target="/ppt/notesSlides/notesSlide4.xml" Id="R895476d311f044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f103181704a7f" /><Relationship Type="http://schemas.openxmlformats.org/officeDocument/2006/relationships/notesSlide" Target="/ppt/notesSlides/notesSlide5.xml" Id="Rec8deaf35eae4b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0a09ed7d04a72" /><Relationship Type="http://schemas.openxmlformats.org/officeDocument/2006/relationships/notesSlide" Target="/ppt/notesSlides/notesSlide6.xml" Id="R4cb2fc3e5d0745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62b619b014288" /><Relationship Type="http://schemas.openxmlformats.org/officeDocument/2006/relationships/notesSlide" Target="/ppt/notesSlides/notesSlide7.xml" Id="Rc76d763523f04a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c290e06084bd4" /><Relationship Type="http://schemas.openxmlformats.org/officeDocument/2006/relationships/notesSlide" Target="/ppt/notesSlides/notesSlide8.xml" Id="R2f64b64565d446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7119aead74ecf" /><Relationship Type="http://schemas.openxmlformats.org/officeDocument/2006/relationships/notesSlide" Target="/ppt/notesSlides/notesSlide9.xml" Id="R55031b1ceb2f4d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936e101d34d55" /><Relationship Type="http://schemas.openxmlformats.org/officeDocument/2006/relationships/notesSlide" Target="/ppt/notesSlides/notesSlide10.xml" Id="R04db7d8469a04b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13cd9ed5f49d0" /><Relationship Type="http://schemas.openxmlformats.org/officeDocument/2006/relationships/notesSlide" Target="/ppt/notesSlides/notesSlide11.xml" Id="Rbc0b0265ef154c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6fbb7e67f42da" /><Relationship Type="http://schemas.openxmlformats.org/officeDocument/2006/relationships/notesSlide" Target="/ppt/notesSlides/notesSlide12.xml" Id="Raac5a5e66ea143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e21a12fe54da3" /><Relationship Type="http://schemas.openxmlformats.org/officeDocument/2006/relationships/notesSlide" Target="/ppt/notesSlides/notesSlide13.xml" Id="R0bf8ef33e36542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04373-0118-4452-9D96-D05D5D1B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水陆两栖应急配送舰队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096E7-DA51-4515-8CFF-FE837C3A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5429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中心基站塔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怎么设计、先买什么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D67CD-8387-47CD-9FB2-44E14AA1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内部工程学习与采购讨论 ·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33B61-B948-4788-A85F-2C02D476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目标：在不锁死后续接口的前提下，先搭出可通信、可供电、可维护的原理样机。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E3EB5-8109-4CBE-9482-ACB2019C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177BF-EE55-496D-8841-09FD9584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5286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建议基线：3 m 可拆装塔体 · 48 V 母线 · 设备抬高 · 太阳能辅助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4dede71b94039"/>
          <a:srcRect xmlns:a="http://schemas.openxmlformats.org/drawingml/2006/main" l="22704" t="0" r="227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342900"/>
            <a:ext cx="5543550" cy="5715000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13F97-E518-43DB-BDFD-2199F9E3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37345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3808B7-1034-43C3-9B2E-8E32D152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 · 决策边界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8C4CF-52F4-434E-A5A3-0499B21A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先锁定四个边界，再开始花钱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5F990-5F2C-4875-A744-22196101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370FB-32FC-4DFA-B532-E7EBCFB5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中心基站塔 · 内部工程沟通 V0.1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D5700-EDCD-4F90-B594-79194F5F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FB88F-2DBA-4F70-BA35-781A1C6F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B09DB-CA69-4E6E-A004-B6F950A6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部署方式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73262-EF9C-4B76-928C-6FD67765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 / 临时</a:t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车运 / 人搬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DB425-CF0E-40E1-BDFD-59AA24EA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FC8A8-D559-4D11-AFE4-E9FC0279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3875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决定底座、质量与装配方式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8BF35-0FFE-47EF-8416-A9008245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CB3BDD-90AA-484F-A2D8-37054EE6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船载电池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9F3BB-39AF-4A55-8AC2-D7010A6F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24 V 还是 48 V</a:t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容量与插头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22F13-6C94-4339-AE0D-082076DC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58D04-88A3-4411-9C6A-E267A22B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决定充电器、线缆和母线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B2C84-4185-482D-911D-03FA0EB6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31B63-E768-468F-A15B-3CAF3506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充电策略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3CCD44-AF54-4469-A419-D689BFAC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71800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换电优先</a:t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还是自动靠站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3A0EC-1A61-4020-9035-4F528B49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9575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89DC67-83B9-45F0-B356-99B1542A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33875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决定机械接口与控制复杂度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D82927-98EA-4CD5-AC97-B8C91AFF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C0D5FF-5F20-4AC8-AD66-1726F178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通信范围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20DC58-FFFB-42C0-BA3D-D6397E94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71800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社区局域覆盖</a:t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还是远距离回传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90BD93-ACBF-439D-A5E0-26A546AE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9575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DC1E06-9193-4500-8562-2A3E4DC3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33875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决定天线、功耗和法规要求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F1BE48-88A7-4ADF-97A4-AA96257A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22ED31-3EA0-45C9-830E-84832C65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48325"/>
            <a:ext cx="1089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本版采购假设：临时部署、两人可装配；船载电池可抽换；首版只做手动换电，自动对接留接口。</a:t>
            </a:r>
          </a:p>
        </p:txBody>
      </p:sp>
    </p:spTree>
    <p:extLst>
      <p:ext uri="{BB962C8B-B14F-4D97-AF65-F5344CB8AC3E}">
        <p14:creationId xmlns:p14="http://schemas.microsoft.com/office/powerpoint/2010/main" val="291090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DF69DE-9190-4D7C-8564-7B4626A4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 · 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8D42D-4B03-4F8B-99F9-CFBE5D2F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塔不是一根杆，而是六个可替换功能模块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9C13E-7BCA-416A-A574-EFD88E39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4AEF2-BF00-4AF3-827E-25A86C56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中心基站塔 · 内部工程沟通 V0.1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6FCB3-4252-4D13-B10A-7B272323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8F6BE-BE06-43B2-81F9-500421B9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52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F23E5-C913-4563-9E9E-1B27D32E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  顶部感知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6B00E-585D-4B5C-A4CD-799AE515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8117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双频天线 · 风雨传感 · 警示灯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550C0-491A-4910-AF59-23EDE604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152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50353-6BCC-4E5A-BE2F-DD02EFFB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  能源采集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9FD0D-ADC0-4873-81C3-3DA9D8D0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574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450 W 级太阳能板 · 可调支架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F405A-7C68-437D-A46C-2F30FDEB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52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2DE48-B1D2-4363-AB19-FB68B2EE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33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  通信计算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8835E-97A0-4E1F-8C8E-D880D44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337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路由 / CPE · 工控机 · GNSS / 时钟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258B0-E717-4A71-8412-91E96B7A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9525"/>
            <a:ext cx="152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A1B09-160E-49C3-BF5C-ED51069E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  电源核心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0987D-6E61-4437-8B75-A3D55A92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48 V 电池 · MPPT · AC/DC · 配电保护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C2AC0-DEBE-45A7-A155-DB7F0B0B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52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C3BDD-1EB3-472A-BEAA-91E1B8BA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862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  维护换电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306F33-D801-4FD8-816B-46D32EED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8627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2–4 个电池槽 · 独立保险 · 温度监控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4CF479-2C2E-439F-903A-21A24D41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72075"/>
            <a:ext cx="152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EB5AC-C669-4077-BC3B-54766FBE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  基础与接口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B1A272-C673-4AA4-9740-4D7387E7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625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可调支腿 · 压载 · 锚固 · 船靠泊预留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5A3EAA-8391-4C9F-99ED-F48D9B2B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33550"/>
            <a:ext cx="34861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C84E00-463C-40AE-9BCD-38E2962D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38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模块化的目的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3D9456-39F2-4AA3-BAD2-8B16D96B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运输时拆成 3–4 个箱体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水位变化时调整设备高度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通信、电源、充电器可分别升级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故障模块可整块替换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不把船体接口过早焊死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CF7D5B-D4E7-4532-8FA5-2F6C9643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05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原则：结构接口先统一，功能器件后迭代。</a:t>
            </a:r>
          </a:p>
        </p:txBody>
      </p:sp>
    </p:spTree>
    <p:extLst>
      <p:ext uri="{BB962C8B-B14F-4D97-AF65-F5344CB8AC3E}">
        <p14:creationId xmlns:p14="http://schemas.microsoft.com/office/powerpoint/2010/main" val="1736073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BA4C9B-C5BF-4133-9735-5D9675BE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 · 总体尺寸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741BE-113A-464A-A1A5-C53C1445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V0.1 尺寸基线：够高、能搬、可继续改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7BC2C-861E-4CBF-B0CD-1FE0C0BF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3E8FA-4E09-4ED0-B84C-2FE6A0A6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中心基站塔 · 内部工程沟通 V0.1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F60C9-9E23-4DE4-B0E0-1C611C74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7262A-B49E-4082-AE39-AE4D0E8E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57375"/>
            <a:ext cx="3333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292B0-3F95-4DF7-92A1-639DC38C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37732-12D3-4F47-9A64-C5BA4A62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3.0 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A1D2B-F9DC-4D55-A448-7340916A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6096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3B9CB-613B-4F51-9B99-18B48E22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1526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CAA15-498F-405F-A229-ECB0F9C8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67000"/>
            <a:ext cx="1466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F77C0-3DA4-4046-AA71-0BCD0CEC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67125"/>
            <a:ext cx="1600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24097-AC39-46A6-9573-6D408934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149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D017A-BB37-44D3-8F4A-4CCA2164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292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D2CDE-7491-493F-A2B0-15D7DEFB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天线/传感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E3B07-29AF-4B45-8326-8C80C901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通信箱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D415A-CD32-4601-99A7-E5651939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0100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电源箱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61630-454E-405D-AE79-A49C1E17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387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换电槽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4953000" y="1809750"/>
          <a:ext xmlns:a="http://schemas.openxmlformats.org/drawingml/2006/main" cx="6781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21735"/>
                <a:gridCol w="1769165"/>
                <a:gridCol w="3390900"/>
              </a:tblGrid>
              <a:tr h="55789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V0.1 基线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设计意图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总高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3000 mm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兼顾通信视距与运输分段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主体截面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 × 500 mm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允许两个独立箱体背靠背安装</a:t>
                      </a:r>
                    </a:p>
                  </a:txBody>
                  <a:tcPr marL="76200" marR="76200" marT="38100" marB="38100" anchor="ctr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底座占地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1200 × 1200 mm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四支腿展开后；压载另计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箱体离地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1200 mm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需高于设计积水位 + 300 mm 裕量</a:t>
                      </a:r>
                    </a:p>
                  </a:txBody>
                  <a:tcPr marL="76200" marR="76200" marT="38100" marB="38100" anchor="ctr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单段长度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1500 mm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便于两人搬运和普通车辆运输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目标整机质量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120 kg（不含压载）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结构和箱体可分拆搬运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DAF5A-FAED-406B-BA93-C32A0B69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05500"/>
            <a:ext cx="678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94B4B"/>
                </a:solidFill>
                <a:latin typeface="Microsoft YaHei"/>
                <a:ea typeface="Microsoft YaHei"/>
                <a:cs typeface="Microsoft YaHei"/>
              </a:rPr>
              <a:t>所有尺寸用于首轮采购与样机布置，不是结构强度结论。</a:t>
            </a:r>
          </a:p>
        </p:txBody>
      </p:sp>
    </p:spTree>
    <p:extLst>
      <p:ext uri="{BB962C8B-B14F-4D97-AF65-F5344CB8AC3E}">
        <p14:creationId xmlns:p14="http://schemas.microsoft.com/office/powerpoint/2010/main" val="15839189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5876F-5B1C-4F6D-B527-7C87367D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 · 结构选型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78A90-4F56-43FF-99D6-9AEEB632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首台样机推荐 40×40 铝型材，而不是直接焊钢塔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7867A-EA08-415A-A7D3-9E2CDB2C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C41D9-A07C-4C37-8A02-E033C8E0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中心基站塔 · 内部工程沟通 V0.1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5A82F-A685-45E9-86AC-6FE6968F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57200" y="1733550"/>
          <a:ext xmlns:a="http://schemas.openxmlformats.org/drawingml/2006/main" cx="112776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6379"/>
                <a:gridCol w="3363495"/>
                <a:gridCol w="2967789"/>
                <a:gridCol w="2769937"/>
              </a:tblGrid>
              <a:tr h="539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40×40 铝型材</a:t>
                      </a:r>
                    </a:p>
                  </a:txBody>
                  <a:tcPr marL="76200" marR="76200" marT="47625" marB="47625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热镀锌方钢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轻型桁架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改孔/改高度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强：T 槽可重复调整</a:t>
                      </a:r>
                    </a:p>
                  </a:txBody>
                  <a:tcPr marL="76200" marR="76200" marT="38100" marB="3810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弱：需切割焊接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中：接口受节点限制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两人装配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76200" marR="76200" marT="38100" marB="3810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76200" marR="76200" marT="38100" marB="38100" anchor="ctr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耐腐蚀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较好，注意异种金属</a:t>
                      </a:r>
                    </a:p>
                  </a:txBody>
                  <a:tcPr marL="76200" marR="76200" marT="38100" marB="3810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较好，破损处需补锌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视材料而定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刚度/成本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 / 中</a:t>
                      </a:r>
                    </a:p>
                  </a:txBody>
                  <a:tcPr marL="76200" marR="76200" marT="38100" marB="3810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 / 低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 / 中高</a:t>
                      </a:r>
                    </a:p>
                  </a:txBody>
                  <a:tcPr marL="76200" marR="76200" marT="38100" marB="38100" anchor="ctr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适用阶段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原理样机与接口探索</a:t>
                      </a:r>
                    </a:p>
                  </a:txBody>
                  <a:tcPr marL="76200" marR="76200" marT="38100" marB="3810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结构定型后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需要快速架设时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31BB8-B286-4ABC-9A93-615278C0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首购建议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E2061-487D-4DD2-BAE7-59AF0B9E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768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4040 T 槽铝型材约 24 m + 4040 角码/连接板 + M8 T 型螺母；关键底脚和锚固件仍使用热镀锌钢。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1FE89-A6EE-4A60-9A03-37D3A359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24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参考：Bosch Rexroth 40×40 连接件目录给出可调角连接与 180°转动选项；具体承载仍按选定型材截面重新计算。</a:t>
            </a:r>
          </a:p>
        </p:txBody>
      </p:sp>
    </p:spTree>
    <p:extLst>
      <p:ext uri="{BB962C8B-B14F-4D97-AF65-F5344CB8AC3E}">
        <p14:creationId xmlns:p14="http://schemas.microsoft.com/office/powerpoint/2010/main" val="10775434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E141C2-3A07-4B77-AD3F-4E190458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 · 底座与抗倾覆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C52DA-E810-4DA8-B72F-32C72E12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稳定性靠“支腿 + 压载 + 锚固”，不能只靠自重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09EA5-04FC-4DD4-9DED-ED7F9039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C2778-E050-4A69-9B33-4CA1182F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中心基站塔 · 内部工程沟通 V0.1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D1984-F6AF-4335-A176-CF2E838B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04EDD-961B-49A4-8AE6-61459A61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476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3876F-474A-45E1-8B9C-2594FD44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8575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B6816-7F91-4B75-A594-6ECBBFDA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933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D0AF6-F048-4BD6-B441-BD92583D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43125"/>
            <a:ext cx="933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3D6F2-CE39-44D0-8F04-EFB024B1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933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AAC24-7207-4C73-8025-233F0EAD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29150"/>
            <a:ext cx="933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35A2D-F547-4F93-818F-9A44A1D4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76500"/>
            <a:ext cx="619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9B434F-1068-4F82-A20C-BFAF8641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619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0AC24B-3DC8-41F2-90D3-BE452381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53000"/>
            <a:ext cx="619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DB328-1D30-46AE-94FD-9884F46C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53000"/>
            <a:ext cx="619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5EE52-C7CA-4C1E-B4A1-213A30E7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顶视图：1.2 m 支腿展开 + 四角 50 L 水袋压载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FC112-D56C-4AC2-BA60-874A5B33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可调支腿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0A0BC-D602-4538-A7A3-F4037C8A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85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 个镀锌丝杆脚 / 200×200×8 mm 底板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161B00-F81B-42FF-BF89-E21383E2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补偿地面不平；必须设防松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65472-455C-47B0-A2E0-EBD794A8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E537CB-63BE-45DA-8B08-FA65623F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压载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18C33-A6F5-4F0F-B22D-CE222353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67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4×50 L 折叠水袋或沙袋框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636E0D-2560-4A52-8475-F6B0D8CF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71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现场取水即可增加约 200 kg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BDE1E5-87C3-4E47-ABAF-CA02C6DD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1470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876009-EEF7-498F-8CCD-8B2D20ED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48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锚固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15916D-9E8C-4A13-B350-ACB89639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 根拉索 + 地钉/膨胀锚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A434DA-7A59-4FB5-B200-385D6510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52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按土壤、混凝土或屋面分别配置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B83921-5D71-4FB6-A900-BD1E64E5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33183C-D9FB-47FE-BC81-27505546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29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隔振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75AA55-EDDC-41F1-A5BD-72DB627C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2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箱体与计算机使用橡胶隔振垫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84B789-5856-45A2-93DF-34B2110E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降低运输和泵/风扇振动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9D0E45-8A8C-449F-A36E-5A39B274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7680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C409AA-DFE5-4D96-9D9B-AD7C3FE1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0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接地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084B70-D086-4887-B1C9-6E7AF614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独立保护地 + 等电位连接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C17B92-55FE-437C-8429-8876C98D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14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结构、电柜、浪涌器统一接地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107C53-EE63-4B07-8CD8-F976E142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293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94B4B"/>
                </a:solidFill>
                <a:latin typeface="Microsoft YaHei"/>
                <a:ea typeface="Microsoft YaHei"/>
                <a:cs typeface="Microsoft YaHei"/>
              </a:rPr>
              <a:t>必须补算：目标最大风速、水流冲击、偏心太阳能板风矩、锚点允许载荷。</a:t>
            </a:r>
          </a:p>
        </p:txBody>
      </p:sp>
    </p:spTree>
    <p:extLst>
      <p:ext uri="{BB962C8B-B14F-4D97-AF65-F5344CB8AC3E}">
        <p14:creationId xmlns:p14="http://schemas.microsoft.com/office/powerpoint/2010/main" val="11152380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88EEB1-764B-4A09-8C5E-70A15E49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06 · 功率与续航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DCA02-62A4-4EB6-B129-10087038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太阳能只能补能：主供电仍应来自市电或发电机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B4326-1653-4923-9B7B-7CFDC489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914F5-A661-4069-918F-A0C20E4C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中心基站塔 · 内部工程沟通 V0.1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98F5C-3947-4975-9154-9A5DEA49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B03A4-C380-44CE-ACE8-340B39D2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连续负载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2477B-52A1-4F09-9556-FAE8E0D6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通信设备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A589F-0A00-4A5F-924B-FE244091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66950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3AAC5-A1DE-4E5F-8F41-A52AF645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383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 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12C78-02F2-4F20-A9B6-3D89D996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计算 / 路由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C2791-59BA-4865-8249-3EC0C367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7813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00835-CCEC-47E1-880C-18F58775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527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25 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D17A7-2602-48D1-8DEF-4BA1C229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670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传感 / 照明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2420F-5B67-4AED-8747-68EE1631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9565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C0A2A-0331-495F-9DD2-59BBA874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670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 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1CDF9-2C9C-4ED9-A595-7C58923F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814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风扇与损耗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80F40-4FE0-4D7A-ABB6-7E57F9B2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100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B4975-69F6-4C79-BE38-EFEB860A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81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 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E10F6-CA29-4D46-945C-48837657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C979D7-B12E-4999-993D-D5EC6F04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连续基载约 70 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A4A4A-C758-4806-B3D8-0F95F202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24 h 约 1.68 kWh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74432-B2CE-4FBE-941F-EEB91F90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526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充电是峰值负载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87B2EB-0E94-4C4A-A7FD-5B6ECE74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86000"/>
            <a:ext cx="581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E421AE-87A9-4329-9CDF-A116FD91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288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 个电池槽 × 150 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6ACA92-F393-419C-BCB5-1856D495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28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≈ 600 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DE06FF-AE72-4340-8E6E-4BB6FE3B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140EB4-89F3-4617-A1B7-9AA740CC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43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建议母线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3D6149-A153-4A59-9066-72439EC0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766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48 V DC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0F2DFC-AE03-4506-A5F3-278D9F27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48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储能基线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0D1C96-75B7-4C21-AE6B-11AF916B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814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51.2 V / 100 Ah ≈ 5.12 kWh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23DC40-427E-4E08-A957-27732D0A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43425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可用 80% 后约 4.1 kWh：足够维持通信 24 h，并给 3–4 个 0.48 kWh 电池包补能。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5116F4-19AC-483E-950A-963DD2AB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81625"/>
            <a:ext cx="581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E0F81F-9543-47B1-A057-09CE9EB8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3402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450 W 光伏 × 4 h × 75% ≈ 1.35 kWh/天，仅覆盖部分基载。</a:t>
            </a:r>
          </a:p>
        </p:txBody>
      </p:sp>
    </p:spTree>
    <p:extLst>
      <p:ext uri="{BB962C8B-B14F-4D97-AF65-F5344CB8AC3E}">
        <p14:creationId xmlns:p14="http://schemas.microsoft.com/office/powerpoint/2010/main" val="2386253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AF6A13-D101-4BFC-B521-83C6100B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07 · 电气架构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3EEA1-7CEB-449C-9DD0-BF06E4C3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48 V 母线把输入、储能和负载解耦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BE838-D996-4FCA-AF87-D76F3B4C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C7B9A-E492-4682-8225-5C46002F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中心基站塔 · 内部工程沟通 V0.1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FBFA0-5E9A-42B3-B661-15F4550E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F5F21-6D8C-4BFC-9E81-E9540728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5275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AEE88-C02D-42F5-AB76-0CE03DB2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69741-6B43-4D78-813E-FDABC245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5275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5D975-C4C0-4862-A8D4-09EA50E7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A67D9-CD00-4194-8F59-7895A26F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13955-1C53-46D2-9DF6-61C1F748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F199A-968E-4DC4-9373-FFE3AB81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230 V 市电 / 发电机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450 W 光伏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ADBDD-0287-4E6B-96A7-3426F8A3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143125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8AE40-2B14-45A2-A232-A81057D0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3622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变换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30595-7E8D-4834-976E-EC2D374A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8956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AC/DC 48 V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MPPT 150/35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C9F55-951D-4A14-87C5-78C44A4C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43125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8E48D-AD82-437D-A916-2E9BBA13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622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储能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6A83D9-02B1-472F-81CB-33E2E320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956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51.2 V LiFePO₄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100 Ah + BMS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8CBD88-CEF8-4AE9-8673-4852A6D1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143125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19F2DA-C33D-449C-B7F6-4C1D7222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3622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配电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5CC8C-87C7-4101-97F8-56CAA1A0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956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总熔断 / SPD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分路保险 / 电流计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05E2C7-96DC-439F-940C-610EF734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43125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600895-E27E-4B82-AB92-3DF071D2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622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负载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EC6350-4290-4DF6-8D91-28D33423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956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通信与计算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 路独立充电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23F6E2-D622-4975-AE05-554D274A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保护层级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3890A-981E-49FB-A392-E70D11D4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DD04C5-41A5-42A8-894F-73D1F386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5777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AC 输入漏保 + 断路器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47D1F8-EFA3-47C4-AC9B-17A2AA8A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9149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54B57A-EA92-419C-80E6-82AA40CC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05777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PV 隔离开关 + 直流熔断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C1B750-1FD3-4912-89EE-7DC546A0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9149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A1965B-F456-4F39-9EDB-532BAF04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5777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电池主熔断 + 急停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BE7ADB-FC3A-42EE-825D-050777AD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9149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3CEF89-266D-42F5-98BF-6EED382B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05777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每槽独立保险 + 温度探头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3D238C-567B-473B-A64A-103DE8A3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149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0AE39F-59FB-4658-94E1-9A0ED138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5777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箱体 PE 接地 + 浪涌保护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F5769C-AEB1-4738-A5F9-16E4F4DE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建议首购 48 V / 1 kW 级 AC/DC；若最终只做通信塔，可降至 500 W。</a:t>
            </a:r>
          </a:p>
        </p:txBody>
      </p:sp>
    </p:spTree>
    <p:extLst>
      <p:ext uri="{BB962C8B-B14F-4D97-AF65-F5344CB8AC3E}">
        <p14:creationId xmlns:p14="http://schemas.microsoft.com/office/powerpoint/2010/main" val="1076791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709B84-837A-454C-89D9-8426A0AE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08 · 通信与计算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4880E-4029-4DC3-B1E4-428A24E9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通信分两层：近场覆盖船队，定向链路回传中心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60AE0-BD9D-482C-A047-D521EB16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3E690-B967-43FF-BDC7-27696EBD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中心基站塔 · 内部工程沟通 V0.1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BDA30-CE21-408D-9B93-74DF4212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DA747-779F-4BE0-B4AD-9A39EC38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95600"/>
            <a:ext cx="1714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E23C0-B006-4829-A1CC-BF84184A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1714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8D129-36A5-4352-B701-01518748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95500"/>
            <a:ext cx="1524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6705C-7D6A-4D62-86B0-5794A35A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52400" cy="876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5D0DB-5F5B-4D44-9A68-3A17734A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ED9B3-93EF-4F19-8B8C-0724D57C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家庭终端 / 船队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C9D08-9A69-48B8-8029-853EC867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2.4 GHz 覆盖</a:t>
            </a:r>
          </a:p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低速、穿透优先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9E428-1070-4061-BFA3-558D10CD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E7761-9A75-492F-BBCE-44E3A582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塔端网络核心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07CC4-CEE7-49DE-857F-4F19A467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289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路由 + 交换 + 本地缓存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任务队列可离线运行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8C106-C661-4FDB-AE34-FA1E7E46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2133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5AFDC-9BFA-4E61-A02C-07DC2129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908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指挥点 / 互联网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B811A-5499-41D3-8765-4AA38D19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384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5 GHz 定向回传</a:t>
            </a:r>
          </a:p>
          <a:p xmlns:a="http://schemas.openxmlformats.org/drawingml/2006/main">
            <a:pPr algn="ctr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4G/5G 作为备份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4D816-DD09-4387-A1CE-173915E4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62100"/>
            <a:ext cx="2076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4FA767-96D1-4666-AF44-9A3B296D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954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7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GNSS / 时间同步 / 气象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E217E6-D78B-4986-AEAE-8D54E228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5770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F5F49E-7E2C-4223-AA73-6C5556CE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8152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工控机 / 单板机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本地调度与日志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8C5C66-85E9-4676-A964-3A9F7DE4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参考器件：户外 5 GHz CPE（IP65、PoE、定向高增益）；具体频段与发射功率按当地法规选择。</a:t>
            </a:r>
          </a:p>
        </p:txBody>
      </p:sp>
    </p:spTree>
    <p:extLst>
      <p:ext uri="{BB962C8B-B14F-4D97-AF65-F5344CB8AC3E}">
        <p14:creationId xmlns:p14="http://schemas.microsoft.com/office/powerpoint/2010/main" val="13715731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7A4BA-6A04-49BC-BED7-3DA69CC0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09 · 环境与安全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696C0-0D10-4637-93E5-9B50D7FA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防水不是买一个 IP66 箱子就结束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BED54-CCD4-46C4-A18A-57AB3BC2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FC09D-1CB1-4F30-82BA-D62A22D2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中心基站塔 · 内部工程沟通 V0.1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760F2-EFD9-4BB7-8720-51B08D13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16A2C-4C96-4785-8392-1816D336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水与凝露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433BF-4510-4C13-BB1E-571A732E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箱体 IP66；底部防水接头；呼吸阀；冷凝水导流；箱门滴水边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CFE5E-0FA3-4E50-B599-F24DEB0E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雷电与浪涌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E88C5-73D0-4EE2-9D42-FBFF3E3D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天线馈线与电源入口均设 SPD；结构、箱体和保护地等电位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ADF2F-E162-4898-AA43-564190B7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热管理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0F2FF-9E59-4F1C-A711-8F3E343B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05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电源与充电器热损耗优先导热到背板；温控风扇只在箱内循环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EF260-E9B8-4161-A68E-1FF87833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67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触电与电池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A3FD6-4764-42B5-8CFD-9732987D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05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AC 输入漏保；48 V 主熔断；急停；电池槽温度与烟雾监测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1C61D-5BAB-4D63-AB38-091FF193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腐蚀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E7155-FAC0-4A05-B4F4-47BE4A18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铝—不锈钢接触处加绝缘垫；切口封闭；避免积水缝隙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491FC-4417-4F14-B553-794950E1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24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维护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669661-8BD5-4CDA-B688-75E6E0C4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625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所有保险和断路器正面可见；线缆编号；门开关与维修照明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D767D-3A0D-4B9D-A0BC-730458E6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FE74CB-B3C6-4AA3-AEDB-969F04FB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采购时要求供应商提供：防护等级声明、材料信息、温度范围、端子额定值和安装尺寸图。</a:t>
            </a:r>
          </a:p>
        </p:txBody>
      </p:sp>
    </p:spTree>
    <p:extLst>
      <p:ext uri="{BB962C8B-B14F-4D97-AF65-F5344CB8AC3E}">
        <p14:creationId xmlns:p14="http://schemas.microsoft.com/office/powerpoint/2010/main" val="11657385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2EFFC-7DB6-42EA-8A4B-52F7D3F8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10 · 首轮采购清单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D4C6E-B136-4FAD-BA6F-C87E1516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机械件：这些可以买，且不依赖船体电压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BEBC5-DC30-400B-91D2-0F3D866D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11AB5-37DA-4C34-9455-5BAB0FF9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中心基站塔 · 内部工程沟通 V0.1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F8920-27B2-4B45-B6D9-A135EF9B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57200" y="1695450"/>
          <a:ext xmlns:a="http://schemas.openxmlformats.org/drawingml/2006/main" cx="112776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81200"/>
                <a:gridCol w="3657600"/>
                <a:gridCol w="1219200"/>
                <a:gridCol w="1371600"/>
                <a:gridCol w="3048000"/>
              </a:tblGrid>
              <a:tr h="5143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物料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建议规格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购买时机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 槽铝型材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4040，槽 8/10；最长单段 ≤1.5 m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24 m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</a:t>
                      </a:r>
                    </a:p>
                  </a:txBody>
                  <a:tcPr marL="76200" marR="76200" marT="38100" marB="3810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主框架 + 横梁，预留 15%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连接件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4040 角码、内置连接、M8 T 螺母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批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</a:t>
                      </a:r>
                    </a:p>
                  </a:txBody>
                  <a:tcPr marL="76200" marR="76200" marT="38100" marB="3810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同一槽型体系，不混品牌尺寸</a:t>
                      </a:r>
                    </a:p>
                  </a:txBody>
                  <a:tcPr marL="76200" marR="76200" marT="38100" marB="38100" anchor="ctr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底脚组件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镀锌丝杆脚 + 200×200×8 mm 底板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套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</a:t>
                      </a:r>
                    </a:p>
                  </a:txBody>
                  <a:tcPr marL="76200" marR="76200" marT="38100" marB="3810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承载与防松需核实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压载/锚固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 L 水袋 ×4；拉索与多地面锚点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套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</a:t>
                      </a:r>
                    </a:p>
                  </a:txBody>
                  <a:tcPr marL="76200" marR="76200" marT="38100" marB="3810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室内试验先用砝码替代</a:t>
                      </a:r>
                    </a:p>
                  </a:txBody>
                  <a:tcPr marL="76200" marR="76200" marT="38100" marB="38100" anchor="ctr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户外箱体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PC/GRP，IP66，约 600×500×250 mm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个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</a:t>
                      </a:r>
                    </a:p>
                  </a:txBody>
                  <a:tcPr marL="76200" marR="76200" marT="38100" marB="3810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通信/电源分箱，带安装背板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安装板与紧固件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6061 铝板 3/5/8 mm；304 M5/M6/M8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批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</a:t>
                      </a:r>
                    </a:p>
                  </a:txBody>
                  <a:tcPr marL="76200" marR="76200" marT="38100" marB="3810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异种金属处加绝缘垫片</a:t>
                      </a:r>
                    </a:p>
                  </a:txBody>
                  <a:tcPr marL="76200" marR="76200" marT="38100" marB="38100" anchor="ctr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电缆附件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IP68 格兰头、拖链/波纹管、号码管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批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</a:t>
                      </a:r>
                    </a:p>
                  </a:txBody>
                  <a:tcPr marL="76200" marR="76200" marT="38100" marB="3810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20% 备用量购买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BF2F2-B72B-41CD-A3D9-2E20CB23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先买结构系统，是为了尽快搭出 1:1 空间样机并暴露接口问题。</a:t>
            </a:r>
          </a:p>
        </p:txBody>
      </p:sp>
    </p:spTree>
    <p:extLst>
      <p:ext uri="{BB962C8B-B14F-4D97-AF65-F5344CB8AC3E}">
        <p14:creationId xmlns:p14="http://schemas.microsoft.com/office/powerpoint/2010/main" val="21256444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3C912-1B8B-4A05-92A1-5C03B669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11 · 首轮采购清单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F7532-CCDA-44C1-A986-F930C620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电气与通信：先买平台件，充电器等电池接口确定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C88E3-EED2-485B-A2F7-F2FD2AAC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A7427-4FA3-4703-81F8-448270EB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中心基站塔 · 内部工程沟通 V0.1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F2868-92C6-42A5-99EE-B27A6227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676400"/>
          <a:ext xmlns:a="http://schemas.openxmlformats.org/drawingml/2006/main" cx="112776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3810000"/>
                <a:gridCol w="1066800"/>
                <a:gridCol w="1371600"/>
                <a:gridCol w="3200400"/>
              </a:tblGrid>
              <a:tr h="4826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物料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建议规格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购买时机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锁定条件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储能电池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51.2 V / 100 Ah LiFePO₄，带 BMS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</a:t>
                      </a:r>
                    </a:p>
                  </a:txBody>
                  <a:tcPr marL="76200" marR="76200" marT="38100" marB="3810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确认可室内测试与通信接口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AC/DC 电源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 V / 1 kW 级，PFC，远程开关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</a:t>
                      </a:r>
                    </a:p>
                  </a:txBody>
                  <a:tcPr marL="76200" marR="76200" marT="38100" marB="3810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机箱散热与峰值负载</a:t>
                      </a:r>
                    </a:p>
                  </a:txBody>
                  <a:tcPr marL="76200" marR="76200" marT="38100" marB="38100" anchor="ctr"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MPPT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150 V / 35 A，支持 48 V 电池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</a:t>
                      </a:r>
                    </a:p>
                  </a:txBody>
                  <a:tcPr marL="76200" marR="76200" marT="38100" marB="3810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PV 开路电压不超限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光伏组件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430–450 W，铝框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</a:t>
                      </a:r>
                    </a:p>
                  </a:txBody>
                  <a:tcPr marL="76200" marR="76200" marT="38100" marB="3810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先做单板；确认支架风载</a:t>
                      </a:r>
                    </a:p>
                  </a:txBody>
                  <a:tcPr marL="76200" marR="76200" marT="38100" marB="38100" anchor="ctr"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配电与保护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DC 断路器、熔断、SPD、电流/电压采集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批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</a:t>
                      </a:r>
                    </a:p>
                  </a:txBody>
                  <a:tcPr marL="76200" marR="76200" marT="38100" marB="3810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额定 DC 电压与分断能力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户外 CPE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GHz、IP65、PoE、定向高增益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</a:t>
                      </a:r>
                    </a:p>
                  </a:txBody>
                  <a:tcPr marL="76200" marR="76200" marT="38100" marB="3810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一对点对点链路</a:t>
                      </a:r>
                    </a:p>
                  </a:txBody>
                  <a:tcPr marL="76200" marR="76200" marT="38100" marB="38100" anchor="ctr"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船载充电器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每槽 150–300 W，匹配电池协议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2–4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后买</a:t>
                      </a:r>
                    </a:p>
                  </a:txBody>
                  <a:tcPr marL="76200" marR="76200" marT="38100" marB="3810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电池电压/插头/BMS 协议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自动对接件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导向锥、柔顺触点、限位/电流检测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套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后买</a:t>
                      </a:r>
                    </a:p>
                  </a:txBody>
                  <a:tcPr marL="76200" marR="76200" marT="38100" marB="3810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船体姿态与停靠公差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18831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5B3BBF-D79D-43C5-8918-77138758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12 · 实施顺序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368BE-5601-436B-9485-265FBC80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三轮迭代后再决定是否做自动对接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DE9F6-CB65-428A-9B54-0B0E5EAB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4E6E3-8B19-41E9-BD20-FB05581F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中心基站塔 · 内部工程沟通 V0.1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ED33D-D347-4FD2-ABB3-55C212A5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10F05-40BF-42CC-9422-D70436ED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895A7-0A44-4180-B72D-4F50BADD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3E106-D721-4BB4-A480-A200D8D2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第 1 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D5812-D645-40D4-89E0-0E6DAD07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1:1 结构与箱体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18512-1608-483E-A97E-DA6985DF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搭架、布线、装配</a:t>
            </a:r>
          </a:p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验证搬运与维护空间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DDDEE-D356-4C06-9A42-5D5BECE5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0F727-28B6-4DAB-B49B-CFDCB23E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66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第 2 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06A0C-264E-4959-8BD1-FD642171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86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上电与链路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FC69DD-6CAF-414F-B0AD-58C16801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624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48 V 母线、保护</a:t>
            </a:r>
          </a:p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通信覆盖、24 h 运行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F54E1-DD95-4177-8584-C9B55DF3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A904F-01A2-4D5B-AC13-E3518DA9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66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第 3 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A6C45-CE6D-4357-BF8E-700FDBBB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86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换电与环境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AC181B-B5C2-4942-8FFC-97FDA582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624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两槽充电、温升</a:t>
            </a:r>
          </a:p>
          <a:p xmlns:a="http://schemas.openxmlformats.org/drawingml/2006/main">
            <a:pPr algn="l">
              <a:def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36B"/>
                </a:solidFill>
                <a:latin typeface="Microsoft YaHei"/>
                <a:ea typeface="Microsoft YaHei"/>
                <a:cs typeface="Microsoft YaHei"/>
              </a:rPr>
              <a:t>淋雨、倾斜、压载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466CE-5998-4E10-A8AA-6DA71807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F11462-4519-4C91-B781-C9537E11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66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决策门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0678DE-421B-44A8-80DC-C423799E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86150"/>
            <a:ext cx="1762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是否进入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自动对接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15384D-1F9C-481A-9E68-A00B85FD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92CDE-3F30-4E09-B3D3-3BADF537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本周需要团队确认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33DD05-E05C-4C58-85D4-CB780E1A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1020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船载电池电压/容量   ② 同时充电数量   ③ 目标部署地面与积水深度   ④ 通信回传距离</a:t>
            </a:r>
          </a:p>
        </p:txBody>
      </p:sp>
    </p:spTree>
    <p:extLst>
      <p:ext uri="{BB962C8B-B14F-4D97-AF65-F5344CB8AC3E}">
        <p14:creationId xmlns:p14="http://schemas.microsoft.com/office/powerpoint/2010/main" val="1472029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2026-09-01T07:08:42.0210000Z</dcterms:created>
  <dcterms:modified xsi:type="dcterms:W3CDTF">2026-09-01T07:08:42.0210000Z</dcterms:modified>
</coreProperties>
</file>