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b216e6f1c424066" /><Relationship Type="http://schemas.openxmlformats.org/officeDocument/2006/relationships/extended-properties" Target="/docProps/app.xml" Id="Rc1345dc93d15478a" /><Relationship Type="http://schemas.openxmlformats.org/officeDocument/2006/relationships/officeDocument" Target="/ppt/presentation.xml" Id="R9270db0c34c84f0f" /></Relationships>
</file>

<file path=ppt/presentation.xml><?xml version="1.0" encoding="utf-8"?>
<p:presentation xmlns:p="http://schemas.openxmlformats.org/presentationml/2006/main" embedTrueTypeFonts="1" saveSubsetFonts="1">
  <p:sldMasterIdLst>
    <p:sldMasterId xmlns:r="http://schemas.openxmlformats.org/officeDocument/2006/relationships" id="2147483648" r:id="R921ccd2cd6044aea"/>
  </p:sldMasterIdLst>
  <p:notesMasterIdLst>
    <p:notesMasterId xmlns:r="http://schemas.openxmlformats.org/officeDocument/2006/relationships" r:id="Re71f9ea5e2cb449a"/>
  </p:notesMasterIdLst>
  <p:sldIdLst>
    <p:sldId xmlns:r="http://schemas.openxmlformats.org/officeDocument/2006/relationships" id="256" r:id="Rb192cf61698548da"/>
  </p:sldIdLst>
  <p:sldSz cx="12192000" cy="6858000"/>
  <p:notesSz cx="6858000" cy="9144000"/>
  <p:embeddedFontLst>
    <p:embeddedFont>
      <p:font typeface="微软雅黑"/>
      <p:regular xmlns:r="http://schemas.openxmlformats.org/officeDocument/2006/relationships" r:id="R84f0648015dd4be8"/>
      <p:bold xmlns:r="http://schemas.openxmlformats.org/officeDocument/2006/relationships" r:id="R3f68bec364db415f"/>
    </p:embeddedFont>
    <p:embeddedFont>
      <p:font typeface="Calibri"/>
      <p:regular xmlns:r="http://schemas.openxmlformats.org/officeDocument/2006/relationships" r:id="Red13bc04806840a9"/>
      <p:bold xmlns:r="http://schemas.openxmlformats.org/officeDocument/2006/relationships" r:id="Re54dc5cbaab74c0f"/>
      <p:italic xmlns:r="http://schemas.openxmlformats.org/officeDocument/2006/relationships" r:id="Ra80ac7f516cc4404"/>
      <p:boldItalic xmlns:r="http://schemas.openxmlformats.org/officeDocument/2006/relationships" r:id="R0c047b60014a4e1c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52011fafab4421f" /><Relationship Type="http://schemas.openxmlformats.org/officeDocument/2006/relationships/slideMaster" Target="/ppt/slideMasters/slideMaster1.xml" Id="R921ccd2cd6044aea" /><Relationship Type="http://schemas.openxmlformats.org/officeDocument/2006/relationships/notesMaster" Target="/ppt/notesMasters/notesMaster1.xml" Id="Re71f9ea5e2cb449a" /><Relationship Type="http://schemas.openxmlformats.org/officeDocument/2006/relationships/presProps" Target="/ppt/presProps.xml" Id="Rf3b7c294bb3f442a" /><Relationship Type="http://schemas.openxmlformats.org/officeDocument/2006/relationships/viewProps" Target="/ppt/viewProps.xml" Id="R2bee9889afd145aa" /><Relationship Type="http://schemas.openxmlformats.org/officeDocument/2006/relationships/tableStyles" Target="/ppt/tableStyles.xml" Id="R7b9254d862d7405b" /><Relationship Type="http://schemas.openxmlformats.org/officeDocument/2006/relationships/font" Target="/ppt/fonts/font.dat" Id="R84f0648015dd4be8" /><Relationship Type="http://schemas.openxmlformats.org/officeDocument/2006/relationships/font" Target="/ppt/fonts/font2.dat" Id="R3f68bec364db415f" /><Relationship Type="http://schemas.openxmlformats.org/officeDocument/2006/relationships/font" Target="/ppt/fonts/font3.dat" Id="Red13bc04806840a9" /><Relationship Type="http://schemas.openxmlformats.org/officeDocument/2006/relationships/font" Target="/ppt/fonts/font4.dat" Id="Re54dc5cbaab74c0f" /><Relationship Type="http://schemas.openxmlformats.org/officeDocument/2006/relationships/font" Target="/ppt/fonts/font5.dat" Id="Ra80ac7f516cc4404" /><Relationship Type="http://schemas.openxmlformats.org/officeDocument/2006/relationships/font" Target="/ppt/fonts/font6.dat" Id="R0c047b60014a4e1c" /><Relationship Type="http://schemas.openxmlformats.org/officeDocument/2006/relationships/slide" Target="/ppt/slides/slide1.xml" Id="Rb192cf61698548d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82666d604f0445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081c0e21ada40d3" /><Relationship Type="http://schemas.openxmlformats.org/officeDocument/2006/relationships/notesMaster" Target="/ppt/notesMasters/notesMaster1.xml" Id="Re7364eeacc4d4ff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所述为城市方舟的完整系统设想与未来拓展方向。系统级创新体现在家庭需求、船队任务、基站通信与补能的联动，不主张各单项技术为首次提出。现有视觉识别、船体定位和网页控制原型，为后续系统集成提供基础；不将全自主船队、灾时通信和自主补能表述为已实现成果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F:/gugugaga/04 目前进展/水陆两栖应急配送舰队_概念方案.pptx，系统、船队、终端与调度设想。</a:t>
            </a:r>
            <a:endParaRPr/>
          </a:p>
          <a:p xmlns:a="http://schemas.openxmlformats.org/drawingml/2006/main">
            <a:r>
              <a:t>F:/gugugaga/05 开题报告/概念构思.pptx，基站快速部署、应急通信与自主补能设想及视觉模板。</a:t>
            </a:r>
            <a:endParaRPr/>
          </a:p>
          <a:p xmlns:a="http://schemas.openxmlformats.org/drawingml/2006/main">
            <a:r>
              <a:t>F:/gugugaga/docs/城市方舟实时搜救系统使用手册.md，现有原型能力边界。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4728c697e944d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af44e146e7428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8b1de2be2544c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0c7c8c81dd4a0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6249a4b01c41a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81492bdd0844d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6ff9fa7180411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4e54386c824e2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739fc458d8424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8ea5de8a704f39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CB185DA-A482-49D1-9F48-EF36397EA2D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3968" y="1361313"/>
            <a:ext cx="9144000" cy="238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F719052A-F21D-4BB7-BFFD-A1B793646FB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3968" y="384098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7FBC511-FB0F-4A24-8E70-F28AF97320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184" y="523097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B7EDBE05-5525-4109-B66D-E4BF639B1C7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184" y="1983597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4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04FA165-0E19-4791-BD0F-9B421D1698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5A950EF5-B72D-452C-A7C4-44C793030F5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CA5DE29-E5A3-481A-9BDA-288A61FDC4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184" y="523097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EE5A8BED-3FC5-4A15-B6BC-FB84A3142B7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184" y="1983597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AD3887C4-CCF9-4C05-87E6-FBD98A3F7ED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184" y="1983597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E1E0E04-F0EE-415A-82E4-7B5F856704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039" y="516256"/>
            <a:ext cx="10515890" cy="13243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1654D227-3C63-4B69-8004-6A806395739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039" y="1935192"/>
            <a:ext cx="5163349" cy="827712"/>
          </a:xfrm>
        </p:spPr>
        <p:txBody>
          <a:bodyPr xmlns:a="http://schemas.openxmlformats.org/drawingml/2006/main" anchor="ctr"/>
          <a:lstStyle xmlns:a="http://schemas.openxmlformats.org/drawingml/2006/main"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C97A1F31-C89B-4BC7-8EFB-996045D6FD0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8039" y="2818085"/>
            <a:ext cx="5163349" cy="352369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6A6CDFEA-D87E-467C-8088-99D74667258F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66931" y="1935192"/>
            <a:ext cx="5186998" cy="827712"/>
          </a:xfrm>
        </p:spPr>
        <p:txBody>
          <a:bodyPr xmlns:a="http://schemas.openxmlformats.org/drawingml/2006/main" anchor="ctr"/>
          <a:lstStyle xmlns:a="http://schemas.openxmlformats.org/drawingml/2006/main"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AF428C3F-AB81-4897-8CF5-608F34DF48A5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66931" y="2818085"/>
            <a:ext cx="5186998" cy="352369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26EF64F-7D56-48FB-BCF5-522C03A0A1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168" y="523113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3B212C2-0BEA-4BF6-B2E5-4080F557FC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184" y="723122"/>
            <a:ext cx="4165349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B00F654F-48A1-4B0A-B42B-02A031140C22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1584" y="723123"/>
            <a:ext cx="6172200" cy="540385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9988A930-1C96-4813-B857-50F81765518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8184" y="2323322"/>
            <a:ext cx="4165349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9D392B04-08B7-4848-8CBE-0FBAFD7968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884" y="523097"/>
            <a:ext cx="2628900" cy="58118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62EDB4F9-69B6-4ED4-B4CD-729BA3C908F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184" y="523097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>
  <p:cSld name="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内容占位符 1">
            <a:extLst xmlns:a="http://schemas.openxmlformats.org/drawingml/2006/main">
              <a:ext uri="{FF2B5EF4-FFF2-40B4-BE49-F238E27FC236}">
                <a16:creationId xmlns:a16="http://schemas.microsoft.com/office/drawing/2014/main" id="{000D2920-D465-4660-9794-ED40AB8F94D8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838184" y="523097"/>
            <a:ext cx="10515600" cy="58118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d375043790bb40ac" /><Relationship Type="http://schemas.openxmlformats.org/officeDocument/2006/relationships/theme" Target="/ppt/slideMasters/theme/theme2.xml" Id="Rd2317be275a24036" /><Relationship Type="http://schemas.openxmlformats.org/officeDocument/2006/relationships/slideLayout" Target="/ppt/slideLayouts/slideLayout1.xml" Id="Re02af88e4fb64ac4" /><Relationship Type="http://schemas.openxmlformats.org/officeDocument/2006/relationships/slideLayout" Target="/ppt/slideLayouts/slideLayout2.xml" Id="R82aa79df3a7645c7" /><Relationship Type="http://schemas.openxmlformats.org/officeDocument/2006/relationships/slideLayout" Target="/ppt/slideLayouts/slideLayout3.xml" Id="Rd73b346d05fe40ca" /><Relationship Type="http://schemas.openxmlformats.org/officeDocument/2006/relationships/slideLayout" Target="/ppt/slideLayouts/slideLayout4.xml" Id="Rcc6b48036e974f46" /><Relationship Type="http://schemas.openxmlformats.org/officeDocument/2006/relationships/slideLayout" Target="/ppt/slideLayouts/slideLayout5.xml" Id="Rd5f8a7d1e86f4f16" /><Relationship Type="http://schemas.openxmlformats.org/officeDocument/2006/relationships/slideLayout" Target="/ppt/slideLayouts/slideLayout6.xml" Id="R75962f16520746e3" /><Relationship Type="http://schemas.openxmlformats.org/officeDocument/2006/relationships/slideLayout" Target="/ppt/slideLayouts/slideLayout7.xml" Id="R023b50b3a4004524" /><Relationship Type="http://schemas.openxmlformats.org/officeDocument/2006/relationships/slideLayout" Target="/ppt/slideLayouts/slideLayout8.xml" Id="R84eb10366f064a87" /><Relationship Type="http://schemas.openxmlformats.org/officeDocument/2006/relationships/slideLayout" Target="/ppt/slideLayouts/slideLayout9.xml" Id="R0279a41996394b55" /><Relationship Type="http://schemas.openxmlformats.org/officeDocument/2006/relationships/slideLayout" Target="/ppt/slideLayouts/slideLayout10.xml" Id="R876ceabb890547dc" /></Relationships>
</file>

<file path=ppt/slideMasters/slideMaster1.xml><?xml version="1.0" encoding="utf-8"?>
<p:sldMaster xmlns:p="http://schemas.openxmlformats.org/presentationml/2006/main">
  <p:cSld>
    <p:bg>
      <p:bgPr>
        <a:noFill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75043790bb40ac">
            <a:alphaModFix amt="10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12670" y="0"/>
            <a:ext cx="7566660" cy="6858635"/>
          </a:xfrm>
          <a:prstGeom xmlns:a="http://schemas.openxmlformats.org/drawingml/2006/main" prst="rect">
            <a:avLst/>
          </a:prstGeom>
        </p:spPr>
      </p:pic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CAE60064-0608-4E84-8079-B161793860E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168" y="1983613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  <a:p xmlns:a="http://schemas.openxmlformats.org/drawingml/2006/main">
            <a:pPr lvl="5">
              <a:buNone/>
            </a:pPr>
            <a:r>
              <a:t>第六级</a:t>
            </a:r>
            <a:endParaRPr/>
          </a:p>
          <a:p xmlns:a="http://schemas.openxmlformats.org/drawingml/2006/main">
            <a:pPr marL="2971800" marR="0" lvl="6" indent="-228600" algn="l" defTabSz="914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</a:pPr>
            <a:r>
              <a:t>第七级</a:t>
            </a:r>
            <a:endParaRPr/>
          </a:p>
          <a:p xmlns:a="http://schemas.openxmlformats.org/drawingml/2006/main">
            <a:pPr marL="3429000" marR="0" lvl="7" indent="-228600" algn="l" defTabSz="914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</a:pPr>
            <a:r>
              <a:t>第八级</a:t>
            </a:r>
            <a:endParaRPr/>
          </a:p>
          <a:p xmlns:a="http://schemas.openxmlformats.org/drawingml/2006/main">
            <a:pPr marL="3886200" marR="0" lvl="8" indent="-228600" algn="l" defTabSz="914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</a:pPr>
            <a:r>
              <a:t>第九级</a:t>
            </a:r>
            <a:endParaRPr/>
          </a:p>
          <a:p xmlns:a="http://schemas.openxmlformats.org/drawingml/2006/main">
            <a:pPr marL="3886200" marR="0" lvl="8" indent="-228600" algn="l" defTabSz="914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</a:pPr>
            <a:endParaRPr/>
          </a:p>
          <a:p xmlns:a="http://schemas.openxmlformats.org/drawingml/2006/main">
            <a:pPr lvl="5">
              <a:buNone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02af88e4fb64ac4"/>
    <p:sldLayoutId xmlns:r="http://schemas.openxmlformats.org/officeDocument/2006/relationships" id="2147483650" r:id="R82aa79df3a7645c7"/>
    <p:sldLayoutId xmlns:r="http://schemas.openxmlformats.org/officeDocument/2006/relationships" id="2147483651" r:id="Rd73b346d05fe40ca"/>
    <p:sldLayoutId xmlns:r="http://schemas.openxmlformats.org/officeDocument/2006/relationships" id="2147483652" r:id="Rcc6b48036e974f46"/>
    <p:sldLayoutId xmlns:r="http://schemas.openxmlformats.org/officeDocument/2006/relationships" id="2147483653" r:id="Rd5f8a7d1e86f4f16"/>
    <p:sldLayoutId xmlns:r="http://schemas.openxmlformats.org/officeDocument/2006/relationships" id="2147483654" r:id="R75962f16520746e3"/>
    <p:sldLayoutId xmlns:r="http://schemas.openxmlformats.org/officeDocument/2006/relationships" id="2147483655" r:id="R023b50b3a4004524"/>
    <p:sldLayoutId xmlns:r="http://schemas.openxmlformats.org/officeDocument/2006/relationships" id="2147483656" r:id="R84eb10366f064a87"/>
    <p:sldLayoutId xmlns:r="http://schemas.openxmlformats.org/officeDocument/2006/relationships" id="2147483657" r:id="R0279a41996394b55"/>
    <p:sldLayoutId xmlns:r="http://schemas.openxmlformats.org/officeDocument/2006/relationships" id="2147483658" r:id="R876ceabb890547dc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/>
          <a:ea typeface="微软雅黑"/>
          <a:cs typeface="微软雅黑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微软雅黑"/>
          <a:ea typeface="微软雅黑"/>
          <a:cs typeface="微软雅黑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微软雅黑"/>
          <a:ea typeface="微软雅黑"/>
          <a:cs typeface="微软雅黑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微软雅黑"/>
          <a:ea typeface="微软雅黑"/>
          <a:cs typeface="微软雅黑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微软雅黑"/>
          <a:ea typeface="微软雅黑"/>
          <a:cs typeface="微软雅黑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微软雅黑"/>
          <a:ea typeface="微软雅黑"/>
          <a:cs typeface="微软雅黑"/>
        </a:defRPr>
      </a:lvl5pPr>
      <a:lvl6pPr xmlns:a="http://schemas.openxmlformats.org/drawingml/2006/main" marL="2514600" marR="0" indent="-228600" algn="l" defTabSz="914400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/>
        <a:buChar char="•"/>
        <a:defRPr sz="2400" kern="1200">
          <a:solidFill>
            <a:schemeClr val="tx1"/>
          </a:solidFill>
          <a:latin typeface="微软雅黑"/>
          <a:ea typeface="微软雅黑"/>
          <a:cs typeface="微软雅黑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微软雅黑"/>
          <a:ea typeface="微软雅黑"/>
          <a:cs typeface="微软雅黑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微软雅黑"/>
          <a:ea typeface="微软雅黑"/>
          <a:cs typeface="微软雅黑"/>
        </a:defRPr>
      </a:lvl8pPr>
      <a:lvl9pPr xmlns:a="http://schemas.openxmlformats.org/drawingml/2006/main" marL="3657600" indent="0" algn="l" defTabSz="914400">
        <a:lnSpc>
          <a:spcPct val="90000"/>
        </a:lnSpc>
        <a:spcBef>
          <a:spcPts val="500"/>
        </a:spcBef>
        <a:buFont typeface="Arial"/>
        <a:buNone/>
        <a:defRPr sz="2400" kern="1200">
          <a:solidFill>
            <a:schemeClr val="tx1"/>
          </a:solidFill>
          <a:latin typeface="微软雅黑"/>
          <a:ea typeface="微软雅黑"/>
          <a:cs typeface="微软雅黑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460b3dcb3844c3c" /><Relationship Type="http://schemas.openxmlformats.org/officeDocument/2006/relationships/notesSlide" Target="/ppt/notesSlides/notesSlide1.xml" Id="Ra72a1d22e1bd44f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五边形">
            <a:extLst xmlns:a="http://schemas.openxmlformats.org/drawingml/2006/main">
              <a:ext uri="{FF2B5EF4-FFF2-40B4-BE49-F238E27FC236}">
                <a16:creationId xmlns:a16="http://schemas.microsoft.com/office/drawing/2014/main" id="{88E040DD-2D48-41BC-BDE1-D36D0861A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38667" y="511331"/>
            <a:ext cx="731860" cy="908048"/>
          </a:xfrm>
          <a:custGeom xmlns:a="http://schemas.openxmlformats.org/drawingml/2006/main">
            <a:gdLst>
              <a:gd name="connsiteX0" fmla="*/ 0 w 685800"/>
              <a:gd name="connsiteY0" fmla="*/ 0 h 1104900"/>
              <a:gd name="connsiteX1" fmla="*/ 685800 w 685800"/>
              <a:gd name="connsiteY1" fmla="*/ 0 h 1104900"/>
              <a:gd name="connsiteX2" fmla="*/ 685800 w 685800"/>
              <a:gd name="connsiteY2" fmla="*/ 1104900 h 1104900"/>
              <a:gd name="connsiteX3" fmla="*/ 0 w 685800"/>
              <a:gd name="connsiteY3" fmla="*/ 1104900 h 1104900"/>
              <a:gd name="connsiteX4" fmla="*/ 0 w 685800"/>
              <a:gd name="connsiteY4" fmla="*/ 0 h 1104900"/>
              <a:gd name="connsiteX0-1" fmla="*/ 0 w 685800"/>
              <a:gd name="connsiteY0-2" fmla="*/ 0 h 1104900"/>
              <a:gd name="connsiteX1-3" fmla="*/ 685800 w 685800"/>
              <a:gd name="connsiteY1-4" fmla="*/ 0 h 1104900"/>
              <a:gd name="connsiteX2-5" fmla="*/ 685800 w 685800"/>
              <a:gd name="connsiteY2-6" fmla="*/ 1104900 h 1104900"/>
              <a:gd name="connsiteX3-7" fmla="*/ 342900 w 685800"/>
              <a:gd name="connsiteY3-8" fmla="*/ 1092200 h 1104900"/>
              <a:gd name="connsiteX4-9" fmla="*/ 0 w 685800"/>
              <a:gd name="connsiteY4-10" fmla="*/ 1104900 h 1104900"/>
              <a:gd name="connsiteX5" fmla="*/ 0 w 685800"/>
              <a:gd name="connsiteY5" fmla="*/ 0 h 1104900"/>
              <a:gd name="connsiteX0-11" fmla="*/ 0 w 685800"/>
              <a:gd name="connsiteY0-12" fmla="*/ 0 h 1295400"/>
              <a:gd name="connsiteX1-13" fmla="*/ 685800 w 685800"/>
              <a:gd name="connsiteY1-14" fmla="*/ 0 h 1295400"/>
              <a:gd name="connsiteX2-15" fmla="*/ 685800 w 685800"/>
              <a:gd name="connsiteY2-16" fmla="*/ 1104900 h 1295400"/>
              <a:gd name="connsiteX3-17" fmla="*/ 342900 w 685800"/>
              <a:gd name="connsiteY3-18" fmla="*/ 1295400 h 1295400"/>
              <a:gd name="connsiteX4-19" fmla="*/ 0 w 685800"/>
              <a:gd name="connsiteY4-20" fmla="*/ 1104900 h 1295400"/>
              <a:gd name="connsiteX5-21" fmla="*/ 0 w 685800"/>
              <a:gd name="connsiteY5-22" fmla="*/ 0 h 1295400"/>
            </a:gdLst>
            <a:rect l="l" t="t" r="r" b="b"/>
            <a:pathLst>
              <a:path w="685800" h="1295400">
                <a:moveTo>
                  <a:pt x="0" y="0"/>
                </a:moveTo>
                <a:lnTo>
                  <a:pt x="685800" y="0"/>
                </a:lnTo>
                <a:lnTo>
                  <a:pt x="685800" y="1104900"/>
                </a:lnTo>
                <a:lnTo>
                  <a:pt x="342900" y="1295400"/>
                </a:lnTo>
                <a:lnTo>
                  <a:pt x="0" y="11049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121920" tIns="60960" rIns="121920" bIns="6096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Strong Preparation">
            <a:extLst xmlns:a="http://schemas.openxmlformats.org/drawingml/2006/main">
              <a:ext uri="{FF2B5EF4-FFF2-40B4-BE49-F238E27FC236}">
                <a16:creationId xmlns:a16="http://schemas.microsoft.com/office/drawing/2014/main" id="{7976CCAD-C86A-4C14-ADB8-A01A12416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44632" y="1054275"/>
            <a:ext cx="2623384" cy="28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endParaRPr sz="1050">
              <a:solidFill>
                <a:prstClr val="white">
                  <a:lumMod val="50000"/>
                </a:prst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基础扎实">
            <a:extLst xmlns:a="http://schemas.openxmlformats.org/drawingml/2006/main">
              <a:ext uri="{FF2B5EF4-FFF2-40B4-BE49-F238E27FC236}">
                <a16:creationId xmlns:a16="http://schemas.microsoft.com/office/drawing/2014/main" id="{07E67B7A-86E8-41B0-A1D2-60F1B8C42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1984" y="568540"/>
            <a:ext cx="5462809" cy="4857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l" defTabSz="457200">
              <a:lnSpc>
                <a:spcPct val="120000"/>
              </a:lnSpc>
              <a:buNone/>
            </a:pPr>
            <a:r>
              <a:rPr sz="2500" b="1">
                <a:solidFill>
                  <a:srgbClr val="0039A6"/>
                </a:solidFill>
                <a:latin typeface="思源黑体"/>
                <a:ea typeface="思源黑体"/>
                <a:cs typeface="思源黑体"/>
              </a:rPr>
              <a:t>创新点：项目的未来设想</a:t>
            </a:r>
            <a:endParaRPr sz="2800" b="1" spc="300">
              <a:solidFill>
                <a:srgbClr val="003399"/>
              </a:solidFill>
            </a:endParaRPr>
          </a:p>
        </p:txBody>
      </p:sp>
      <p:sp>
        <p:nvSpPr>
          <p:cNvPr id="9" name="齿轮">
            <a:extLst xmlns:a="http://schemas.openxmlformats.org/drawingml/2006/main">
              <a:ext uri="{FF2B5EF4-FFF2-40B4-BE49-F238E27FC236}">
                <a16:creationId xmlns:a16="http://schemas.microsoft.com/office/drawing/2014/main" id="{1BAC2345-D4E2-438A-B267-5D77818DD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3953" y="764313"/>
            <a:ext cx="401288" cy="402081"/>
          </a:xfrm>
          <a:custGeom xmlns:a="http://schemas.openxmlformats.org/drawingml/2006/main">
            <a:gdLst>
              <a:gd name="T0" fmla="*/ 3717 w 3906"/>
              <a:gd name="T1" fmla="*/ 1560 h 3920"/>
              <a:gd name="T2" fmla="*/ 3475 w 3906"/>
              <a:gd name="T3" fmla="*/ 1560 h 3920"/>
              <a:gd name="T4" fmla="*/ 3313 w 3906"/>
              <a:gd name="T5" fmla="*/ 1170 h 3920"/>
              <a:gd name="T6" fmla="*/ 3491 w 3906"/>
              <a:gd name="T7" fmla="*/ 992 h 3920"/>
              <a:gd name="T8" fmla="*/ 3491 w 3906"/>
              <a:gd name="T9" fmla="*/ 709 h 3920"/>
              <a:gd name="T10" fmla="*/ 3215 w 3906"/>
              <a:gd name="T11" fmla="*/ 433 h 3920"/>
              <a:gd name="T12" fmla="*/ 3074 w 3906"/>
              <a:gd name="T13" fmla="*/ 374 h 3920"/>
              <a:gd name="T14" fmla="*/ 2932 w 3906"/>
              <a:gd name="T15" fmla="*/ 433 h 3920"/>
              <a:gd name="T16" fmla="*/ 2752 w 3906"/>
              <a:gd name="T17" fmla="*/ 609 h 3920"/>
              <a:gd name="T18" fmla="*/ 2346 w 3906"/>
              <a:gd name="T19" fmla="*/ 442 h 3920"/>
              <a:gd name="T20" fmla="*/ 2346 w 3906"/>
              <a:gd name="T21" fmla="*/ 200 h 3920"/>
              <a:gd name="T22" fmla="*/ 2153 w 3906"/>
              <a:gd name="T23" fmla="*/ 0 h 3920"/>
              <a:gd name="T24" fmla="*/ 1762 w 3906"/>
              <a:gd name="T25" fmla="*/ 0 h 3920"/>
              <a:gd name="T26" fmla="*/ 1560 w 3906"/>
              <a:gd name="T27" fmla="*/ 200 h 3920"/>
              <a:gd name="T28" fmla="*/ 1560 w 3906"/>
              <a:gd name="T29" fmla="*/ 442 h 3920"/>
              <a:gd name="T30" fmla="*/ 1174 w 3906"/>
              <a:gd name="T31" fmla="*/ 601 h 3920"/>
              <a:gd name="T32" fmla="*/ 1009 w 3906"/>
              <a:gd name="T33" fmla="*/ 435 h 3920"/>
              <a:gd name="T34" fmla="*/ 726 w 3906"/>
              <a:gd name="T35" fmla="*/ 435 h 3920"/>
              <a:gd name="T36" fmla="*/ 450 w 3906"/>
              <a:gd name="T37" fmla="*/ 711 h 3920"/>
              <a:gd name="T38" fmla="*/ 450 w 3906"/>
              <a:gd name="T39" fmla="*/ 994 h 3920"/>
              <a:gd name="T40" fmla="*/ 611 w 3906"/>
              <a:gd name="T41" fmla="*/ 1155 h 3920"/>
              <a:gd name="T42" fmla="*/ 441 w 3906"/>
              <a:gd name="T43" fmla="*/ 1560 h 3920"/>
              <a:gd name="T44" fmla="*/ 204 w 3906"/>
              <a:gd name="T45" fmla="*/ 1560 h 3920"/>
              <a:gd name="T46" fmla="*/ 0 w 3906"/>
              <a:gd name="T47" fmla="*/ 1761 h 3920"/>
              <a:gd name="T48" fmla="*/ 0 w 3906"/>
              <a:gd name="T49" fmla="*/ 2152 h 3920"/>
              <a:gd name="T50" fmla="*/ 204 w 3906"/>
              <a:gd name="T51" fmla="*/ 2347 h 3920"/>
              <a:gd name="T52" fmla="*/ 439 w 3906"/>
              <a:gd name="T53" fmla="*/ 2347 h 3920"/>
              <a:gd name="T54" fmla="*/ 608 w 3906"/>
              <a:gd name="T55" fmla="*/ 2754 h 3920"/>
              <a:gd name="T56" fmla="*/ 448 w 3906"/>
              <a:gd name="T57" fmla="*/ 2916 h 3920"/>
              <a:gd name="T58" fmla="*/ 448 w 3906"/>
              <a:gd name="T59" fmla="*/ 3199 h 3920"/>
              <a:gd name="T60" fmla="*/ 724 w 3906"/>
              <a:gd name="T61" fmla="*/ 3476 h 3920"/>
              <a:gd name="T62" fmla="*/ 866 w 3906"/>
              <a:gd name="T63" fmla="*/ 3535 h 3920"/>
              <a:gd name="T64" fmla="*/ 1007 w 3906"/>
              <a:gd name="T65" fmla="*/ 3476 h 3920"/>
              <a:gd name="T66" fmla="*/ 1167 w 3906"/>
              <a:gd name="T67" fmla="*/ 3315 h 3920"/>
              <a:gd name="T68" fmla="*/ 1560 w 3906"/>
              <a:gd name="T69" fmla="*/ 3478 h 3920"/>
              <a:gd name="T70" fmla="*/ 1560 w 3906"/>
              <a:gd name="T71" fmla="*/ 3713 h 3920"/>
              <a:gd name="T72" fmla="*/ 1762 w 3906"/>
              <a:gd name="T73" fmla="*/ 3920 h 3920"/>
              <a:gd name="T74" fmla="*/ 2153 w 3906"/>
              <a:gd name="T75" fmla="*/ 3920 h 3920"/>
              <a:gd name="T76" fmla="*/ 2346 w 3906"/>
              <a:gd name="T77" fmla="*/ 3713 h 3920"/>
              <a:gd name="T78" fmla="*/ 2346 w 3906"/>
              <a:gd name="T79" fmla="*/ 3478 h 3920"/>
              <a:gd name="T80" fmla="*/ 2758 w 3906"/>
              <a:gd name="T81" fmla="*/ 3306 h 3920"/>
              <a:gd name="T82" fmla="*/ 2932 w 3906"/>
              <a:gd name="T83" fmla="*/ 3478 h 3920"/>
              <a:gd name="T84" fmla="*/ 3075 w 3906"/>
              <a:gd name="T85" fmla="*/ 3537 h 3920"/>
              <a:gd name="T86" fmla="*/ 3217 w 3906"/>
              <a:gd name="T87" fmla="*/ 3478 h 3920"/>
              <a:gd name="T88" fmla="*/ 3493 w 3906"/>
              <a:gd name="T89" fmla="*/ 3202 h 3920"/>
              <a:gd name="T90" fmla="*/ 3493 w 3906"/>
              <a:gd name="T91" fmla="*/ 2919 h 3920"/>
              <a:gd name="T92" fmla="*/ 3317 w 3906"/>
              <a:gd name="T93" fmla="*/ 2740 h 3920"/>
              <a:gd name="T94" fmla="*/ 3477 w 3906"/>
              <a:gd name="T95" fmla="*/ 2347 h 3920"/>
              <a:gd name="T96" fmla="*/ 3717 w 3906"/>
              <a:gd name="T97" fmla="*/ 2347 h 3920"/>
              <a:gd name="T98" fmla="*/ 3906 w 3906"/>
              <a:gd name="T99" fmla="*/ 2152 h 3920"/>
              <a:gd name="T100" fmla="*/ 3906 w 3906"/>
              <a:gd name="T101" fmla="*/ 1761 h 3920"/>
              <a:gd name="T102" fmla="*/ 3717 w 3906"/>
              <a:gd name="T103" fmla="*/ 1560 h 3920"/>
              <a:gd name="T104" fmla="*/ 2540 w 3906"/>
              <a:gd name="T105" fmla="*/ 1960 h 3920"/>
              <a:gd name="T106" fmla="*/ 1958 w 3906"/>
              <a:gd name="T107" fmla="*/ 2542 h 3920"/>
              <a:gd name="T108" fmla="*/ 1376 w 3906"/>
              <a:gd name="T109" fmla="*/ 1960 h 3920"/>
              <a:gd name="T110" fmla="*/ 1958 w 3906"/>
              <a:gd name="T111" fmla="*/ 1378 h 3920"/>
              <a:gd name="T112" fmla="*/ 2540 w 3906"/>
              <a:gd name="T113" fmla="*/ 1960 h 3920"/>
            </a:gdLst>
            <a:rect l="0" t="0" r="r" b="b"/>
            <a:pathLst>
              <a:path w="3906" h="3920">
                <a:moveTo>
                  <a:pt x="3717" y="1560"/>
                </a:moveTo>
                <a:lnTo>
                  <a:pt x="3475" y="1560"/>
                </a:lnTo>
                <a:cubicBezTo>
                  <a:pt x="3439" y="1427"/>
                  <a:pt x="3384" y="1291"/>
                  <a:pt x="3313" y="1170"/>
                </a:cubicBezTo>
                <a:lnTo>
                  <a:pt x="3491" y="992"/>
                </a:lnTo>
                <a:cubicBezTo>
                  <a:pt x="3570" y="914"/>
                  <a:pt x="3570" y="787"/>
                  <a:pt x="3491" y="709"/>
                </a:cubicBezTo>
                <a:lnTo>
                  <a:pt x="3215" y="433"/>
                </a:lnTo>
                <a:cubicBezTo>
                  <a:pt x="3177" y="395"/>
                  <a:pt x="3127" y="374"/>
                  <a:pt x="3074" y="374"/>
                </a:cubicBezTo>
                <a:cubicBezTo>
                  <a:pt x="3020" y="374"/>
                  <a:pt x="2970" y="395"/>
                  <a:pt x="2932" y="433"/>
                </a:cubicBezTo>
                <a:lnTo>
                  <a:pt x="2752" y="609"/>
                </a:lnTo>
                <a:cubicBezTo>
                  <a:pt x="2628" y="536"/>
                  <a:pt x="2493" y="479"/>
                  <a:pt x="2346" y="442"/>
                </a:cubicBezTo>
                <a:lnTo>
                  <a:pt x="2346" y="200"/>
                </a:lnTo>
                <a:cubicBezTo>
                  <a:pt x="2346" y="90"/>
                  <a:pt x="2264" y="0"/>
                  <a:pt x="2153" y="0"/>
                </a:cubicBezTo>
                <a:lnTo>
                  <a:pt x="1762" y="0"/>
                </a:lnTo>
                <a:cubicBezTo>
                  <a:pt x="1652" y="0"/>
                  <a:pt x="1560" y="90"/>
                  <a:pt x="1560" y="200"/>
                </a:cubicBezTo>
                <a:lnTo>
                  <a:pt x="1560" y="442"/>
                </a:lnTo>
                <a:cubicBezTo>
                  <a:pt x="1426" y="477"/>
                  <a:pt x="1294" y="531"/>
                  <a:pt x="1174" y="601"/>
                </a:cubicBezTo>
                <a:lnTo>
                  <a:pt x="1009" y="435"/>
                </a:lnTo>
                <a:cubicBezTo>
                  <a:pt x="930" y="357"/>
                  <a:pt x="804" y="357"/>
                  <a:pt x="726" y="435"/>
                </a:cubicBezTo>
                <a:lnTo>
                  <a:pt x="450" y="711"/>
                </a:lnTo>
                <a:cubicBezTo>
                  <a:pt x="372" y="789"/>
                  <a:pt x="372" y="916"/>
                  <a:pt x="450" y="994"/>
                </a:cubicBezTo>
                <a:lnTo>
                  <a:pt x="611" y="1155"/>
                </a:lnTo>
                <a:cubicBezTo>
                  <a:pt x="536" y="1280"/>
                  <a:pt x="478" y="1413"/>
                  <a:pt x="441" y="1560"/>
                </a:cubicBezTo>
                <a:lnTo>
                  <a:pt x="204" y="1560"/>
                </a:lnTo>
                <a:cubicBezTo>
                  <a:pt x="94" y="1560"/>
                  <a:pt x="0" y="1651"/>
                  <a:pt x="0" y="1761"/>
                </a:cubicBezTo>
                <a:lnTo>
                  <a:pt x="0" y="2152"/>
                </a:lnTo>
                <a:cubicBezTo>
                  <a:pt x="0" y="2263"/>
                  <a:pt x="94" y="2347"/>
                  <a:pt x="204" y="2347"/>
                </a:cubicBezTo>
                <a:lnTo>
                  <a:pt x="439" y="2347"/>
                </a:lnTo>
                <a:cubicBezTo>
                  <a:pt x="476" y="2493"/>
                  <a:pt x="534" y="2629"/>
                  <a:pt x="608" y="2754"/>
                </a:cubicBezTo>
                <a:lnTo>
                  <a:pt x="448" y="2916"/>
                </a:lnTo>
                <a:cubicBezTo>
                  <a:pt x="370" y="2994"/>
                  <a:pt x="370" y="3121"/>
                  <a:pt x="448" y="3199"/>
                </a:cubicBezTo>
                <a:lnTo>
                  <a:pt x="724" y="3476"/>
                </a:lnTo>
                <a:cubicBezTo>
                  <a:pt x="763" y="3515"/>
                  <a:pt x="815" y="3535"/>
                  <a:pt x="866" y="3535"/>
                </a:cubicBezTo>
                <a:cubicBezTo>
                  <a:pt x="917" y="3535"/>
                  <a:pt x="968" y="3515"/>
                  <a:pt x="1007" y="3476"/>
                </a:cubicBezTo>
                <a:lnTo>
                  <a:pt x="1167" y="3315"/>
                </a:lnTo>
                <a:cubicBezTo>
                  <a:pt x="1289" y="3386"/>
                  <a:pt x="1413" y="3441"/>
                  <a:pt x="1560" y="3478"/>
                </a:cubicBezTo>
                <a:lnTo>
                  <a:pt x="1560" y="3713"/>
                </a:lnTo>
                <a:cubicBezTo>
                  <a:pt x="1560" y="3824"/>
                  <a:pt x="1652" y="3920"/>
                  <a:pt x="1762" y="3920"/>
                </a:cubicBezTo>
                <a:lnTo>
                  <a:pt x="2153" y="3920"/>
                </a:lnTo>
                <a:cubicBezTo>
                  <a:pt x="2264" y="3920"/>
                  <a:pt x="2346" y="3824"/>
                  <a:pt x="2346" y="3713"/>
                </a:cubicBezTo>
                <a:lnTo>
                  <a:pt x="2346" y="3478"/>
                </a:lnTo>
                <a:cubicBezTo>
                  <a:pt x="2493" y="3440"/>
                  <a:pt x="2632" y="3381"/>
                  <a:pt x="2758" y="3306"/>
                </a:cubicBezTo>
                <a:lnTo>
                  <a:pt x="2932" y="3478"/>
                </a:lnTo>
                <a:cubicBezTo>
                  <a:pt x="2971" y="3518"/>
                  <a:pt x="3024" y="3537"/>
                  <a:pt x="3075" y="3537"/>
                </a:cubicBezTo>
                <a:cubicBezTo>
                  <a:pt x="3126" y="3537"/>
                  <a:pt x="3178" y="3518"/>
                  <a:pt x="3217" y="3478"/>
                </a:cubicBezTo>
                <a:lnTo>
                  <a:pt x="3493" y="3202"/>
                </a:lnTo>
                <a:cubicBezTo>
                  <a:pt x="3571" y="3124"/>
                  <a:pt x="3572" y="2997"/>
                  <a:pt x="3493" y="2919"/>
                </a:cubicBezTo>
                <a:lnTo>
                  <a:pt x="3317" y="2740"/>
                </a:lnTo>
                <a:cubicBezTo>
                  <a:pt x="3387" y="2619"/>
                  <a:pt x="3441" y="2493"/>
                  <a:pt x="3477" y="2347"/>
                </a:cubicBezTo>
                <a:lnTo>
                  <a:pt x="3717" y="2347"/>
                </a:lnTo>
                <a:cubicBezTo>
                  <a:pt x="3828" y="2347"/>
                  <a:pt x="3906" y="2263"/>
                  <a:pt x="3906" y="2152"/>
                </a:cubicBezTo>
                <a:lnTo>
                  <a:pt x="3906" y="1761"/>
                </a:lnTo>
                <a:cubicBezTo>
                  <a:pt x="3906" y="1651"/>
                  <a:pt x="3828" y="1560"/>
                  <a:pt x="3717" y="1560"/>
                </a:cubicBezTo>
                <a:close/>
                <a:moveTo>
                  <a:pt x="2540" y="1960"/>
                </a:moveTo>
                <a:cubicBezTo>
                  <a:pt x="2540" y="2281"/>
                  <a:pt x="2279" y="2542"/>
                  <a:pt x="1958" y="2542"/>
                </a:cubicBezTo>
                <a:cubicBezTo>
                  <a:pt x="1637" y="2542"/>
                  <a:pt x="1376" y="2281"/>
                  <a:pt x="1376" y="1960"/>
                </a:cubicBezTo>
                <a:cubicBezTo>
                  <a:pt x="1376" y="1639"/>
                  <a:pt x="1637" y="1378"/>
                  <a:pt x="1958" y="1378"/>
                </a:cubicBezTo>
                <a:cubicBezTo>
                  <a:pt x="2279" y="1378"/>
                  <a:pt x="2540" y="1639"/>
                  <a:pt x="2540" y="1960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14" name="合作QQ： 243001978">
            <a:extLst xmlns:a="http://schemas.openxmlformats.org/drawingml/2006/main">
              <a:ext uri="{FF2B5EF4-FFF2-40B4-BE49-F238E27FC236}">
                <a16:creationId xmlns:a16="http://schemas.microsoft.com/office/drawing/2014/main" id="{2E34020D-5374-445D-972C-F96EDE213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0000" y="6480000"/>
            <a:ext cx="2450000" cy="2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19" b="0">
                <a:solidFill>
                  <a:srgbClr val="7F7F7F"/>
                </a:solidFill>
                <a:latin typeface="思源黑体"/>
                <a:ea typeface="思源黑体"/>
                <a:cs typeface="思源黑体"/>
              </a:rPr>
              <a:t>城市方舟 / 最终答辩 / 创新设想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5" name="色块">
            <a:extLst xmlns:a="http://schemas.openxmlformats.org/drawingml/2006/main">
              <a:ext uri="{FF2B5EF4-FFF2-40B4-BE49-F238E27FC236}">
                <a16:creationId xmlns:a16="http://schemas.microsoft.com/office/drawing/2014/main" id="{0C47EBEC-099C-431D-813A-DF719856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6736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2FD7B4B-5BAD-46DE-ADB1-B4B94BC4B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3680" y="0"/>
            <a:ext cx="2204720" cy="46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6ED">
              <a:alpha val="100000"/>
            </a:srgbClr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rgbClr val="000000"/>
              </a:solidFill>
            </a:endParaR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585172A7-BEA8-4251-BCE7-AB8573814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00" y="48895"/>
            <a:ext cx="1097280" cy="368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2F2F2"/>
                </a:solidFill>
                <a:latin typeface="思源黑体"/>
                <a:ea typeface="思源黑体"/>
                <a:cs typeface="思源黑体"/>
              </a:rPr>
              <a:t>问题识别</a:t>
            </a:r>
            <a:endParaRPr b="1">
              <a:solidFill>
                <a:srgbClr val="F2F2F2"/>
              </a:solidFill>
            </a:endParaR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87A47DA0-9A61-44E4-B6E3-95BDCE6E7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7360" y="48895"/>
            <a:ext cx="1097280" cy="368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2F2F2"/>
                </a:solidFill>
                <a:latin typeface="思源黑体"/>
                <a:ea typeface="思源黑体"/>
                <a:cs typeface="思源黑体"/>
              </a:rPr>
              <a:t>文献调研</a:t>
            </a:r>
            <a:endParaRPr b="1">
              <a:solidFill>
                <a:srgbClr val="2E75B6"/>
              </a:solidFill>
            </a:endParaRP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9D8874F1-72E0-45B3-A135-68EE88776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240" y="48895"/>
            <a:ext cx="1097280" cy="368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2F2F2"/>
                </a:solidFill>
                <a:latin typeface="思源黑体"/>
                <a:ea typeface="思源黑体"/>
                <a:cs typeface="思源黑体"/>
              </a:rPr>
              <a:t>方案设计</a:t>
            </a:r>
            <a:endParaRPr b="1">
              <a:solidFill>
                <a:srgbClr val="F2F2F2"/>
              </a:solidFill>
            </a:endParaRP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A971F889-B0C4-45F9-A314-A150DCBA5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7120" y="48895"/>
            <a:ext cx="1097280" cy="368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2F2F2"/>
                </a:solidFill>
                <a:latin typeface="思源黑体"/>
                <a:ea typeface="思源黑体"/>
                <a:cs typeface="思源黑体"/>
              </a:rPr>
              <a:t>迭代优化</a:t>
            </a:r>
            <a:endParaRPr b="1">
              <a:solidFill>
                <a:srgbClr val="F2F2F2"/>
              </a:solidFill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7A14FF9-33C8-4618-8059-9B77CCA79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2480" y="48895"/>
            <a:ext cx="1097280" cy="368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2E75B6"/>
                </a:solidFill>
                <a:latin typeface="思源黑体"/>
                <a:ea typeface="思源黑体"/>
                <a:cs typeface="思源黑体"/>
              </a:rPr>
              <a:t>创新点</a:t>
            </a:r>
            <a:endParaRPr b="1">
              <a:solidFill>
                <a:srgbClr val="F2F2F2"/>
              </a:solidFill>
            </a:endParaRPr>
          </a:p>
        </p:txBody>
      </p:sp>
      <p:sp>
        <p:nvSpPr>
          <p:cNvPr id="79" name="Oval 1">
            <a:extLst xmlns:a="http://schemas.openxmlformats.org/drawingml/2006/main">
              <a:ext uri="{FF2B5EF4-FFF2-40B4-BE49-F238E27FC236}">
                <a16:creationId xmlns:a16="http://schemas.microsoft.com/office/drawing/2014/main" id="{8E323A08-331F-46C8-922A-0560FE09D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0190" y="4030345"/>
            <a:ext cx="2377440" cy="237744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2E6E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0" name="Oval 2">
            <a:extLst xmlns:a="http://schemas.openxmlformats.org/drawingml/2006/main">
              <a:ext uri="{FF2B5EF4-FFF2-40B4-BE49-F238E27FC236}">
                <a16:creationId xmlns:a16="http://schemas.microsoft.com/office/drawing/2014/main" id="{9C1D2C4B-76CB-42D0-BDA7-D4CDB1382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3110" y="4533265"/>
            <a:ext cx="1371600" cy="1371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2E6E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1" name="Oval 3">
            <a:extLst xmlns:a="http://schemas.openxmlformats.org/drawingml/2006/main">
              <a:ext uri="{FF2B5EF4-FFF2-40B4-BE49-F238E27FC236}">
                <a16:creationId xmlns:a16="http://schemas.microsoft.com/office/drawing/2014/main" id="{CFC2C108-F642-43BE-ADAB-70ADE94D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0310" y="4990465"/>
            <a:ext cx="457200" cy="4572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2E6E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Rectangle 9">
            <a:extLst xmlns:a="http://schemas.openxmlformats.org/drawingml/2006/main">
              <a:ext uri="{FF2B5EF4-FFF2-40B4-BE49-F238E27FC236}">
                <a16:creationId xmlns:a16="http://schemas.microsoft.com/office/drawing/2014/main" id="{82FF2D5D-5585-4A2F-B837-2B2622AB6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70025"/>
            <a:ext cx="539496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6E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Oval 10">
            <a:extLst xmlns:a="http://schemas.openxmlformats.org/drawingml/2006/main">
              <a:ext uri="{FF2B5EF4-FFF2-40B4-BE49-F238E27FC236}">
                <a16:creationId xmlns:a16="http://schemas.microsoft.com/office/drawing/2014/main" id="{07B189B7-EC41-442C-AAB7-FD40503F1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318" y="1726057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45C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4" name="TextBox 11">
            <a:extLst xmlns:a="http://schemas.openxmlformats.org/drawingml/2006/main">
              <a:ext uri="{FF2B5EF4-FFF2-40B4-BE49-F238E27FC236}">
                <a16:creationId xmlns:a16="http://schemas.microsoft.com/office/drawing/2014/main" id="{9E538C42-7A74-4A7C-8D8C-FF688A304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318" y="1726057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50" b="1">
                <a:solidFill>
                  <a:srgbClr val="FFFFFF"/>
                </a:solidFill>
                <a:latin typeface="思源黑体"/>
                <a:ea typeface="思源黑体"/>
                <a:cs typeface="思源黑体"/>
              </a:rPr>
              <a:t>01</a:t>
            </a:r>
            <a:endParaRPr sz="16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5" name="TextBox 12">
            <a:extLst xmlns:a="http://schemas.openxmlformats.org/drawingml/2006/main">
              <a:ext uri="{FF2B5EF4-FFF2-40B4-BE49-F238E27FC236}">
                <a16:creationId xmlns:a16="http://schemas.microsoft.com/office/drawing/2014/main" id="{4389B8E8-DCE2-47C6-9CAF-AB02013AE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670" y="1616329"/>
            <a:ext cx="45262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20" b="1">
                <a:solidFill>
                  <a:srgbClr val="1045C9"/>
                </a:solidFill>
                <a:latin typeface="思源黑体"/>
                <a:ea typeface="思源黑体"/>
                <a:cs typeface="思源黑体"/>
              </a:rPr>
              <a:t>可部署的救援基础设施</a:t>
            </a:r>
            <a:endParaRPr sz="1600" b="1">
              <a:solidFill>
                <a:srgbClr val="1045C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6" name="TextBox 13">
            <a:extLst xmlns:a="http://schemas.openxmlformats.org/drawingml/2006/main">
              <a:ext uri="{FF2B5EF4-FFF2-40B4-BE49-F238E27FC236}">
                <a16:creationId xmlns:a16="http://schemas.microsoft.com/office/drawing/2014/main" id="{6578F299-0F5E-4BE0-9BAF-0C532245C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670" y="1927225"/>
            <a:ext cx="4526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19" b="0">
                <a:solidFill>
                  <a:srgbClr val="7F7F7F"/>
                </a:solidFill>
                <a:latin typeface="思源黑体"/>
                <a:ea typeface="思源黑体"/>
                <a:cs typeface="思源黑体"/>
              </a:rPr>
              <a:t>基站塔把通信、调度与补能带到现场</a:t>
            </a:r>
            <a:endParaRPr sz="950" b="0">
              <a:solidFill>
                <a:srgbClr val="7F7F7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7" name="TextBox 14">
            <a:extLst xmlns:a="http://schemas.openxmlformats.org/drawingml/2006/main">
              <a:ext uri="{FF2B5EF4-FFF2-40B4-BE49-F238E27FC236}">
                <a16:creationId xmlns:a16="http://schemas.microsoft.com/office/drawing/2014/main" id="{B2D9454B-E0E7-479F-8B5D-09C1023B6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894" y="2256409"/>
            <a:ext cx="50109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69" b="0">
                <a:solidFill>
                  <a:srgbClr val="000000"/>
                </a:solidFill>
                <a:latin typeface="思源黑体"/>
                <a:ea typeface="思源黑体"/>
                <a:cs typeface="思源黑体"/>
              </a:rPr>
              <a:t>折叠运输、现场展开，支撑船队与家庭终端接入。</a:t>
            </a:r>
            <a:endParaRPr sz="1100" b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8" name="TextBox 15">
            <a:extLst xmlns:a="http://schemas.openxmlformats.org/drawingml/2006/main">
              <a:ext uri="{FF2B5EF4-FFF2-40B4-BE49-F238E27FC236}">
                <a16:creationId xmlns:a16="http://schemas.microsoft.com/office/drawing/2014/main" id="{FECAA8EB-FBFD-4EFB-8E22-88B506BF9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894" y="2494153"/>
            <a:ext cx="501091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19" b="0">
                <a:solidFill>
                  <a:srgbClr val="2E75B6"/>
                </a:solidFill>
                <a:latin typeface="思源黑体"/>
                <a:ea typeface="思源黑体"/>
                <a:cs typeface="思源黑体"/>
              </a:rPr>
              <a:t>未来价值：把救援网络部署到受灾社区</a:t>
            </a:r>
            <a:endParaRPr sz="1000" b="0">
              <a:solidFill>
                <a:srgbClr val="2E75B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9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898E9FF3-7634-43A6-B824-632C22D91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8742" y="1470025"/>
            <a:ext cx="539496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6E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0" name="Oval 17">
            <a:extLst xmlns:a="http://schemas.openxmlformats.org/drawingml/2006/main">
              <a:ext uri="{FF2B5EF4-FFF2-40B4-BE49-F238E27FC236}">
                <a16:creationId xmlns:a16="http://schemas.microsoft.com/office/drawing/2014/main" id="{6283B779-773B-4831-AE41-E43D4FA01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9909" y="1726057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45C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1" name="TextBox 18">
            <a:extLst xmlns:a="http://schemas.openxmlformats.org/drawingml/2006/main">
              <a:ext uri="{FF2B5EF4-FFF2-40B4-BE49-F238E27FC236}">
                <a16:creationId xmlns:a16="http://schemas.microsoft.com/office/drawing/2014/main" id="{6D6C4849-F677-474A-9530-EA0330E6F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9909" y="1726057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50" b="1">
                <a:solidFill>
                  <a:srgbClr val="FFFFFF"/>
                </a:solidFill>
                <a:latin typeface="思源黑体"/>
                <a:ea typeface="思源黑体"/>
                <a:cs typeface="思源黑体"/>
              </a:rPr>
              <a:t>02</a:t>
            </a:r>
            <a:endParaRPr sz="16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2" name="TextBox 19">
            <a:extLst xmlns:a="http://schemas.openxmlformats.org/drawingml/2006/main">
              <a:ext uri="{FF2B5EF4-FFF2-40B4-BE49-F238E27FC236}">
                <a16:creationId xmlns:a16="http://schemas.microsoft.com/office/drawing/2014/main" id="{DF66E8BB-3DA7-40F8-A65B-F8BE6A620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0262" y="1616329"/>
            <a:ext cx="45262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20" b="1">
                <a:solidFill>
                  <a:srgbClr val="1045C9"/>
                </a:solidFill>
                <a:latin typeface="思源黑体"/>
                <a:ea typeface="思源黑体"/>
                <a:cs typeface="思源黑体"/>
              </a:rPr>
              <a:t>水陆连续通行</a:t>
            </a:r>
            <a:endParaRPr sz="1600" b="1">
              <a:solidFill>
                <a:srgbClr val="1045C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3" name="TextBox 20">
            <a:extLst xmlns:a="http://schemas.openxmlformats.org/drawingml/2006/main">
              <a:ext uri="{FF2B5EF4-FFF2-40B4-BE49-F238E27FC236}">
                <a16:creationId xmlns:a16="http://schemas.microsoft.com/office/drawing/2014/main" id="{86777840-44BE-4742-83D6-2F8A2966D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0262" y="1927225"/>
            <a:ext cx="4526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19" b="0">
                <a:solidFill>
                  <a:srgbClr val="7F7F7F"/>
                </a:solidFill>
                <a:latin typeface="思源黑体"/>
                <a:ea typeface="思源黑体"/>
                <a:cs typeface="思源黑体"/>
              </a:rPr>
              <a:t>同一配送平台适应积水与退水路段</a:t>
            </a:r>
            <a:endParaRPr sz="950" b="0">
              <a:solidFill>
                <a:srgbClr val="7F7F7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4" name="TextBox 21">
            <a:extLst xmlns:a="http://schemas.openxmlformats.org/drawingml/2006/main">
              <a:ext uri="{FF2B5EF4-FFF2-40B4-BE49-F238E27FC236}">
                <a16:creationId xmlns:a16="http://schemas.microsoft.com/office/drawing/2014/main" id="{987AEB0B-0B17-4710-8EC2-279E17F81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6486" y="2256409"/>
            <a:ext cx="50109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69" b="0">
                <a:solidFill>
                  <a:srgbClr val="000000"/>
                </a:solidFill>
                <a:latin typeface="思源黑体"/>
                <a:ea typeface="思源黑体"/>
                <a:cs typeface="思源黑体"/>
              </a:rPr>
              <a:t>两栖船按水深与障碍选择通路，减少途中转运。</a:t>
            </a:r>
            <a:endParaRPr sz="1100" b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5" name="TextBox 22">
            <a:extLst xmlns:a="http://schemas.openxmlformats.org/drawingml/2006/main">
              <a:ext uri="{FF2B5EF4-FFF2-40B4-BE49-F238E27FC236}">
                <a16:creationId xmlns:a16="http://schemas.microsoft.com/office/drawing/2014/main" id="{38EE0707-D47C-42C2-B2EC-7016997B2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6486" y="2494153"/>
            <a:ext cx="501091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19" b="0">
                <a:solidFill>
                  <a:srgbClr val="2E75B6"/>
                </a:solidFill>
                <a:latin typeface="思源黑体"/>
                <a:ea typeface="思源黑体"/>
                <a:cs typeface="思源黑体"/>
              </a:rPr>
              <a:t>未来价值：扩大物资配送的可达范围</a:t>
            </a:r>
            <a:endParaRPr sz="1000" b="0">
              <a:solidFill>
                <a:srgbClr val="2E75B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6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9EC10369-5A02-42EF-8EA3-D5B41891F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77617"/>
            <a:ext cx="539496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6E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7" name="Oval 24">
            <a:extLst xmlns:a="http://schemas.openxmlformats.org/drawingml/2006/main">
              <a:ext uri="{FF2B5EF4-FFF2-40B4-BE49-F238E27FC236}">
                <a16:creationId xmlns:a16="http://schemas.microsoft.com/office/drawing/2014/main" id="{66D3B3D4-14C7-4C7B-A7AA-8C9A19535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318" y="3033649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45C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8" name="TextBox 25">
            <a:extLst xmlns:a="http://schemas.openxmlformats.org/drawingml/2006/main">
              <a:ext uri="{FF2B5EF4-FFF2-40B4-BE49-F238E27FC236}">
                <a16:creationId xmlns:a16="http://schemas.microsoft.com/office/drawing/2014/main" id="{1AAD63D7-F3CE-4370-99B6-02E4E4F14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318" y="3033649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50" b="1">
                <a:solidFill>
                  <a:srgbClr val="FFFFFF"/>
                </a:solidFill>
                <a:latin typeface="思源黑体"/>
                <a:ea typeface="思源黑体"/>
                <a:cs typeface="思源黑体"/>
              </a:rPr>
              <a:t>03</a:t>
            </a:r>
            <a:endParaRPr sz="16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9" name="TextBox 26">
            <a:extLst xmlns:a="http://schemas.openxmlformats.org/drawingml/2006/main">
              <a:ext uri="{FF2B5EF4-FFF2-40B4-BE49-F238E27FC236}">
                <a16:creationId xmlns:a16="http://schemas.microsoft.com/office/drawing/2014/main" id="{97614800-6EBC-4553-ABF6-4E6E8307F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670" y="2923921"/>
            <a:ext cx="45262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20" b="1">
                <a:solidFill>
                  <a:srgbClr val="1045C9"/>
                </a:solidFill>
                <a:latin typeface="思源黑体"/>
                <a:ea typeface="思源黑体"/>
                <a:cs typeface="思源黑体"/>
              </a:rPr>
              <a:t>每户可接入、全程有反馈</a:t>
            </a:r>
            <a:endParaRPr sz="1600" b="1">
              <a:solidFill>
                <a:srgbClr val="1045C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0" name="TextBox 27">
            <a:extLst xmlns:a="http://schemas.openxmlformats.org/drawingml/2006/main">
              <a:ext uri="{FF2B5EF4-FFF2-40B4-BE49-F238E27FC236}">
                <a16:creationId xmlns:a16="http://schemas.microsoft.com/office/drawing/2014/main" id="{CCF9A4F4-F842-42C1-ADF2-01042835D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670" y="3234817"/>
            <a:ext cx="4526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19" b="0">
                <a:solidFill>
                  <a:srgbClr val="7F7F7F"/>
                </a:solidFill>
                <a:latin typeface="思源黑体"/>
                <a:ea typeface="思源黑体"/>
                <a:cs typeface="思源黑体"/>
              </a:rPr>
              <a:t>家庭终端让求援直接进入配送任务</a:t>
            </a:r>
            <a:endParaRPr sz="950" b="0">
              <a:solidFill>
                <a:srgbClr val="7F7F7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1" name="TextBox 28">
            <a:extLst xmlns:a="http://schemas.openxmlformats.org/drawingml/2006/main">
              <a:ext uri="{FF2B5EF4-FFF2-40B4-BE49-F238E27FC236}">
                <a16:creationId xmlns:a16="http://schemas.microsoft.com/office/drawing/2014/main" id="{DDF16B37-06D2-4AC7-984C-CC5B6FD85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894" y="3564001"/>
            <a:ext cx="50109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69" b="0">
                <a:solidFill>
                  <a:srgbClr val="000000"/>
                </a:solidFill>
                <a:latin typeface="思源黑体"/>
                <a:ea typeface="思源黑体"/>
                <a:cs typeface="思源黑体"/>
              </a:rPr>
              <a:t>一键上报位置与需求，反馈接单和送达状态。</a:t>
            </a:r>
            <a:endParaRPr sz="1100" b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2" name="TextBox 29">
            <a:extLst xmlns:a="http://schemas.openxmlformats.org/drawingml/2006/main">
              <a:ext uri="{FF2B5EF4-FFF2-40B4-BE49-F238E27FC236}">
                <a16:creationId xmlns:a16="http://schemas.microsoft.com/office/drawing/2014/main" id="{A155FDFE-0436-4BDD-AFD7-78EA0E76E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894" y="3801745"/>
            <a:ext cx="501091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19" b="0">
                <a:solidFill>
                  <a:srgbClr val="2E75B6"/>
                </a:solidFill>
                <a:latin typeface="思源黑体"/>
                <a:ea typeface="思源黑体"/>
                <a:cs typeface="思源黑体"/>
              </a:rPr>
              <a:t>未来价值：让老幼家庭也能便捷求援</a:t>
            </a:r>
            <a:endParaRPr sz="1000" b="0">
              <a:solidFill>
                <a:srgbClr val="2E75B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3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7074FE46-0FC9-431A-B909-58FD62A20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8742" y="2777617"/>
            <a:ext cx="539496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6E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4" name="Oval 31">
            <a:extLst xmlns:a="http://schemas.openxmlformats.org/drawingml/2006/main">
              <a:ext uri="{FF2B5EF4-FFF2-40B4-BE49-F238E27FC236}">
                <a16:creationId xmlns:a16="http://schemas.microsoft.com/office/drawing/2014/main" id="{A633EFE8-76F4-4C5B-B8C9-F868D03CF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9909" y="3033649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45C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5" name="TextBox 32">
            <a:extLst xmlns:a="http://schemas.openxmlformats.org/drawingml/2006/main">
              <a:ext uri="{FF2B5EF4-FFF2-40B4-BE49-F238E27FC236}">
                <a16:creationId xmlns:a16="http://schemas.microsoft.com/office/drawing/2014/main" id="{C1E988A9-6989-4BE5-8AA0-7976B4831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9909" y="3033649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50" b="1">
                <a:solidFill>
                  <a:srgbClr val="FFFFFF"/>
                </a:solidFill>
                <a:latin typeface="思源黑体"/>
                <a:ea typeface="思源黑体"/>
                <a:cs typeface="思源黑体"/>
              </a:rPr>
              <a:t>04</a:t>
            </a:r>
            <a:endParaRPr sz="16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6" name="TextBox 33">
            <a:extLst xmlns:a="http://schemas.openxmlformats.org/drawingml/2006/main">
              <a:ext uri="{FF2B5EF4-FFF2-40B4-BE49-F238E27FC236}">
                <a16:creationId xmlns:a16="http://schemas.microsoft.com/office/drawing/2014/main" id="{93C5AE3C-C4B6-4478-AC81-3EB53E786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0262" y="2923921"/>
            <a:ext cx="45262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20" b="1">
                <a:solidFill>
                  <a:srgbClr val="1045C9"/>
                </a:solidFill>
                <a:latin typeface="思源黑体"/>
                <a:ea typeface="思源黑体"/>
                <a:cs typeface="思源黑体"/>
              </a:rPr>
              <a:t>自主补能与连续出勤</a:t>
            </a:r>
            <a:endParaRPr sz="1600" b="1">
              <a:solidFill>
                <a:srgbClr val="1045C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7" name="TextBox 34">
            <a:extLst xmlns:a="http://schemas.openxmlformats.org/drawingml/2006/main">
              <a:ext uri="{FF2B5EF4-FFF2-40B4-BE49-F238E27FC236}">
                <a16:creationId xmlns:a16="http://schemas.microsoft.com/office/drawing/2014/main" id="{5FF11DAB-46DA-48BF-9C27-04D29B1E1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0262" y="3234817"/>
            <a:ext cx="4526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19" b="0">
                <a:solidFill>
                  <a:srgbClr val="7F7F7F"/>
                </a:solidFill>
                <a:latin typeface="思源黑体"/>
                <a:ea typeface="思源黑体"/>
                <a:cs typeface="思源黑体"/>
              </a:rPr>
              <a:t>把剩余电量纳入任务和补能安排</a:t>
            </a:r>
            <a:endParaRPr sz="950" b="0">
              <a:solidFill>
                <a:srgbClr val="7F7F7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8" name="TextBox 35">
            <a:extLst xmlns:a="http://schemas.openxmlformats.org/drawingml/2006/main">
              <a:ext uri="{FF2B5EF4-FFF2-40B4-BE49-F238E27FC236}">
                <a16:creationId xmlns:a16="http://schemas.microsoft.com/office/drawing/2014/main" id="{14A83680-0C2A-4482-A0EE-BC7541B08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6486" y="3564001"/>
            <a:ext cx="50109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69" b="0">
                <a:solidFill>
                  <a:srgbClr val="000000"/>
                </a:solidFill>
                <a:latin typeface="思源黑体"/>
                <a:ea typeface="思源黑体"/>
                <a:cs typeface="思源黑体"/>
              </a:rPr>
              <a:t>船只自主靠站充换电，多船轮换执行配送任务。</a:t>
            </a:r>
            <a:endParaRPr sz="1100" b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9" name="TextBox 36">
            <a:extLst xmlns:a="http://schemas.openxmlformats.org/drawingml/2006/main">
              <a:ext uri="{FF2B5EF4-FFF2-40B4-BE49-F238E27FC236}">
                <a16:creationId xmlns:a16="http://schemas.microsoft.com/office/drawing/2014/main" id="{FC408618-FF3F-47F5-996F-EED468E67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6486" y="3801745"/>
            <a:ext cx="501091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19" b="0">
                <a:solidFill>
                  <a:srgbClr val="2E75B6"/>
                </a:solidFill>
                <a:latin typeface="思源黑体"/>
                <a:ea typeface="思源黑体"/>
                <a:cs typeface="思源黑体"/>
              </a:rPr>
              <a:t>未来价值：减少人工值守与补能等待</a:t>
            </a:r>
            <a:endParaRPr sz="1000" b="0">
              <a:solidFill>
                <a:srgbClr val="2E75B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0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58CD1764-BCB7-44E6-BDF0-624A00815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85209"/>
            <a:ext cx="539496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6E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1" name="Oval 38">
            <a:extLst xmlns:a="http://schemas.openxmlformats.org/drawingml/2006/main">
              <a:ext uri="{FF2B5EF4-FFF2-40B4-BE49-F238E27FC236}">
                <a16:creationId xmlns:a16="http://schemas.microsoft.com/office/drawing/2014/main" id="{FDB73EDA-A13C-4441-8EB8-8769BD64E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318" y="4341241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45C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2" name="TextBox 39">
            <a:extLst xmlns:a="http://schemas.openxmlformats.org/drawingml/2006/main">
              <a:ext uri="{FF2B5EF4-FFF2-40B4-BE49-F238E27FC236}">
                <a16:creationId xmlns:a16="http://schemas.microsoft.com/office/drawing/2014/main" id="{FE3F1BD2-5A90-48E4-978C-321C4EA25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318" y="4341241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50" b="1">
                <a:solidFill>
                  <a:srgbClr val="FFFFFF"/>
                </a:solidFill>
                <a:latin typeface="思源黑体"/>
                <a:ea typeface="思源黑体"/>
                <a:cs typeface="思源黑体"/>
              </a:rPr>
              <a:t>05</a:t>
            </a:r>
            <a:endParaRPr sz="16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3" name="TextBox 40">
            <a:extLst xmlns:a="http://schemas.openxmlformats.org/drawingml/2006/main">
              <a:ext uri="{FF2B5EF4-FFF2-40B4-BE49-F238E27FC236}">
                <a16:creationId xmlns:a16="http://schemas.microsoft.com/office/drawing/2014/main" id="{1B9313AE-942A-4A2E-A9CA-DD8F4B1B8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670" y="4231513"/>
            <a:ext cx="45262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20" b="1">
                <a:solidFill>
                  <a:srgbClr val="1045C9"/>
                </a:solidFill>
                <a:latin typeface="思源黑体"/>
                <a:ea typeface="思源黑体"/>
                <a:cs typeface="思源黑体"/>
              </a:rPr>
              <a:t>感知驱动的船队协同</a:t>
            </a:r>
            <a:endParaRPr sz="1600" b="1">
              <a:solidFill>
                <a:srgbClr val="1045C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4" name="TextBox 41">
            <a:extLst xmlns:a="http://schemas.openxmlformats.org/drawingml/2006/main">
              <a:ext uri="{FF2B5EF4-FFF2-40B4-BE49-F238E27FC236}">
                <a16:creationId xmlns:a16="http://schemas.microsoft.com/office/drawing/2014/main" id="{4F19D8E1-9A7C-45C0-9FF0-8D1194127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670" y="4542409"/>
            <a:ext cx="4526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19" b="0">
                <a:solidFill>
                  <a:srgbClr val="7F7F7F"/>
                </a:solidFill>
                <a:latin typeface="思源黑体"/>
                <a:ea typeface="思源黑体"/>
                <a:cs typeface="思源黑体"/>
              </a:rPr>
              <a:t>共享灾情地图，动态派单与改道</a:t>
            </a:r>
            <a:endParaRPr sz="950" b="0">
              <a:solidFill>
                <a:srgbClr val="7F7F7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5" name="TextBox 42">
            <a:extLst xmlns:a="http://schemas.openxmlformats.org/drawingml/2006/main">
              <a:ext uri="{FF2B5EF4-FFF2-40B4-BE49-F238E27FC236}">
                <a16:creationId xmlns:a16="http://schemas.microsoft.com/office/drawing/2014/main" id="{98B81B1D-5CF2-4BA3-87EC-1B2202038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894" y="4871593"/>
            <a:ext cx="50109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69" b="0">
                <a:solidFill>
                  <a:srgbClr val="000000"/>
                </a:solidFill>
                <a:latin typeface="思源黑体"/>
                <a:ea typeface="思源黑体"/>
                <a:cs typeface="思源黑体"/>
              </a:rPr>
              <a:t>综合求援紧急度、航道和船况，协调多船分工。</a:t>
            </a:r>
            <a:endParaRPr sz="1100" b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6" name="TextBox 43">
            <a:extLst xmlns:a="http://schemas.openxmlformats.org/drawingml/2006/main">
              <a:ext uri="{FF2B5EF4-FFF2-40B4-BE49-F238E27FC236}">
                <a16:creationId xmlns:a16="http://schemas.microsoft.com/office/drawing/2014/main" id="{9F3BD06F-690C-40DC-96B9-657CCD675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894" y="5109337"/>
            <a:ext cx="501091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19" b="0">
                <a:solidFill>
                  <a:srgbClr val="2E75B6"/>
                </a:solidFill>
                <a:latin typeface="思源黑体"/>
                <a:ea typeface="思源黑体"/>
                <a:cs typeface="思源黑体"/>
              </a:rPr>
              <a:t>未来价值：让有限运力优先响应紧急需求</a:t>
            </a:r>
            <a:endParaRPr sz="1000" b="0">
              <a:solidFill>
                <a:srgbClr val="2E75B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7" name="Rectangle 44">
            <a:extLst xmlns:a="http://schemas.openxmlformats.org/drawingml/2006/main">
              <a:ext uri="{FF2B5EF4-FFF2-40B4-BE49-F238E27FC236}">
                <a16:creationId xmlns:a16="http://schemas.microsoft.com/office/drawing/2014/main" id="{EBA41B6A-985F-433A-9D9A-EFFF95613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8742" y="4085209"/>
            <a:ext cx="539496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6E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8" name="Oval 45">
            <a:extLst xmlns:a="http://schemas.openxmlformats.org/drawingml/2006/main">
              <a:ext uri="{FF2B5EF4-FFF2-40B4-BE49-F238E27FC236}">
                <a16:creationId xmlns:a16="http://schemas.microsoft.com/office/drawing/2014/main" id="{E9F0123E-C689-4747-88C7-178516402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9909" y="4341241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45C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9" name="TextBox 46">
            <a:extLst xmlns:a="http://schemas.openxmlformats.org/drawingml/2006/main">
              <a:ext uri="{FF2B5EF4-FFF2-40B4-BE49-F238E27FC236}">
                <a16:creationId xmlns:a16="http://schemas.microsoft.com/office/drawing/2014/main" id="{D3C7E074-C0CA-4EF4-A36F-9DCD4B27E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9909" y="4341241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50" b="1">
                <a:solidFill>
                  <a:srgbClr val="FFFFFF"/>
                </a:solidFill>
                <a:latin typeface="思源黑体"/>
                <a:ea typeface="思源黑体"/>
                <a:cs typeface="思源黑体"/>
              </a:rPr>
              <a:t>06</a:t>
            </a:r>
            <a:endParaRPr sz="16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0" name="TextBox 47">
            <a:extLst xmlns:a="http://schemas.openxmlformats.org/drawingml/2006/main">
              <a:ext uri="{FF2B5EF4-FFF2-40B4-BE49-F238E27FC236}">
                <a16:creationId xmlns:a16="http://schemas.microsoft.com/office/drawing/2014/main" id="{69CF43DF-395A-4860-AB87-47E3FD227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0262" y="4231513"/>
            <a:ext cx="45262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20" b="1">
                <a:solidFill>
                  <a:srgbClr val="1045C9"/>
                </a:solidFill>
                <a:latin typeface="思源黑体"/>
                <a:ea typeface="思源黑体"/>
                <a:cs typeface="思源黑体"/>
              </a:rPr>
              <a:t>公网中断时维持局部服务</a:t>
            </a:r>
            <a:endParaRPr sz="1600" b="1">
              <a:solidFill>
                <a:srgbClr val="1045C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1" name="TextBox 48">
            <a:extLst xmlns:a="http://schemas.openxmlformats.org/drawingml/2006/main">
              <a:ext uri="{FF2B5EF4-FFF2-40B4-BE49-F238E27FC236}">
                <a16:creationId xmlns:a16="http://schemas.microsoft.com/office/drawing/2014/main" id="{E3A02F07-B4BC-402F-8BDF-9365C31A5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0262" y="4542409"/>
            <a:ext cx="4526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19" b="0">
                <a:solidFill>
                  <a:srgbClr val="7F7F7F"/>
                </a:solidFill>
                <a:latin typeface="思源黑体"/>
                <a:ea typeface="思源黑体"/>
                <a:cs typeface="思源黑体"/>
              </a:rPr>
              <a:t>基站与巡检船共同构建应急通信网络</a:t>
            </a:r>
            <a:endParaRPr sz="950" b="0">
              <a:solidFill>
                <a:srgbClr val="7F7F7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TextBox 49">
            <a:extLst xmlns:a="http://schemas.openxmlformats.org/drawingml/2006/main">
              <a:ext uri="{FF2B5EF4-FFF2-40B4-BE49-F238E27FC236}">
                <a16:creationId xmlns:a16="http://schemas.microsoft.com/office/drawing/2014/main" id="{D0A3081F-05E2-4CA8-95E9-2A9B715E1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6486" y="4871593"/>
            <a:ext cx="50109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69" b="0">
                <a:solidFill>
                  <a:srgbClr val="000000"/>
                </a:solidFill>
                <a:latin typeface="思源黑体"/>
                <a:ea typeface="思源黑体"/>
                <a:cs typeface="思源黑体"/>
              </a:rPr>
              <a:t>本地保留求援与派单，借助移动中继扩展覆盖。</a:t>
            </a:r>
            <a:endParaRPr sz="1100" b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3" name="TextBox 50">
            <a:extLst xmlns:a="http://schemas.openxmlformats.org/drawingml/2006/main">
              <a:ext uri="{FF2B5EF4-FFF2-40B4-BE49-F238E27FC236}">
                <a16:creationId xmlns:a16="http://schemas.microsoft.com/office/drawing/2014/main" id="{11D53D7C-906C-49AD-B5C6-5004C7349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6486" y="5109337"/>
            <a:ext cx="501091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19" b="0">
                <a:solidFill>
                  <a:srgbClr val="2E75B6"/>
                </a:solidFill>
                <a:latin typeface="思源黑体"/>
                <a:ea typeface="思源黑体"/>
                <a:cs typeface="思源黑体"/>
              </a:rPr>
              <a:t>未来价值：降低救援对公网可用性的依赖</a:t>
            </a:r>
            <a:endParaRPr sz="1000" b="0">
              <a:solidFill>
                <a:srgbClr val="2E75B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4" name="Rectangle 123">
            <a:extLst xmlns:a="http://schemas.openxmlformats.org/drawingml/2006/main">
              <a:ext uri="{FF2B5EF4-FFF2-40B4-BE49-F238E27FC236}">
                <a16:creationId xmlns:a16="http://schemas.microsoft.com/office/drawing/2014/main" id="{6B2F3E45-DA08-4702-8965-F1F2858CE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92801"/>
            <a:ext cx="11288400" cy="8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6E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5" name="Oval 124">
            <a:extLst xmlns:a="http://schemas.openxmlformats.org/drawingml/2006/main">
              <a:ext uri="{FF2B5EF4-FFF2-40B4-BE49-F238E27FC236}">
                <a16:creationId xmlns:a16="http://schemas.microsoft.com/office/drawing/2014/main" id="{AC5DADAA-5BA2-41AC-8C40-DEFB1B886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318" y="5632801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45C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FFFFFF"/>
                </a:solidFill>
                <a:latin typeface="思源黑体"/>
                <a:ea typeface="思源黑体"/>
                <a:cs typeface="思源黑体"/>
              </a:rPr>
              <a:t>核</a:t>
            </a:r>
          </a:p>
        </p:txBody>
      </p:sp>
      <p:sp>
        <p:nvSpPr>
          <p:cNvPr id="126" name="TextBox 125">
            <a:extLst xmlns:a="http://schemas.openxmlformats.org/drawingml/2006/main">
              <a:ext uri="{FF2B5EF4-FFF2-40B4-BE49-F238E27FC236}">
                <a16:creationId xmlns:a16="http://schemas.microsoft.com/office/drawing/2014/main" id="{C01719E9-D6F8-4113-98DC-C542AC290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670" y="5502801"/>
            <a:ext cx="1800000" cy="323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rIns="0">
            <a:spAutoFit/>
          </a:bodyPr>
          <a:lstStyle xmlns:a="http://schemas.openxmlformats.org/drawingml/2006/main"/>
          <a:p xmlns:a="http://schemas.openxmlformats.org/drawingml/2006/main">
            <a:r>
              <a:rPr sz="1520" b="1">
                <a:solidFill>
                  <a:srgbClr val="1045C9"/>
                </a:solidFill>
                <a:latin typeface="思源黑体"/>
                <a:ea typeface="思源黑体"/>
                <a:cs typeface="思源黑体"/>
              </a:rPr>
              <a:t>系统级创新</a:t>
            </a:r>
          </a:p>
        </p:txBody>
      </p:sp>
      <p:sp>
        <p:nvSpPr>
          <p:cNvPr id="127" name="TextBox 126">
            <a:extLst xmlns:a="http://schemas.openxmlformats.org/drawingml/2006/main">
              <a:ext uri="{FF2B5EF4-FFF2-40B4-BE49-F238E27FC236}">
                <a16:creationId xmlns:a16="http://schemas.microsoft.com/office/drawing/2014/main" id="{79823CB0-3947-4A86-A938-D7B1F2994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670" y="5772801"/>
            <a:ext cx="9800000" cy="3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r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1050" b="0">
                <a:solidFill>
                  <a:srgbClr val="000000"/>
                </a:solidFill>
                <a:latin typeface="思源黑体"/>
                <a:ea typeface="思源黑体"/>
                <a:cs typeface="思源黑体"/>
              </a:rPr>
              <a:t>连接家庭、基站与船队，让求援、配送和补能协同运行，形成持续服务社区的救援网络。</a:t>
            </a:r>
          </a:p>
        </p:txBody>
      </p:sp>
    </p:spTree>
    <p:extLst>
      <p:ext uri="{BB962C8B-B14F-4D97-AF65-F5344CB8AC3E}">
        <p14:creationId xmlns:p14="http://schemas.microsoft.com/office/powerpoint/2010/main" val="549772433"/>
      </p:ext>
    </p:extLst>
  </p:cSld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2026-09-09T11:11:42.6280000Z</dcterms:created>
  <dcterms:modified xsi:type="dcterms:W3CDTF">2026-09-09T11:11:42.6280000Z</dcterms:modified>
</coreProperties>
</file>