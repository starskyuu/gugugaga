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e53402898e467e" /><Relationship Type="http://schemas.openxmlformats.org/officeDocument/2006/relationships/extended-properties" Target="/docProps/app.xml" Id="R8edd7087d746455f" /><Relationship Type="http://schemas.openxmlformats.org/officeDocument/2006/relationships/officeDocument" Target="/ppt/presentation.xml" Id="R55108bb6485548cd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b0110d2f796349d9"/>
  </p:sldMasterIdLst>
  <p:notesMasterIdLst>
    <p:notesMasterId xmlns:r="http://schemas.openxmlformats.org/officeDocument/2006/relationships" r:id="R0868288dff8844c4"/>
  </p:notesMasterIdLst>
  <p:sldIdLst>
    <p:sldId xmlns:r="http://schemas.openxmlformats.org/officeDocument/2006/relationships" id="256" r:id="R3004c8a2035343ba"/>
  </p:sldIdLst>
  <p:sldSz cx="12192000" cy="6858000"/>
  <p:notesSz cx="6858000" cy="9144000"/>
  <p:embeddedFontLst>
    <p:embeddedFont>
      <p:font typeface="微软雅黑"/>
      <p:regular xmlns:r="http://schemas.openxmlformats.org/officeDocument/2006/relationships" r:id="R926b07172b8a4763"/>
      <p:bold xmlns:r="http://schemas.openxmlformats.org/officeDocument/2006/relationships" r:id="R3127943efa5a4e31"/>
    </p:embeddedFont>
    <p:embeddedFont>
      <p:font typeface="Calibri"/>
      <p:regular xmlns:r="http://schemas.openxmlformats.org/officeDocument/2006/relationships" r:id="Rd6bf1d5a35964692"/>
      <p:bold xmlns:r="http://schemas.openxmlformats.org/officeDocument/2006/relationships" r:id="R0cfb9ff2a63b4623"/>
      <p:italic xmlns:r="http://schemas.openxmlformats.org/officeDocument/2006/relationships" r:id="R963d3a8e59614f9b"/>
      <p:boldItalic xmlns:r="http://schemas.openxmlformats.org/officeDocument/2006/relationships" r:id="R96816d01e81b4be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1a7257ec7c4e6b" /><Relationship Type="http://schemas.openxmlformats.org/officeDocument/2006/relationships/slideMaster" Target="/ppt/slideMasters/slideMaster1.xml" Id="Rb0110d2f796349d9" /><Relationship Type="http://schemas.openxmlformats.org/officeDocument/2006/relationships/notesMaster" Target="/ppt/notesMasters/notesMaster1.xml" Id="R0868288dff8844c4" /><Relationship Type="http://schemas.openxmlformats.org/officeDocument/2006/relationships/presProps" Target="/ppt/presProps.xml" Id="R0054537d04204faa" /><Relationship Type="http://schemas.openxmlformats.org/officeDocument/2006/relationships/viewProps" Target="/ppt/viewProps.xml" Id="R990d8502e235428b" /><Relationship Type="http://schemas.openxmlformats.org/officeDocument/2006/relationships/tableStyles" Target="/ppt/tableStyles.xml" Id="R7937e3ba5aae4706" /><Relationship Type="http://schemas.openxmlformats.org/officeDocument/2006/relationships/font" Target="/ppt/fonts/font.dat" Id="R926b07172b8a4763" /><Relationship Type="http://schemas.openxmlformats.org/officeDocument/2006/relationships/font" Target="/ppt/fonts/font2.dat" Id="R3127943efa5a4e31" /><Relationship Type="http://schemas.openxmlformats.org/officeDocument/2006/relationships/font" Target="/ppt/fonts/font3.dat" Id="Rd6bf1d5a35964692" /><Relationship Type="http://schemas.openxmlformats.org/officeDocument/2006/relationships/font" Target="/ppt/fonts/font4.dat" Id="R0cfb9ff2a63b4623" /><Relationship Type="http://schemas.openxmlformats.org/officeDocument/2006/relationships/font" Target="/ppt/fonts/font5.dat" Id="R963d3a8e59614f9b" /><Relationship Type="http://schemas.openxmlformats.org/officeDocument/2006/relationships/font" Target="/ppt/fonts/font6.dat" Id="R96816d01e81b4bed" /><Relationship Type="http://schemas.openxmlformats.org/officeDocument/2006/relationships/slide" Target="/ppt/slides/slide1.xml" Id="R3004c8a2035343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19f2a2ab4a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11bebe9d144ba3" /><Relationship Type="http://schemas.openxmlformats.org/officeDocument/2006/relationships/notesMaster" Target="/ppt/notesMasters/notesMaster1.xml" Id="R6fef4d0d90b6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：这一页的“未来”不等于单项技术首次出现，而在于把家庭求援、基站调度、两栖配送、持续补能和韧性通信组织成一张能够持续运行的救援网络。当前项目已具备视觉识别、船体定位与网页控制基础，图中完整网络属于未来系统设想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F:/gugugaga/04 目前进展/水陆两栖应急配送舰队_概念方案.pptx，系统、船队、终端与调度设想。</a:t>
            </a:r>
            <a:endParaRPr/>
          </a:p>
          <a:p xmlns:a="http://schemas.openxmlformats.org/drawingml/2006/main">
            <a:r>
              <a:t>F:/gugugaga/05 开题报告/概念构思.pptx，基站部署、通信与自主补能设想及页面模板。</a:t>
            </a:r>
            <a:endParaRPr/>
          </a:p>
          <a:p xmlns:a="http://schemas.openxmlformats.org/drawingml/2006/main">
            <a:r>
              <a:t>F:/gugugaga/docs/城市方舟实时搜救系统使用手册.md，现有原型能力边界。</a:t>
            </a:r>
            <a:endParaRPr/>
          </a:p>
          <a:p xmlns:a="http://schemas.openxmlformats.org/drawingml/2006/main">
            <a:r>
              <a:t>Generated visual: F:/gugugaga/答辩PPT/城市方舟_未来救援网络_简洁概念图.png，OpenAI ImageGen，2026-09-09。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f728b92c748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a4e04383d40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53577dc004b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760fc918a4f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92ef13c6f48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7d2ec10c14b6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b2c1358bf4c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a285772e643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eee26a2744b1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f951f6b8b4848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CB185DA-A482-49D1-9F48-EF36397EA2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719052A-F21D-4BB7-BFFD-A1B793646F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FBC511-FB0F-4A24-8E70-F28AF9732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84" y="52309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7EDBE05-5525-4109-B66D-E4BF639B1C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84" y="1983597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4FA165-0E19-4791-BD0F-9B421D169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A950EF5-B72D-452C-A7C4-44C793030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A5DE29-E5A3-481A-9BDA-288A61FDC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84" y="52309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E5A8BED-3FC5-4A15-B6BC-FB84A3142B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84" y="1983597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D3887C4-CCF9-4C05-87E6-FBD98A3F7ED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184" y="1983597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E1E0E04-F0EE-415A-82E4-7B5F85670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039" y="516256"/>
            <a:ext cx="10515890" cy="13243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654D227-3C63-4B69-8004-6A80639573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039" y="1935192"/>
            <a:ext cx="5163349" cy="8277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97A1F31-C89B-4BC7-8EFB-996045D6FD0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8039" y="2818085"/>
            <a:ext cx="5163349" cy="35236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A6CDFEA-D87E-467C-8088-99D7466725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66931" y="1935192"/>
            <a:ext cx="5186998" cy="8277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F428C3F-AB81-4897-8CF5-608F34DF48A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66931" y="2818085"/>
            <a:ext cx="5186998" cy="35236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6EF64F-7D56-48FB-BCF5-522C03A0A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68" y="523113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B212C2-0BEA-4BF6-B2E5-4080F557F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84" y="723122"/>
            <a:ext cx="4165349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00F654F-48A1-4B0A-B42B-02A031140C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584" y="723123"/>
            <a:ext cx="6172200" cy="54038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988A930-1C96-4813-B857-50F8176551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8184" y="2323322"/>
            <a:ext cx="4165349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D392B04-08B7-4848-8CBE-0FBAFD796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884" y="523097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2EDB4F9-69B6-4ED4-B4CD-729BA3C90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184" y="523097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000D2920-D465-4660-9794-ED40AB8F94D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38184" y="523097"/>
            <a:ext cx="10515600" cy="58118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aef8f4574c24075" /><Relationship Type="http://schemas.openxmlformats.org/officeDocument/2006/relationships/theme" Target="/ppt/slideMasters/theme/theme2.xml" Id="R495538d056df48de" /><Relationship Type="http://schemas.openxmlformats.org/officeDocument/2006/relationships/slideLayout" Target="/ppt/slideLayouts/slideLayout1.xml" Id="R70a1ef7564fd4551" /><Relationship Type="http://schemas.openxmlformats.org/officeDocument/2006/relationships/slideLayout" Target="/ppt/slideLayouts/slideLayout2.xml" Id="R30934e06bfad442b" /><Relationship Type="http://schemas.openxmlformats.org/officeDocument/2006/relationships/slideLayout" Target="/ppt/slideLayouts/slideLayout3.xml" Id="Rf83ba01795b84223" /><Relationship Type="http://schemas.openxmlformats.org/officeDocument/2006/relationships/slideLayout" Target="/ppt/slideLayouts/slideLayout4.xml" Id="R7a6b21545e7d495a" /><Relationship Type="http://schemas.openxmlformats.org/officeDocument/2006/relationships/slideLayout" Target="/ppt/slideLayouts/slideLayout5.xml" Id="Rd70c84a7563241ac" /><Relationship Type="http://schemas.openxmlformats.org/officeDocument/2006/relationships/slideLayout" Target="/ppt/slideLayouts/slideLayout6.xml" Id="Rb08b48baa8cd4144" /><Relationship Type="http://schemas.openxmlformats.org/officeDocument/2006/relationships/slideLayout" Target="/ppt/slideLayouts/slideLayout7.xml" Id="R31661543a95347d7" /><Relationship Type="http://schemas.openxmlformats.org/officeDocument/2006/relationships/slideLayout" Target="/ppt/slideLayouts/slideLayout8.xml" Id="Red1696f087ec4e04" /><Relationship Type="http://schemas.openxmlformats.org/officeDocument/2006/relationships/slideLayout" Target="/ppt/slideLayouts/slideLayout9.xml" Id="Re3a8152b414e46b2" /><Relationship Type="http://schemas.openxmlformats.org/officeDocument/2006/relationships/slideLayout" Target="/ppt/slideLayouts/slideLayout10.xml" Id="Raaf1600c49a14fb0" /></Relationships>
</file>

<file path=ppt/slideMasters/slideMaster1.xml><?xml version="1.0" encoding="utf-8"?>
<p:sld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f8f4574c24075">
            <a:alphaModFix amt="1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2670" y="0"/>
            <a:ext cx="7566660" cy="6858635"/>
          </a:xfrm>
          <a:prstGeom xmlns:a="http://schemas.openxmlformats.org/drawingml/2006/main" prst="rect">
            <a:avLst/>
          </a:prstGeom>
        </p:spPr>
      </p:pic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AE60064-0608-4E84-8079-B161793860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168" y="1983613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  <a:p xmlns:a="http://schemas.openxmlformats.org/drawingml/2006/main">
            <a:pPr lvl="5">
              <a:buNone/>
            </a:pPr>
            <a:r>
              <a:t>第六级</a:t>
            </a:r>
            <a:endParaRPr/>
          </a:p>
          <a:p xmlns:a="http://schemas.openxmlformats.org/drawingml/2006/main">
            <a:pPr marL="2971800" marR="0" lvl="6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第七级</a:t>
            </a:r>
            <a:endParaRPr/>
          </a:p>
          <a:p xmlns:a="http://schemas.openxmlformats.org/drawingml/2006/main">
            <a:pPr marL="3429000" marR="0" lvl="7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第八级</a:t>
            </a:r>
            <a:endParaRPr/>
          </a:p>
          <a:p xmlns:a="http://schemas.openxmlformats.org/drawingml/2006/main">
            <a:pPr marL="3886200" marR="0" lvl="8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t>第九级</a:t>
            </a:r>
            <a:endParaRPr/>
          </a:p>
          <a:p xmlns:a="http://schemas.openxmlformats.org/drawingml/2006/main">
            <a:pPr marL="3886200" marR="0" lvl="8" indent="-228600" algn="l" defTabSz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endParaRPr/>
          </a:p>
          <a:p xmlns:a="http://schemas.openxmlformats.org/drawingml/2006/main">
            <a:pPr lvl="5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a1ef7564fd4551"/>
    <p:sldLayoutId xmlns:r="http://schemas.openxmlformats.org/officeDocument/2006/relationships" id="2147483650" r:id="R30934e06bfad442b"/>
    <p:sldLayoutId xmlns:r="http://schemas.openxmlformats.org/officeDocument/2006/relationships" id="2147483651" r:id="Rf83ba01795b84223"/>
    <p:sldLayoutId xmlns:r="http://schemas.openxmlformats.org/officeDocument/2006/relationships" id="2147483652" r:id="R7a6b21545e7d495a"/>
    <p:sldLayoutId xmlns:r="http://schemas.openxmlformats.org/officeDocument/2006/relationships" id="2147483653" r:id="Rd70c84a7563241ac"/>
    <p:sldLayoutId xmlns:r="http://schemas.openxmlformats.org/officeDocument/2006/relationships" id="2147483654" r:id="Rb08b48baa8cd4144"/>
    <p:sldLayoutId xmlns:r="http://schemas.openxmlformats.org/officeDocument/2006/relationships" id="2147483655" r:id="R31661543a95347d7"/>
    <p:sldLayoutId xmlns:r="http://schemas.openxmlformats.org/officeDocument/2006/relationships" id="2147483656" r:id="Red1696f087ec4e04"/>
    <p:sldLayoutId xmlns:r="http://schemas.openxmlformats.org/officeDocument/2006/relationships" id="2147483657" r:id="Re3a8152b414e46b2"/>
    <p:sldLayoutId xmlns:r="http://schemas.openxmlformats.org/officeDocument/2006/relationships" id="2147483658" r:id="Raaf1600c49a14f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 defTabSz="914400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c9a60d38bb430e" /><Relationship Type="http://schemas.openxmlformats.org/officeDocument/2006/relationships/image" Target="/ppt/media/image2.png" Id="Rcd0c4f0642364022" /><Relationship Type="http://schemas.openxmlformats.org/officeDocument/2006/relationships/notesSlide" Target="/ppt/notesSlides/notesSlide1.xml" Id="R9a777e78aef648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五边形">
            <a:extLst xmlns:a="http://schemas.openxmlformats.org/drawingml/2006/main">
              <a:ext uri="{FF2B5EF4-FFF2-40B4-BE49-F238E27FC236}">
                <a16:creationId xmlns:a16="http://schemas.microsoft.com/office/drawing/2014/main" id="{88E040DD-2D48-41BC-BDE1-D36D086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667" y="511331"/>
            <a:ext cx="731860" cy="908048"/>
          </a:xfrm>
          <a:custGeom xmlns:a="http://schemas.openxmlformats.org/drawingml/2006/main">
            <a:gdLst>
              <a:gd name="connsiteX0" fmla="*/ 0 w 685800"/>
              <a:gd name="connsiteY0" fmla="*/ 0 h 1104900"/>
              <a:gd name="connsiteX1" fmla="*/ 685800 w 685800"/>
              <a:gd name="connsiteY1" fmla="*/ 0 h 1104900"/>
              <a:gd name="connsiteX2" fmla="*/ 685800 w 685800"/>
              <a:gd name="connsiteY2" fmla="*/ 1104900 h 1104900"/>
              <a:gd name="connsiteX3" fmla="*/ 0 w 685800"/>
              <a:gd name="connsiteY3" fmla="*/ 1104900 h 1104900"/>
              <a:gd name="connsiteX4" fmla="*/ 0 w 685800"/>
              <a:gd name="connsiteY4" fmla="*/ 0 h 1104900"/>
              <a:gd name="connsiteX0-1" fmla="*/ 0 w 685800"/>
              <a:gd name="connsiteY0-2" fmla="*/ 0 h 1104900"/>
              <a:gd name="connsiteX1-3" fmla="*/ 685800 w 685800"/>
              <a:gd name="connsiteY1-4" fmla="*/ 0 h 1104900"/>
              <a:gd name="connsiteX2-5" fmla="*/ 685800 w 685800"/>
              <a:gd name="connsiteY2-6" fmla="*/ 1104900 h 1104900"/>
              <a:gd name="connsiteX3-7" fmla="*/ 342900 w 685800"/>
              <a:gd name="connsiteY3-8" fmla="*/ 1092200 h 1104900"/>
              <a:gd name="connsiteX4-9" fmla="*/ 0 w 685800"/>
              <a:gd name="connsiteY4-10" fmla="*/ 1104900 h 1104900"/>
              <a:gd name="connsiteX5" fmla="*/ 0 w 685800"/>
              <a:gd name="connsiteY5" fmla="*/ 0 h 1104900"/>
              <a:gd name="connsiteX0-11" fmla="*/ 0 w 685800"/>
              <a:gd name="connsiteY0-12" fmla="*/ 0 h 1295400"/>
              <a:gd name="connsiteX1-13" fmla="*/ 685800 w 685800"/>
              <a:gd name="connsiteY1-14" fmla="*/ 0 h 1295400"/>
              <a:gd name="connsiteX2-15" fmla="*/ 685800 w 685800"/>
              <a:gd name="connsiteY2-16" fmla="*/ 1104900 h 1295400"/>
              <a:gd name="connsiteX3-17" fmla="*/ 342900 w 685800"/>
              <a:gd name="connsiteY3-18" fmla="*/ 1295400 h 1295400"/>
              <a:gd name="connsiteX4-19" fmla="*/ 0 w 685800"/>
              <a:gd name="connsiteY4-20" fmla="*/ 1104900 h 1295400"/>
              <a:gd name="connsiteX5-21" fmla="*/ 0 w 685800"/>
              <a:gd name="connsiteY5-22" fmla="*/ 0 h 1295400"/>
            </a:gdLst>
            <a:rect l="l" t="t" r="r" b="b"/>
            <a:pathLst>
              <a:path w="685800" h="1295400">
                <a:moveTo>
                  <a:pt x="0" y="0"/>
                </a:moveTo>
                <a:lnTo>
                  <a:pt x="685800" y="0"/>
                </a:lnTo>
                <a:lnTo>
                  <a:pt x="685800" y="1104900"/>
                </a:lnTo>
                <a:lnTo>
                  <a:pt x="342900" y="12954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121920" tIns="60960" rIns="121920" bIns="609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ong Preparation">
            <a:extLst xmlns:a="http://schemas.openxmlformats.org/drawingml/2006/main">
              <a:ext uri="{FF2B5EF4-FFF2-40B4-BE49-F238E27FC236}">
                <a16:creationId xmlns:a16="http://schemas.microsoft.com/office/drawing/2014/main" id="{7976CCAD-C86A-4C14-ADB8-A01A1241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4632" y="1054275"/>
            <a:ext cx="2623384" cy="28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endParaRPr sz="1050">
              <a:solidFill>
                <a:prstClr val="white">
                  <a:lumMod val="50000"/>
                </a:prst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基础扎实">
            <a:extLst xmlns:a="http://schemas.openxmlformats.org/drawingml/2006/main">
              <a:ext uri="{FF2B5EF4-FFF2-40B4-BE49-F238E27FC236}">
                <a16:creationId xmlns:a16="http://schemas.microsoft.com/office/drawing/2014/main" id="{07E67B7A-86E8-41B0-A1D2-60F1B8C4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984" y="568540"/>
            <a:ext cx="5462809" cy="485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20000"/>
              </a:lnSpc>
              <a:buNone/>
            </a:pPr>
            <a:r>
              <a:rPr sz="2500" b="1">
                <a:solidFill>
                  <a:srgbClr val="0039A6"/>
                </a:solidFill>
                <a:latin typeface="思源黑体"/>
                <a:ea typeface="思源黑体"/>
                <a:cs typeface="思源黑体"/>
              </a:rPr>
              <a:t>创新点：面向未来的救援网络</a:t>
            </a:r>
            <a:endParaRPr sz="2800" b="1" spc="300">
              <a:solidFill>
                <a:srgbClr val="003399"/>
              </a:solidFill>
            </a:endParaRPr>
          </a:p>
        </p:txBody>
      </p:sp>
      <p:sp>
        <p:nvSpPr>
          <p:cNvPr id="9" name="齿轮">
            <a:extLst xmlns:a="http://schemas.openxmlformats.org/drawingml/2006/main">
              <a:ext uri="{FF2B5EF4-FFF2-40B4-BE49-F238E27FC236}">
                <a16:creationId xmlns:a16="http://schemas.microsoft.com/office/drawing/2014/main" id="{1BAC2345-D4E2-438A-B267-5D77818D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3953" y="764313"/>
            <a:ext cx="401288" cy="402081"/>
          </a:xfrm>
          <a:custGeom xmlns:a="http://schemas.openxmlformats.org/drawingml/2006/main">
            <a:gdLst>
              <a:gd name="T0" fmla="*/ 3717 w 3906"/>
              <a:gd name="T1" fmla="*/ 1560 h 3920"/>
              <a:gd name="T2" fmla="*/ 3475 w 3906"/>
              <a:gd name="T3" fmla="*/ 1560 h 3920"/>
              <a:gd name="T4" fmla="*/ 3313 w 3906"/>
              <a:gd name="T5" fmla="*/ 1170 h 3920"/>
              <a:gd name="T6" fmla="*/ 3491 w 3906"/>
              <a:gd name="T7" fmla="*/ 992 h 3920"/>
              <a:gd name="T8" fmla="*/ 3491 w 3906"/>
              <a:gd name="T9" fmla="*/ 709 h 3920"/>
              <a:gd name="T10" fmla="*/ 3215 w 3906"/>
              <a:gd name="T11" fmla="*/ 433 h 3920"/>
              <a:gd name="T12" fmla="*/ 3074 w 3906"/>
              <a:gd name="T13" fmla="*/ 374 h 3920"/>
              <a:gd name="T14" fmla="*/ 2932 w 3906"/>
              <a:gd name="T15" fmla="*/ 433 h 3920"/>
              <a:gd name="T16" fmla="*/ 2752 w 3906"/>
              <a:gd name="T17" fmla="*/ 609 h 3920"/>
              <a:gd name="T18" fmla="*/ 2346 w 3906"/>
              <a:gd name="T19" fmla="*/ 442 h 3920"/>
              <a:gd name="T20" fmla="*/ 2346 w 3906"/>
              <a:gd name="T21" fmla="*/ 200 h 3920"/>
              <a:gd name="T22" fmla="*/ 2153 w 3906"/>
              <a:gd name="T23" fmla="*/ 0 h 3920"/>
              <a:gd name="T24" fmla="*/ 1762 w 3906"/>
              <a:gd name="T25" fmla="*/ 0 h 3920"/>
              <a:gd name="T26" fmla="*/ 1560 w 3906"/>
              <a:gd name="T27" fmla="*/ 200 h 3920"/>
              <a:gd name="T28" fmla="*/ 1560 w 3906"/>
              <a:gd name="T29" fmla="*/ 442 h 3920"/>
              <a:gd name="T30" fmla="*/ 1174 w 3906"/>
              <a:gd name="T31" fmla="*/ 601 h 3920"/>
              <a:gd name="T32" fmla="*/ 1009 w 3906"/>
              <a:gd name="T33" fmla="*/ 435 h 3920"/>
              <a:gd name="T34" fmla="*/ 726 w 3906"/>
              <a:gd name="T35" fmla="*/ 435 h 3920"/>
              <a:gd name="T36" fmla="*/ 450 w 3906"/>
              <a:gd name="T37" fmla="*/ 711 h 3920"/>
              <a:gd name="T38" fmla="*/ 450 w 3906"/>
              <a:gd name="T39" fmla="*/ 994 h 3920"/>
              <a:gd name="T40" fmla="*/ 611 w 3906"/>
              <a:gd name="T41" fmla="*/ 1155 h 3920"/>
              <a:gd name="T42" fmla="*/ 441 w 3906"/>
              <a:gd name="T43" fmla="*/ 1560 h 3920"/>
              <a:gd name="T44" fmla="*/ 204 w 3906"/>
              <a:gd name="T45" fmla="*/ 1560 h 3920"/>
              <a:gd name="T46" fmla="*/ 0 w 3906"/>
              <a:gd name="T47" fmla="*/ 1761 h 3920"/>
              <a:gd name="T48" fmla="*/ 0 w 3906"/>
              <a:gd name="T49" fmla="*/ 2152 h 3920"/>
              <a:gd name="T50" fmla="*/ 204 w 3906"/>
              <a:gd name="T51" fmla="*/ 2347 h 3920"/>
              <a:gd name="T52" fmla="*/ 439 w 3906"/>
              <a:gd name="T53" fmla="*/ 2347 h 3920"/>
              <a:gd name="T54" fmla="*/ 608 w 3906"/>
              <a:gd name="T55" fmla="*/ 2754 h 3920"/>
              <a:gd name="T56" fmla="*/ 448 w 3906"/>
              <a:gd name="T57" fmla="*/ 2916 h 3920"/>
              <a:gd name="T58" fmla="*/ 448 w 3906"/>
              <a:gd name="T59" fmla="*/ 3199 h 3920"/>
              <a:gd name="T60" fmla="*/ 724 w 3906"/>
              <a:gd name="T61" fmla="*/ 3476 h 3920"/>
              <a:gd name="T62" fmla="*/ 866 w 3906"/>
              <a:gd name="T63" fmla="*/ 3535 h 3920"/>
              <a:gd name="T64" fmla="*/ 1007 w 3906"/>
              <a:gd name="T65" fmla="*/ 3476 h 3920"/>
              <a:gd name="T66" fmla="*/ 1167 w 3906"/>
              <a:gd name="T67" fmla="*/ 3315 h 3920"/>
              <a:gd name="T68" fmla="*/ 1560 w 3906"/>
              <a:gd name="T69" fmla="*/ 3478 h 3920"/>
              <a:gd name="T70" fmla="*/ 1560 w 3906"/>
              <a:gd name="T71" fmla="*/ 3713 h 3920"/>
              <a:gd name="T72" fmla="*/ 1762 w 3906"/>
              <a:gd name="T73" fmla="*/ 3920 h 3920"/>
              <a:gd name="T74" fmla="*/ 2153 w 3906"/>
              <a:gd name="T75" fmla="*/ 3920 h 3920"/>
              <a:gd name="T76" fmla="*/ 2346 w 3906"/>
              <a:gd name="T77" fmla="*/ 3713 h 3920"/>
              <a:gd name="T78" fmla="*/ 2346 w 3906"/>
              <a:gd name="T79" fmla="*/ 3478 h 3920"/>
              <a:gd name="T80" fmla="*/ 2758 w 3906"/>
              <a:gd name="T81" fmla="*/ 3306 h 3920"/>
              <a:gd name="T82" fmla="*/ 2932 w 3906"/>
              <a:gd name="T83" fmla="*/ 3478 h 3920"/>
              <a:gd name="T84" fmla="*/ 3075 w 3906"/>
              <a:gd name="T85" fmla="*/ 3537 h 3920"/>
              <a:gd name="T86" fmla="*/ 3217 w 3906"/>
              <a:gd name="T87" fmla="*/ 3478 h 3920"/>
              <a:gd name="T88" fmla="*/ 3493 w 3906"/>
              <a:gd name="T89" fmla="*/ 3202 h 3920"/>
              <a:gd name="T90" fmla="*/ 3493 w 3906"/>
              <a:gd name="T91" fmla="*/ 2919 h 3920"/>
              <a:gd name="T92" fmla="*/ 3317 w 3906"/>
              <a:gd name="T93" fmla="*/ 2740 h 3920"/>
              <a:gd name="T94" fmla="*/ 3477 w 3906"/>
              <a:gd name="T95" fmla="*/ 2347 h 3920"/>
              <a:gd name="T96" fmla="*/ 3717 w 3906"/>
              <a:gd name="T97" fmla="*/ 2347 h 3920"/>
              <a:gd name="T98" fmla="*/ 3906 w 3906"/>
              <a:gd name="T99" fmla="*/ 2152 h 3920"/>
              <a:gd name="T100" fmla="*/ 3906 w 3906"/>
              <a:gd name="T101" fmla="*/ 1761 h 3920"/>
              <a:gd name="T102" fmla="*/ 3717 w 3906"/>
              <a:gd name="T103" fmla="*/ 1560 h 3920"/>
              <a:gd name="T104" fmla="*/ 2540 w 3906"/>
              <a:gd name="T105" fmla="*/ 1960 h 3920"/>
              <a:gd name="T106" fmla="*/ 1958 w 3906"/>
              <a:gd name="T107" fmla="*/ 2542 h 3920"/>
              <a:gd name="T108" fmla="*/ 1376 w 3906"/>
              <a:gd name="T109" fmla="*/ 1960 h 3920"/>
              <a:gd name="T110" fmla="*/ 1958 w 3906"/>
              <a:gd name="T111" fmla="*/ 1378 h 3920"/>
              <a:gd name="T112" fmla="*/ 2540 w 3906"/>
              <a:gd name="T113" fmla="*/ 1960 h 3920"/>
            </a:gdLst>
            <a:rect l="0" t="0" r="r" b="b"/>
            <a:pathLst>
              <a:path w="3906" h="3920">
                <a:moveTo>
                  <a:pt x="3717" y="1560"/>
                </a:moveTo>
                <a:lnTo>
                  <a:pt x="3475" y="1560"/>
                </a:lnTo>
                <a:cubicBezTo>
                  <a:pt x="3439" y="1427"/>
                  <a:pt x="3384" y="1291"/>
                  <a:pt x="3313" y="1170"/>
                </a:cubicBezTo>
                <a:lnTo>
                  <a:pt x="3491" y="992"/>
                </a:lnTo>
                <a:cubicBezTo>
                  <a:pt x="3570" y="914"/>
                  <a:pt x="3570" y="787"/>
                  <a:pt x="3491" y="709"/>
                </a:cubicBezTo>
                <a:lnTo>
                  <a:pt x="3215" y="433"/>
                </a:lnTo>
                <a:cubicBezTo>
                  <a:pt x="3177" y="395"/>
                  <a:pt x="3127" y="374"/>
                  <a:pt x="3074" y="374"/>
                </a:cubicBezTo>
                <a:cubicBezTo>
                  <a:pt x="3020" y="374"/>
                  <a:pt x="2970" y="395"/>
                  <a:pt x="2932" y="433"/>
                </a:cubicBezTo>
                <a:lnTo>
                  <a:pt x="2752" y="609"/>
                </a:lnTo>
                <a:cubicBezTo>
                  <a:pt x="2628" y="536"/>
                  <a:pt x="2493" y="479"/>
                  <a:pt x="2346" y="442"/>
                </a:cubicBezTo>
                <a:lnTo>
                  <a:pt x="2346" y="200"/>
                </a:lnTo>
                <a:cubicBezTo>
                  <a:pt x="2346" y="90"/>
                  <a:pt x="2264" y="0"/>
                  <a:pt x="2153" y="0"/>
                </a:cubicBezTo>
                <a:lnTo>
                  <a:pt x="1762" y="0"/>
                </a:lnTo>
                <a:cubicBezTo>
                  <a:pt x="1652" y="0"/>
                  <a:pt x="1560" y="90"/>
                  <a:pt x="1560" y="200"/>
                </a:cubicBezTo>
                <a:lnTo>
                  <a:pt x="1560" y="442"/>
                </a:lnTo>
                <a:cubicBezTo>
                  <a:pt x="1426" y="477"/>
                  <a:pt x="1294" y="531"/>
                  <a:pt x="1174" y="601"/>
                </a:cubicBezTo>
                <a:lnTo>
                  <a:pt x="1009" y="435"/>
                </a:lnTo>
                <a:cubicBezTo>
                  <a:pt x="930" y="357"/>
                  <a:pt x="804" y="357"/>
                  <a:pt x="726" y="435"/>
                </a:cubicBezTo>
                <a:lnTo>
                  <a:pt x="450" y="711"/>
                </a:lnTo>
                <a:cubicBezTo>
                  <a:pt x="372" y="789"/>
                  <a:pt x="372" y="916"/>
                  <a:pt x="450" y="994"/>
                </a:cubicBezTo>
                <a:lnTo>
                  <a:pt x="611" y="1155"/>
                </a:lnTo>
                <a:cubicBezTo>
                  <a:pt x="536" y="1280"/>
                  <a:pt x="478" y="1413"/>
                  <a:pt x="441" y="1560"/>
                </a:cubicBezTo>
                <a:lnTo>
                  <a:pt x="204" y="1560"/>
                </a:lnTo>
                <a:cubicBezTo>
                  <a:pt x="94" y="1560"/>
                  <a:pt x="0" y="1651"/>
                  <a:pt x="0" y="1761"/>
                </a:cubicBezTo>
                <a:lnTo>
                  <a:pt x="0" y="2152"/>
                </a:lnTo>
                <a:cubicBezTo>
                  <a:pt x="0" y="2263"/>
                  <a:pt x="94" y="2347"/>
                  <a:pt x="204" y="2347"/>
                </a:cubicBezTo>
                <a:lnTo>
                  <a:pt x="439" y="2347"/>
                </a:lnTo>
                <a:cubicBezTo>
                  <a:pt x="476" y="2493"/>
                  <a:pt x="534" y="2629"/>
                  <a:pt x="608" y="2754"/>
                </a:cubicBezTo>
                <a:lnTo>
                  <a:pt x="448" y="2916"/>
                </a:lnTo>
                <a:cubicBezTo>
                  <a:pt x="370" y="2994"/>
                  <a:pt x="370" y="3121"/>
                  <a:pt x="448" y="3199"/>
                </a:cubicBezTo>
                <a:lnTo>
                  <a:pt x="724" y="3476"/>
                </a:lnTo>
                <a:cubicBezTo>
                  <a:pt x="763" y="3515"/>
                  <a:pt x="815" y="3535"/>
                  <a:pt x="866" y="3535"/>
                </a:cubicBezTo>
                <a:cubicBezTo>
                  <a:pt x="917" y="3535"/>
                  <a:pt x="968" y="3515"/>
                  <a:pt x="1007" y="3476"/>
                </a:cubicBezTo>
                <a:lnTo>
                  <a:pt x="1167" y="3315"/>
                </a:lnTo>
                <a:cubicBezTo>
                  <a:pt x="1289" y="3386"/>
                  <a:pt x="1413" y="3441"/>
                  <a:pt x="1560" y="3478"/>
                </a:cubicBezTo>
                <a:lnTo>
                  <a:pt x="1560" y="3713"/>
                </a:lnTo>
                <a:cubicBezTo>
                  <a:pt x="1560" y="3824"/>
                  <a:pt x="1652" y="3920"/>
                  <a:pt x="1762" y="3920"/>
                </a:cubicBezTo>
                <a:lnTo>
                  <a:pt x="2153" y="3920"/>
                </a:lnTo>
                <a:cubicBezTo>
                  <a:pt x="2264" y="3920"/>
                  <a:pt x="2346" y="3824"/>
                  <a:pt x="2346" y="3713"/>
                </a:cubicBezTo>
                <a:lnTo>
                  <a:pt x="2346" y="3478"/>
                </a:lnTo>
                <a:cubicBezTo>
                  <a:pt x="2493" y="3440"/>
                  <a:pt x="2632" y="3381"/>
                  <a:pt x="2758" y="3306"/>
                </a:cubicBezTo>
                <a:lnTo>
                  <a:pt x="2932" y="3478"/>
                </a:lnTo>
                <a:cubicBezTo>
                  <a:pt x="2971" y="3518"/>
                  <a:pt x="3024" y="3537"/>
                  <a:pt x="3075" y="3537"/>
                </a:cubicBezTo>
                <a:cubicBezTo>
                  <a:pt x="3126" y="3537"/>
                  <a:pt x="3178" y="3518"/>
                  <a:pt x="3217" y="3478"/>
                </a:cubicBezTo>
                <a:lnTo>
                  <a:pt x="3493" y="3202"/>
                </a:lnTo>
                <a:cubicBezTo>
                  <a:pt x="3571" y="3124"/>
                  <a:pt x="3572" y="2997"/>
                  <a:pt x="3493" y="2919"/>
                </a:cubicBezTo>
                <a:lnTo>
                  <a:pt x="3317" y="2740"/>
                </a:lnTo>
                <a:cubicBezTo>
                  <a:pt x="3387" y="2619"/>
                  <a:pt x="3441" y="2493"/>
                  <a:pt x="3477" y="2347"/>
                </a:cubicBezTo>
                <a:lnTo>
                  <a:pt x="3717" y="2347"/>
                </a:lnTo>
                <a:cubicBezTo>
                  <a:pt x="3828" y="2347"/>
                  <a:pt x="3906" y="2263"/>
                  <a:pt x="3906" y="2152"/>
                </a:cubicBezTo>
                <a:lnTo>
                  <a:pt x="3906" y="1761"/>
                </a:lnTo>
                <a:cubicBezTo>
                  <a:pt x="3906" y="1651"/>
                  <a:pt x="3828" y="1560"/>
                  <a:pt x="3717" y="1560"/>
                </a:cubicBezTo>
                <a:close/>
                <a:moveTo>
                  <a:pt x="2540" y="1960"/>
                </a:moveTo>
                <a:cubicBezTo>
                  <a:pt x="2540" y="2281"/>
                  <a:pt x="2279" y="2542"/>
                  <a:pt x="1958" y="2542"/>
                </a:cubicBezTo>
                <a:cubicBezTo>
                  <a:pt x="1637" y="2542"/>
                  <a:pt x="1376" y="2281"/>
                  <a:pt x="1376" y="1960"/>
                </a:cubicBezTo>
                <a:cubicBezTo>
                  <a:pt x="1376" y="1639"/>
                  <a:pt x="1637" y="1378"/>
                  <a:pt x="1958" y="1378"/>
                </a:cubicBezTo>
                <a:cubicBezTo>
                  <a:pt x="2279" y="1378"/>
                  <a:pt x="2540" y="1639"/>
                  <a:pt x="2540" y="196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4" name="合作QQ： 243001978">
            <a:extLst xmlns:a="http://schemas.openxmlformats.org/drawingml/2006/main">
              <a:ext uri="{FF2B5EF4-FFF2-40B4-BE49-F238E27FC236}">
                <a16:creationId xmlns:a16="http://schemas.microsoft.com/office/drawing/2014/main" id="{2E34020D-5374-445D-972C-F96EDE2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000" y="6480000"/>
            <a:ext cx="2450000" cy="2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城市方舟 / 最终答辩 / 创新设想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" name="色块">
            <a:extLst xmlns:a="http://schemas.openxmlformats.org/drawingml/2006/main">
              <a:ext uri="{FF2B5EF4-FFF2-40B4-BE49-F238E27FC236}">
                <a16:creationId xmlns:a16="http://schemas.microsoft.com/office/drawing/2014/main" id="{0C47EBEC-099C-431D-813A-DF71985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673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2FD7B4B-5BAD-46DE-ADB1-B4B94BC4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0"/>
            <a:ext cx="2204720" cy="46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>
              <a:alpha val="100000"/>
            </a:srgb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85172A7-BEA8-4251-BCE7-AB857381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问题识别</a:t>
            </a:r>
            <a:endParaRPr b="1">
              <a:solidFill>
                <a:srgbClr val="F2F2F2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7A47DA0-9A61-44E4-B6E3-95BDCE6E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文献调研</a:t>
            </a:r>
            <a:endParaRPr b="1">
              <a:solidFill>
                <a:srgbClr val="2E75B6"/>
              </a:solidFill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D8874F1-72E0-45B3-A135-68EE8877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方案设计</a:t>
            </a:r>
            <a:endParaRPr b="1">
              <a:solidFill>
                <a:srgbClr val="F2F2F2"/>
              </a:solidFill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971F889-B0C4-45F9-A314-A150DCB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12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迭代优化</a:t>
            </a:r>
            <a:endParaRPr b="1">
              <a:solidFill>
                <a:srgbClr val="F2F2F2"/>
              </a:solidFill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7A14FF9-33C8-4618-8059-9B77CCA7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480" y="48895"/>
            <a:ext cx="1097280" cy="36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创新点</a:t>
            </a:r>
            <a:endParaRPr b="1">
              <a:solidFill>
                <a:srgbClr val="F2F2F2"/>
              </a:solidFill>
            </a:endParaRPr>
          </a:p>
        </p:txBody>
      </p:sp>
      <p:sp>
        <p:nvSpPr>
          <p:cNvPr id="79" name="Oval 1">
            <a:extLst xmlns:a="http://schemas.openxmlformats.org/drawingml/2006/main">
              <a:ext uri="{FF2B5EF4-FFF2-40B4-BE49-F238E27FC236}">
                <a16:creationId xmlns:a16="http://schemas.microsoft.com/office/drawing/2014/main" id="{8E323A08-331F-46C8-922A-0560FE0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4030345"/>
            <a:ext cx="2377440" cy="23774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6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Oval 2">
            <a:extLst xmlns:a="http://schemas.openxmlformats.org/drawingml/2006/main">
              <a:ext uri="{FF2B5EF4-FFF2-40B4-BE49-F238E27FC236}">
                <a16:creationId xmlns:a16="http://schemas.microsoft.com/office/drawing/2014/main" id="{9C1D2C4B-76CB-42D0-BDA7-D4CDB138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533265"/>
            <a:ext cx="1371600" cy="1371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6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Oval 3">
            <a:extLst xmlns:a="http://schemas.openxmlformats.org/drawingml/2006/main">
              <a:ext uri="{FF2B5EF4-FFF2-40B4-BE49-F238E27FC236}">
                <a16:creationId xmlns:a16="http://schemas.microsoft.com/office/drawing/2014/main" id="{CFC2C108-F642-43BE-ADAB-70ADE94D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310" y="499046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6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9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98E9FF3-7634-43A6-B824-632C22D9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42" y="1470025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Oval 17">
            <a:extLst xmlns:a="http://schemas.openxmlformats.org/drawingml/2006/main">
              <a:ext uri="{FF2B5EF4-FFF2-40B4-BE49-F238E27FC236}">
                <a16:creationId xmlns:a16="http://schemas.microsoft.com/office/drawing/2014/main" id="{6283B779-773B-4831-AE41-E43D4FA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1726057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1" name="TextBox 18">
            <a:extLst xmlns:a="http://schemas.openxmlformats.org/drawingml/2006/main">
              <a:ext uri="{FF2B5EF4-FFF2-40B4-BE49-F238E27FC236}">
                <a16:creationId xmlns:a16="http://schemas.microsoft.com/office/drawing/2014/main" id="{6D6C4849-F677-474A-9530-EA0330E6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1726057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01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TextBox 19">
            <a:extLst xmlns:a="http://schemas.openxmlformats.org/drawingml/2006/main">
              <a:ext uri="{FF2B5EF4-FFF2-40B4-BE49-F238E27FC236}">
                <a16:creationId xmlns:a16="http://schemas.microsoft.com/office/drawing/2014/main" id="{DF66E8BB-3DA7-40F8-A65B-F8BE6A62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1616329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自主协同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TextBox 20">
            <a:extLst xmlns:a="http://schemas.openxmlformats.org/drawingml/2006/main">
              <a:ext uri="{FF2B5EF4-FFF2-40B4-BE49-F238E27FC236}">
                <a16:creationId xmlns:a16="http://schemas.microsoft.com/office/drawing/2014/main" id="{86777840-44BE-4742-83D6-2F8A2966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1927225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基站统一接收求援，船队动态派单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Box 21">
            <a:extLst xmlns:a="http://schemas.openxmlformats.org/drawingml/2006/main">
              <a:ext uri="{FF2B5EF4-FFF2-40B4-BE49-F238E27FC236}">
                <a16:creationId xmlns:a16="http://schemas.microsoft.com/office/drawing/2014/main" id="{987AEB0B-0B17-4710-8EC2-279E17F8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2256409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系统综合紧急度、航道与剩余电量，协调多船分工。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5" name="TextBox 22">
            <a:extLst xmlns:a="http://schemas.openxmlformats.org/drawingml/2006/main">
              <a:ext uri="{FF2B5EF4-FFF2-40B4-BE49-F238E27FC236}">
                <a16:creationId xmlns:a16="http://schemas.microsoft.com/office/drawing/2014/main" id="{38EE0707-D47C-42C2-B2EC-7016997B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2494153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未来价值：有限运力优先响应紧急需求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074FE46-0FC9-431A-B909-58FD62A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42" y="2777617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" name="Oval 31">
            <a:extLst xmlns:a="http://schemas.openxmlformats.org/drawingml/2006/main">
              <a:ext uri="{FF2B5EF4-FFF2-40B4-BE49-F238E27FC236}">
                <a16:creationId xmlns:a16="http://schemas.microsoft.com/office/drawing/2014/main" id="{A633EFE8-76F4-4C5B-B8C9-F868D03C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303364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TextBox 32">
            <a:extLst xmlns:a="http://schemas.openxmlformats.org/drawingml/2006/main">
              <a:ext uri="{FF2B5EF4-FFF2-40B4-BE49-F238E27FC236}">
                <a16:creationId xmlns:a16="http://schemas.microsoft.com/office/drawing/2014/main" id="{C1E988A9-6989-4BE5-8AA0-7976B483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3033649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02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Box 33">
            <a:extLst xmlns:a="http://schemas.openxmlformats.org/drawingml/2006/main">
              <a:ext uri="{FF2B5EF4-FFF2-40B4-BE49-F238E27FC236}">
                <a16:creationId xmlns:a16="http://schemas.microsoft.com/office/drawing/2014/main" id="{93C5AE3C-C4B6-4478-AC81-3EB53E78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2923921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持续运行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" name="TextBox 34">
            <a:extLst xmlns:a="http://schemas.openxmlformats.org/drawingml/2006/main">
              <a:ext uri="{FF2B5EF4-FFF2-40B4-BE49-F238E27FC236}">
                <a16:creationId xmlns:a16="http://schemas.microsoft.com/office/drawing/2014/main" id="{5FF11DAB-46DA-48BF-9C27-04D29B1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3234817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两栖通行与自动补能共同延长出勤时间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Box 35">
            <a:extLst xmlns:a="http://schemas.openxmlformats.org/drawingml/2006/main">
              <a:ext uri="{FF2B5EF4-FFF2-40B4-BE49-F238E27FC236}">
                <a16:creationId xmlns:a16="http://schemas.microsoft.com/office/drawing/2014/main" id="{14A83680-0C2A-4482-A0EE-BC7541B0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3564001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小型船队轮换执行配送任务，减少转运和补能等待。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9" name="TextBox 36">
            <a:extLst xmlns:a="http://schemas.openxmlformats.org/drawingml/2006/main">
              <a:ext uri="{FF2B5EF4-FFF2-40B4-BE49-F238E27FC236}">
                <a16:creationId xmlns:a16="http://schemas.microsoft.com/office/drawing/2014/main" id="{FC408618-FF3F-47F5-996F-EED468E6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3801745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未来价值：形成可连续服务的救援窗口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7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EBA41B6A-985F-433A-9D9A-EFFF956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42" y="4085209"/>
            <a:ext cx="53949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8" name="Oval 45">
            <a:extLst xmlns:a="http://schemas.openxmlformats.org/drawingml/2006/main">
              <a:ext uri="{FF2B5EF4-FFF2-40B4-BE49-F238E27FC236}">
                <a16:creationId xmlns:a16="http://schemas.microsoft.com/office/drawing/2014/main" id="{E9F0123E-C689-4747-88C7-17851640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434124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TextBox 46">
            <a:extLst xmlns:a="http://schemas.openxmlformats.org/drawingml/2006/main">
              <a:ext uri="{FF2B5EF4-FFF2-40B4-BE49-F238E27FC236}">
                <a16:creationId xmlns:a16="http://schemas.microsoft.com/office/drawing/2014/main" id="{D3C7E074-C0CA-4EF4-A36F-9DCD4B27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909" y="434124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03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Box 47">
            <a:extLst xmlns:a="http://schemas.openxmlformats.org/drawingml/2006/main">
              <a:ext uri="{FF2B5EF4-FFF2-40B4-BE49-F238E27FC236}">
                <a16:creationId xmlns:a16="http://schemas.microsoft.com/office/drawing/2014/main" id="{69CF43DF-395A-4860-AB87-47E3FD2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4231513"/>
            <a:ext cx="4526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韧性通信</a:t>
            </a:r>
            <a:endParaRPr sz="1600" b="1">
              <a:solidFill>
                <a:srgbClr val="1045C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1" name="TextBox 48">
            <a:extLst xmlns:a="http://schemas.openxmlformats.org/drawingml/2006/main">
              <a:ext uri="{FF2B5EF4-FFF2-40B4-BE49-F238E27FC236}">
                <a16:creationId xmlns:a16="http://schemas.microsoft.com/office/drawing/2014/main" id="{E3A02F07-B4BC-402F-8BDF-9365C31A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262" y="4542409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公网中断时保留局部求援、定位与派单</a:t>
            </a:r>
            <a:endParaRPr sz="950" b="0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Box 49">
            <a:extLst xmlns:a="http://schemas.openxmlformats.org/drawingml/2006/main">
              <a:ext uri="{FF2B5EF4-FFF2-40B4-BE49-F238E27FC236}">
                <a16:creationId xmlns:a16="http://schemas.microsoft.com/office/drawing/2014/main" id="{D0A3081F-05E2-4CA8-95E9-2A9B715E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4871593"/>
            <a:ext cx="5010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9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中心基站维持本地服务，巡检船移动中继扩展覆盖。</a:t>
            </a:r>
            <a:endParaRPr sz="1100" b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3" name="TextBox 50">
            <a:extLst xmlns:a="http://schemas.openxmlformats.org/drawingml/2006/main">
              <a:ext uri="{FF2B5EF4-FFF2-40B4-BE49-F238E27FC236}">
                <a16:creationId xmlns:a16="http://schemas.microsoft.com/office/drawing/2014/main" id="{11D53D7C-906C-49AD-B5C6-5004C734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486" y="5109337"/>
            <a:ext cx="5010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未来价值：降低对公网可用性的依赖</a:t>
            </a:r>
            <a:endParaRPr sz="1000" b="0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Rectangle 123">
            <a:extLst xmlns:a="http://schemas.openxmlformats.org/drawingml/2006/main">
              <a:ext uri="{FF2B5EF4-FFF2-40B4-BE49-F238E27FC236}">
                <a16:creationId xmlns:a16="http://schemas.microsoft.com/office/drawing/2014/main" id="{6B2F3E45-DA08-4702-8965-F1F2858C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2801"/>
            <a:ext cx="11288400" cy="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5" name="Oval 124">
            <a:extLst xmlns:a="http://schemas.openxmlformats.org/drawingml/2006/main">
              <a:ext uri="{FF2B5EF4-FFF2-40B4-BE49-F238E27FC236}">
                <a16:creationId xmlns:a16="http://schemas.microsoft.com/office/drawing/2014/main" id="{AC5DADAA-5BA2-41AC-8C40-DEFB1B88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" y="563280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5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核</a:t>
            </a:r>
          </a:p>
        </p:txBody>
      </p:sp>
      <p:sp>
        <p:nvSpPr>
          <p:cNvPr id="126" name="TextBox 125">
            <a:extLst xmlns:a="http://schemas.openxmlformats.org/drawingml/2006/main">
              <a:ext uri="{FF2B5EF4-FFF2-40B4-BE49-F238E27FC236}">
                <a16:creationId xmlns:a16="http://schemas.microsoft.com/office/drawing/2014/main" id="{C01719E9-D6F8-4113-98DC-C542AC29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5502801"/>
            <a:ext cx="1800000" cy="323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r>
              <a:rPr sz="152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“未来”的核心</a:t>
            </a:r>
          </a:p>
        </p:txBody>
      </p:sp>
      <p:sp>
        <p:nvSpPr>
          <p:cNvPr id="127" name="TextBox 126">
            <a:extLst xmlns:a="http://schemas.openxmlformats.org/drawingml/2006/main">
              <a:ext uri="{FF2B5EF4-FFF2-40B4-BE49-F238E27FC236}">
                <a16:creationId xmlns:a16="http://schemas.microsoft.com/office/drawing/2014/main" id="{79823CB0-3947-4A86-A938-D7B1F29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" y="5772801"/>
            <a:ext cx="98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把单台救援装备升级为可部署、可协同、可持续运行的社区救援网络。</a:t>
            </a:r>
          </a:p>
        </p:txBody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c4f0642364022"/>
          <a:srcRect xmlns:a="http://schemas.openxmlformats.org/drawingml/2006/main" l="3286" t="0" r="3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469993"/>
            <a:ext cx="5394960" cy="38496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72433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2026-09-09T11:34:24.9620000Z</dcterms:created>
  <dcterms:modified xsi:type="dcterms:W3CDTF">2026-09-09T11:34:24.9620000Z</dcterms:modified>
</coreProperties>
</file>