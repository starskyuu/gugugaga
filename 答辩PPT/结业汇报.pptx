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07" r:id="rId3"/>
    <p:sldId id="304" r:id="rId5"/>
    <p:sldId id="321" r:id="rId6"/>
    <p:sldId id="322" r:id="rId7"/>
    <p:sldId id="324" r:id="rId8"/>
    <p:sldId id="325" r:id="rId9"/>
    <p:sldId id="323" r:id="rId10"/>
    <p:sldId id="326" r:id="rId11"/>
    <p:sldId id="327" r:id="rId12"/>
    <p:sldId id="317" r:id="rId13"/>
  </p:sldIdLst>
  <p:sldSz cx="12192000" cy="6858000"/>
  <p:notesSz cx="7103745" cy="10234295"/>
  <p:embeddedFontLst>
    <p:embeddedFont>
      <p:font typeface="微软雅黑" panose="020B0503020204020204" charset="-122"/>
      <p:regular r:id="rId19"/>
      <p:bold r:id="rId20"/>
    </p:embeddedFont>
    <p:embeddedFont>
      <p:font typeface="方正大黑体_GBK" panose="02010600010101010101" charset="-122"/>
      <p:regular r:id="rId21"/>
    </p:embeddedFont>
    <p:embeddedFont>
      <p:font typeface="汉仪力量黑简" panose="00020600040101010101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Impact" panose="020B0806030902050204" charset="0"/>
      <p:regular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0" name="张瀚宸_bumyaMf2" initials="authorId_1291355173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F"/>
    <a:srgbClr val="5B9BD5"/>
    <a:srgbClr val="5092CE"/>
    <a:srgbClr val="1066D8"/>
    <a:srgbClr val="E2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69E4901-32C0-4D93-AF81-F049EBBDC311}" styleName="表样式 1 17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9ABA5346-90C3-412A-A5BE-46D16653969D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3.xml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en-US" dirty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rPr>
            </a:fld>
            <a:endParaRPr lang="en-US" altLang="en-US" dirty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en-US" dirty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rPr>
            </a:fld>
            <a:endParaRPr lang="en-US" altLang="en-US" dirty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QQ20260901-163919"/>
          <p:cNvPicPr>
            <a:picLocks noChangeAspect="1"/>
          </p:cNvPicPr>
          <p:nvPr userDrawn="1"/>
        </p:nvPicPr>
        <p:blipFill>
          <a:blip r:embed="rId11">
            <a:alphaModFix amt="10000"/>
          </a:blip>
          <a:stretch>
            <a:fillRect/>
          </a:stretch>
        </p:blipFill>
        <p:spPr>
          <a:xfrm>
            <a:off x="2312670" y="0"/>
            <a:ext cx="7566660" cy="685863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openxmlformats.org/officeDocument/2006/relationships/themeOverride" Target="../theme/themeOverride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wmf"/><Relationship Id="rId14" Type="http://schemas.openxmlformats.org/officeDocument/2006/relationships/notesSlide" Target="../notesSlides/notesSlide4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18.jpeg"/><Relationship Id="rId10" Type="http://schemas.openxmlformats.org/officeDocument/2006/relationships/image" Target="../media/image17.png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0.wmf"/><Relationship Id="rId16" Type="http://schemas.openxmlformats.org/officeDocument/2006/relationships/notesSlide" Target="../notesSlides/notesSlide5.xml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0.wmf"/><Relationship Id="rId14" Type="http://schemas.openxmlformats.org/officeDocument/2006/relationships/notesSlide" Target="../notesSlides/notesSlide7.xml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18.jpeg"/><Relationship Id="rId10" Type="http://schemas.openxmlformats.org/officeDocument/2006/relationships/image" Target="../media/image17.png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2.jpeg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8505" cy="6849110"/>
          </a:xfrm>
          <a:prstGeom prst="rect">
            <a:avLst/>
          </a:prstGeom>
        </p:spPr>
      </p:pic>
      <p:sp>
        <p:nvSpPr>
          <p:cNvPr id="16" name="合作QQ： 243001978"/>
          <p:cNvSpPr/>
          <p:nvPr/>
        </p:nvSpPr>
        <p:spPr>
          <a:xfrm>
            <a:off x="9737482" y="648866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合作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QQ</a:t>
            </a:r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： 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243001978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背景色块"/>
          <p:cNvSpPr/>
          <p:nvPr/>
        </p:nvSpPr>
        <p:spPr>
          <a:xfrm>
            <a:off x="0" y="5723255"/>
            <a:ext cx="12192000" cy="11347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"/>
          <p:cNvSpPr/>
          <p:nvPr/>
        </p:nvSpPr>
        <p:spPr>
          <a:xfrm flipV="1">
            <a:off x="5935980" y="5723500"/>
            <a:ext cx="320040" cy="275896"/>
          </a:xfrm>
          <a:prstGeom prst="triangle">
            <a:avLst/>
          </a:prstGeom>
          <a:solidFill>
            <a:srgbClr val="5092CE"/>
          </a:solidFill>
          <a:ln>
            <a:solidFill>
              <a:srgbClr val="5092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主标题英文"/>
          <p:cNvSpPr txBox="1"/>
          <p:nvPr/>
        </p:nvSpPr>
        <p:spPr>
          <a:xfrm>
            <a:off x="538480" y="5723255"/>
            <a:ext cx="3706495" cy="981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defTabSz="457200"/>
            <a:r>
              <a:rPr lang="zh-CN" altLang="en-US" b="1" smtClean="0">
                <a:solidFill>
                  <a:srgbClr val="5092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大黑体_GBK" panose="02010600010101010101" charset="-122"/>
              </a:rPr>
              <a:t>队长：刘富城</a:t>
            </a:r>
            <a:endParaRPr lang="zh-CN" altLang="en-US" b="1" smtClean="0">
              <a:solidFill>
                <a:srgbClr val="5092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大黑体_GBK" panose="02010600010101010101" charset="-122"/>
            </a:endParaRPr>
          </a:p>
          <a:p>
            <a:pPr algn="l" defTabSz="457200"/>
            <a:r>
              <a:rPr lang="zh-CN" altLang="en-US" b="1" smtClean="0">
                <a:solidFill>
                  <a:srgbClr val="5092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大黑体_GBK" panose="02010600010101010101" charset="-122"/>
              </a:rPr>
              <a:t>队员：张迪翔、刘语晨、姜迩宁</a:t>
            </a:r>
            <a:endParaRPr lang="zh-CN" altLang="en-US" b="1" smtClean="0">
              <a:solidFill>
                <a:srgbClr val="5092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大黑体_GBK" panose="02010600010101010101" charset="-122"/>
            </a:endParaRPr>
          </a:p>
          <a:p>
            <a:pPr algn="l" defTabSz="457200"/>
            <a:r>
              <a:rPr lang="zh-CN" altLang="en-US" b="1" smtClean="0">
                <a:solidFill>
                  <a:srgbClr val="5092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大黑体_GBK" panose="02010600010101010101" charset="-122"/>
              </a:rPr>
              <a:t>日期：</a:t>
            </a:r>
            <a:r>
              <a:rPr lang="en-US" altLang="zh-CN" b="1" smtClean="0">
                <a:solidFill>
                  <a:srgbClr val="5092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大黑体_GBK" panose="02010600010101010101" charset="-122"/>
              </a:rPr>
              <a:t>2026.9.11</a:t>
            </a:r>
            <a:endParaRPr lang="en-US" altLang="zh-CN" b="1" smtClean="0">
              <a:solidFill>
                <a:srgbClr val="5092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大黑体_GBK" panose="02010600010101010101" charset="-122"/>
            </a:endParaRPr>
          </a:p>
          <a:p>
            <a:pPr algn="l" defTabSz="457200"/>
            <a:r>
              <a:rPr lang="zh-CN" altLang="en-US" b="1" smtClean="0">
                <a:solidFill>
                  <a:srgbClr val="5092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大黑体_GBK" panose="02010600010101010101" charset="-122"/>
              </a:rPr>
              <a:t>组别：</a:t>
            </a:r>
            <a:r>
              <a:rPr lang="zh-CN" altLang="en-US" b="1" smtClean="0">
                <a:solidFill>
                  <a:srgbClr val="5092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大黑体_GBK" panose="02010600010101010101" charset="-122"/>
              </a:rPr>
              <a:t>咕咕嘎嘎</a:t>
            </a:r>
            <a:endParaRPr lang="zh-CN" altLang="en-US" b="1" smtClean="0">
              <a:solidFill>
                <a:srgbClr val="5092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大黑体_GBK" panose="0201060001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9535" y="5868035"/>
            <a:ext cx="2935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rgbClr val="5B9BD5"/>
                </a:solidFill>
                <a:latin typeface="汉仪力量黑简" panose="00020600040101010101" charset="-122"/>
                <a:ea typeface="汉仪力量黑简" panose="00020600040101010101" charset="-122"/>
              </a:rPr>
              <a:t>结业汇报</a:t>
            </a:r>
            <a:endParaRPr lang="zh-CN" altLang="en-US" sz="4800">
              <a:solidFill>
                <a:srgbClr val="5B9BD5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城市洪涝：仍待破解的难题</a:t>
                </a:r>
                <a:endParaRPr lang="zh-CN" altLang="en-US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74485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木已</a:t>
            </a:r>
            <a:r>
              <a:rPr lang="zh-CN" altLang="en-US" b="1">
                <a:solidFill>
                  <a:srgbClr val="F2F2F2"/>
                </a:solidFill>
              </a:rPr>
              <a:t>成舟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来日</a:t>
            </a:r>
            <a:r>
              <a:rPr lang="zh-CN" altLang="en-US" b="1">
                <a:solidFill>
                  <a:srgbClr val="F2F2F2"/>
                </a:solidFill>
              </a:rPr>
              <a:t>方长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2E75B6"/>
                </a:solidFill>
              </a:rPr>
              <a:t>水漫</a:t>
            </a:r>
            <a:r>
              <a:rPr lang="zh-CN" altLang="en-US" b="1">
                <a:solidFill>
                  <a:srgbClr val="2E75B6"/>
                </a:solidFill>
              </a:rPr>
              <a:t>金山</a:t>
            </a:r>
            <a:endParaRPr lang="zh-CN" altLang="en-US" b="1">
              <a:solidFill>
                <a:srgbClr val="2E75B6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230620" y="1265555"/>
            <a:ext cx="0" cy="5481955"/>
          </a:xfrm>
          <a:prstGeom prst="line">
            <a:avLst/>
          </a:prstGeom>
          <a:ln w="41275" cmpd="sng">
            <a:solidFill>
              <a:srgbClr val="5B9BD5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 descr="决策难协同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445" y="2348230"/>
            <a:ext cx="2226310" cy="1484630"/>
          </a:xfrm>
          <a:prstGeom prst="rect">
            <a:avLst/>
          </a:prstGeom>
        </p:spPr>
      </p:pic>
      <p:pic>
        <p:nvPicPr>
          <p:cNvPr id="20" name="图片 19" descr="信息难汇聚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" y="3845560"/>
            <a:ext cx="2226310" cy="1484630"/>
          </a:xfrm>
          <a:prstGeom prst="rect">
            <a:avLst/>
          </a:prstGeom>
        </p:spPr>
      </p:pic>
      <p:pic>
        <p:nvPicPr>
          <p:cNvPr id="21" name="图片 20" descr="执行难闭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553" y="3845560"/>
            <a:ext cx="2226310" cy="148463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44600" y="1155065"/>
            <a:ext cx="4064000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</a:rPr>
              <a:t>信息难汇聚</a:t>
            </a:r>
            <a:endParaRPr lang="zh-CN" altLang="en-US" b="1">
              <a:solidFill>
                <a:srgbClr val="0000FF"/>
              </a:solidFill>
            </a:endParaRPr>
          </a:p>
          <a:p>
            <a:r>
              <a:rPr lang="zh-CN" altLang="en-US"/>
              <a:t>求救、传感器、无人机、现场人员信息分散，</a:t>
            </a:r>
            <a:r>
              <a:rPr lang="zh-CN" altLang="en-US"/>
              <a:t>通讯受损时更难集中</a:t>
            </a:r>
            <a:endParaRPr lang="zh-CN" altLang="en-US"/>
          </a:p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Wolf et al., 2022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835" y="5401945"/>
            <a:ext cx="2969260" cy="1414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</a:rPr>
              <a:t>决策难</a:t>
            </a:r>
            <a:r>
              <a:rPr lang="zh-CN" altLang="en-US" b="1">
                <a:solidFill>
                  <a:srgbClr val="0000FF"/>
                </a:solidFill>
              </a:rPr>
              <a:t>协同</a:t>
            </a:r>
            <a:endParaRPr lang="zh-CN" altLang="en-US" b="1">
              <a:solidFill>
                <a:srgbClr val="0000FF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/>
              <a:t>多种救援力量依据局部信息行动，容易重复调度、遗漏高风险区域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Queralta et al., 2020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31515" y="5401945"/>
            <a:ext cx="288163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</a:rPr>
              <a:t>执行难闭环</a:t>
            </a:r>
            <a:endParaRPr lang="zh-CN" altLang="en-US" b="1">
              <a:solidFill>
                <a:srgbClr val="0000FF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/>
              <a:t>设备故障、环境变化后，任务难以持续反馈调整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Murphy et al., 2008; 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Queralta et al., 2020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50950" y="1222375"/>
            <a:ext cx="4064000" cy="2618937"/>
            <a:chOff x="1970" y="1986"/>
            <a:chExt cx="6400" cy="3919"/>
          </a:xfrm>
        </p:grpSpPr>
        <p:sp>
          <p:nvSpPr>
            <p:cNvPr id="25" name="矩形 24"/>
            <p:cNvSpPr/>
            <p:nvPr/>
          </p:nvSpPr>
          <p:spPr>
            <a:xfrm>
              <a:off x="1970" y="1986"/>
              <a:ext cx="6400" cy="3919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TextBox 12"/>
            <p:cNvSpPr txBox="1"/>
            <p:nvPr/>
          </p:nvSpPr>
          <p:spPr>
            <a:xfrm>
              <a:off x="3483" y="3205"/>
              <a:ext cx="3374" cy="10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indent="0" algn="ctr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  </a:t>
              </a:r>
              <a:r>
                <a:rPr lang="zh-CN" altLang="en-US" sz="24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灾情“看不全”</a:t>
              </a:r>
              <a:endParaRPr lang="zh-CN" altLang="en-US" sz="2400" b="1">
                <a:solidFill>
                  <a:srgbClr val="1045C9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思源黑体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6835" y="3845709"/>
            <a:ext cx="3082925" cy="2939266"/>
            <a:chOff x="121" y="5549"/>
            <a:chExt cx="4874" cy="5211"/>
          </a:xfrm>
        </p:grpSpPr>
        <p:sp>
          <p:nvSpPr>
            <p:cNvPr id="26" name="矩形 25"/>
            <p:cNvSpPr/>
            <p:nvPr/>
          </p:nvSpPr>
          <p:spPr>
            <a:xfrm>
              <a:off x="121" y="5549"/>
              <a:ext cx="4874" cy="5211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TextBox 12"/>
            <p:cNvSpPr txBox="1"/>
            <p:nvPr/>
          </p:nvSpPr>
          <p:spPr>
            <a:xfrm>
              <a:off x="1015" y="7658"/>
              <a:ext cx="3374" cy="10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  </a:t>
              </a:r>
              <a:r>
                <a:rPr lang="zh-CN" altLang="en-US" sz="24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任务“算不好”</a:t>
              </a:r>
              <a:endParaRPr lang="zh-CN" altLang="en-US" sz="24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思源黑体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232150" y="3845560"/>
            <a:ext cx="2896235" cy="2939415"/>
            <a:chOff x="5090" y="6131"/>
            <a:chExt cx="4561" cy="4629"/>
          </a:xfrm>
        </p:grpSpPr>
        <p:sp>
          <p:nvSpPr>
            <p:cNvPr id="27" name="矩形 26"/>
            <p:cNvSpPr/>
            <p:nvPr/>
          </p:nvSpPr>
          <p:spPr>
            <a:xfrm>
              <a:off x="5090" y="6131"/>
              <a:ext cx="4561" cy="4629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TextBox 12"/>
            <p:cNvSpPr txBox="1"/>
            <p:nvPr/>
          </p:nvSpPr>
          <p:spPr>
            <a:xfrm>
              <a:off x="5618" y="7892"/>
              <a:ext cx="3374" cy="10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  </a:t>
              </a:r>
              <a:r>
                <a:rPr lang="zh-CN" altLang="en-US" sz="24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救援“接不上”</a:t>
              </a:r>
              <a:endParaRPr lang="zh-CN" altLang="en-US" sz="24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思源黑体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229985" y="620395"/>
            <a:ext cx="5805805" cy="829945"/>
            <a:chOff x="9812" y="977"/>
            <a:chExt cx="9143" cy="1307"/>
          </a:xfrm>
        </p:grpSpPr>
        <p:sp>
          <p:nvSpPr>
            <p:cNvPr id="35" name="文本框 34"/>
            <p:cNvSpPr txBox="1"/>
            <p:nvPr/>
          </p:nvSpPr>
          <p:spPr>
            <a:xfrm>
              <a:off x="9812" y="977"/>
              <a:ext cx="311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32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3254次</a:t>
              </a:r>
              <a:endParaRPr lang="zh-CN" altLang="en-US" sz="32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思源黑体"/>
              </a:endParaRPr>
            </a:p>
          </p:txBody>
        </p:sp>
        <p:sp useBgFill="1">
          <p:nvSpPr>
            <p:cNvPr id="36" name="文本框 35"/>
            <p:cNvSpPr txBox="1"/>
            <p:nvPr/>
          </p:nvSpPr>
          <p:spPr>
            <a:xfrm>
              <a:off x="12555" y="1704"/>
              <a:ext cx="6400" cy="580"/>
            </a:xfrm>
            <a:prstGeom prst="rect">
              <a:avLst/>
            </a:prstGeom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1066D8"/>
                  </a:solidFill>
                </a:rPr>
                <a:t>2000—2019年全球重大洪水次数</a:t>
              </a:r>
              <a:endParaRPr lang="zh-CN" altLang="en-US" b="1">
                <a:solidFill>
                  <a:srgbClr val="1066D8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229985" y="1265555"/>
            <a:ext cx="5949950" cy="837565"/>
            <a:chOff x="9811" y="977"/>
            <a:chExt cx="9370" cy="1319"/>
          </a:xfrm>
        </p:grpSpPr>
        <p:sp>
          <p:nvSpPr>
            <p:cNvPr id="41" name="文本框 40"/>
            <p:cNvSpPr txBox="1"/>
            <p:nvPr/>
          </p:nvSpPr>
          <p:spPr>
            <a:xfrm>
              <a:off x="9811" y="977"/>
              <a:ext cx="3437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en-US" altLang="zh-CN" sz="32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5344.9</a:t>
              </a:r>
              <a:r>
                <a:rPr lang="zh-CN" altLang="en-US" sz="32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万</a:t>
              </a:r>
              <a:endParaRPr lang="zh-CN" altLang="en-US" sz="32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思源黑体"/>
              </a:endParaRPr>
            </a:p>
          </p:txBody>
        </p:sp>
        <p:sp useBgFill="1">
          <p:nvSpPr>
            <p:cNvPr id="42" name="文本框 41"/>
            <p:cNvSpPr txBox="1"/>
            <p:nvPr/>
          </p:nvSpPr>
          <p:spPr>
            <a:xfrm>
              <a:off x="12766" y="1744"/>
              <a:ext cx="6415" cy="552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 b="1">
                  <a:solidFill>
                    <a:srgbClr val="1066D8"/>
                  </a:solidFill>
                </a:rPr>
                <a:t>2024年中国洪涝及地质灾害受灾</a:t>
              </a:r>
              <a:r>
                <a:rPr lang="zh-CN" altLang="en-US" b="1">
                  <a:solidFill>
                    <a:srgbClr val="1066D8"/>
                  </a:solidFill>
                </a:rPr>
                <a:t>人次</a:t>
              </a:r>
              <a:endParaRPr lang="zh-CN" altLang="en-US" b="1">
                <a:solidFill>
                  <a:srgbClr val="1066D8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29985" y="1945640"/>
            <a:ext cx="5949950" cy="837565"/>
            <a:chOff x="9811" y="977"/>
            <a:chExt cx="9370" cy="1319"/>
          </a:xfrm>
        </p:grpSpPr>
        <p:sp>
          <p:nvSpPr>
            <p:cNvPr id="44" name="文本框 43"/>
            <p:cNvSpPr txBox="1"/>
            <p:nvPr/>
          </p:nvSpPr>
          <p:spPr>
            <a:xfrm>
              <a:off x="9811" y="977"/>
              <a:ext cx="3437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3200" b="1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charset="-122"/>
                  <a:ea typeface="微软雅黑" panose="020B0503020204020204" charset="-122"/>
                  <a:cs typeface="思源黑体"/>
                </a:rPr>
                <a:t>1665.7亿</a:t>
              </a:r>
              <a:endParaRPr lang="zh-CN" altLang="en-US" sz="32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思源黑体"/>
              </a:endParaRPr>
            </a:p>
          </p:txBody>
        </p:sp>
        <p:sp useBgFill="1">
          <p:nvSpPr>
            <p:cNvPr id="46" name="文本框 45"/>
            <p:cNvSpPr txBox="1"/>
            <p:nvPr/>
          </p:nvSpPr>
          <p:spPr>
            <a:xfrm>
              <a:off x="12766" y="1744"/>
              <a:ext cx="6415" cy="552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 b="1">
                  <a:solidFill>
                    <a:srgbClr val="1066D8"/>
                  </a:solidFill>
                </a:rPr>
                <a:t>2025年洪涝和地质灾害直接经济损失</a:t>
              </a:r>
              <a:endParaRPr lang="zh-CN" altLang="en-US" b="1">
                <a:solidFill>
                  <a:srgbClr val="1066D8"/>
                </a:solidFill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6229985" y="2842895"/>
            <a:ext cx="5603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UNDRR（2020）；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</a:rPr>
              <a:t>国家防灾减灾救灾委员会办公室、应急管理部（2025–2026）</a:t>
            </a:r>
            <a:endParaRPr lang="zh-CN" altLang="en-US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229985" y="3438525"/>
            <a:ext cx="5443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1066D8"/>
                </a:solidFill>
              </a:rPr>
              <a:t>2026广西：极端洪涝下的现实考验</a:t>
            </a:r>
            <a:endParaRPr lang="zh-CN" altLang="en-US" sz="2400" b="1">
              <a:solidFill>
                <a:srgbClr val="1066D8"/>
              </a:solidFill>
            </a:endParaRPr>
          </a:p>
        </p:txBody>
      </p:sp>
      <p:pic>
        <p:nvPicPr>
          <p:cNvPr id="50" name="图片 49" descr="广西救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045" y="4007485"/>
            <a:ext cx="3981450" cy="265620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6229985" y="3972560"/>
            <a:ext cx="18141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2026年7月，</a:t>
            </a:r>
            <a:endParaRPr lang="zh-CN" altLang="en-US"/>
          </a:p>
          <a:p>
            <a:r>
              <a:rPr lang="zh-CN" altLang="en-US"/>
              <a:t>广西遭遇</a:t>
            </a:r>
            <a:endParaRPr lang="zh-CN" altLang="en-US"/>
          </a:p>
          <a:p>
            <a:r>
              <a:rPr lang="zh-CN" altLang="en-US"/>
              <a:t>持续强降雨，</a:t>
            </a:r>
            <a:endParaRPr lang="zh-CN" altLang="en-US"/>
          </a:p>
          <a:p>
            <a:r>
              <a:rPr lang="zh-CN" altLang="en-US"/>
              <a:t>77%乡镇出现</a:t>
            </a:r>
            <a:endParaRPr lang="zh-CN" altLang="en-US"/>
          </a:p>
          <a:p>
            <a:r>
              <a:rPr lang="zh-CN" altLang="en-US"/>
              <a:t>暴雨以上降雨，</a:t>
            </a:r>
            <a:endParaRPr lang="zh-CN" altLang="en-US"/>
          </a:p>
          <a:p>
            <a:r>
              <a:rPr lang="zh-CN" altLang="en-US"/>
              <a:t>全区</a:t>
            </a:r>
            <a:endParaRPr lang="zh-CN" altLang="en-US"/>
          </a:p>
          <a:p>
            <a:r>
              <a:rPr lang="zh-CN" altLang="en-US"/>
              <a:t>37.5万人受灾。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6229985" y="5951855"/>
            <a:ext cx="167576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</a:rPr>
              <a:t>广西壮族自治区应急管理厅、应急管理部，2026.07</a:t>
            </a:r>
            <a:endParaRPr lang="zh-CN" altLang="en-US" sz="14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面向未来的救援新范式</a:t>
                </a:r>
                <a:endParaRPr lang="zh-CN" altLang="en-US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42074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2E75B6"/>
                </a:solidFill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木已成舟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来日方长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pic>
        <p:nvPicPr>
          <p:cNvPr id="4" name="图片 3" descr="想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" y="1463040"/>
            <a:ext cx="6188075" cy="377444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6607810" y="2537460"/>
          <a:ext cx="4710430" cy="2402840"/>
        </p:xfrm>
        <a:graphic>
          <a:graphicData uri="http://schemas.openxmlformats.org/drawingml/2006/table">
            <a:tbl>
              <a:tblPr firstRow="1" bandRow="1">
                <a:tableStyleId>{B69E4901-32C0-4D93-AF81-F049EBBDC311}</a:tableStyleId>
              </a:tblPr>
              <a:tblGrid>
                <a:gridCol w="2355215"/>
                <a:gridCol w="2355215"/>
              </a:tblGrid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参数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CA-01 </a:t>
                      </a:r>
                      <a:r>
                        <a:rPr lang="zh-CN" altLang="en-US" sz="1600"/>
                        <a:t>设计值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地下舱尺寸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5.0 × 3.5 × 2.8 m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救援艇尺寸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3.2 × 1.5 m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救援艇形式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双体 </a:t>
                      </a:r>
                      <a:r>
                        <a:rPr lang="en-US" altLang="zh-CN" sz="1600"/>
                        <a:t>USV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单艇载员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2–4 </a:t>
                      </a:r>
                      <a:r>
                        <a:rPr lang="zh-CN" altLang="en-US" sz="1600"/>
                        <a:t>人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单节点配置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1–2 </a:t>
                      </a:r>
                      <a:r>
                        <a:rPr lang="zh-CN" altLang="en-US" sz="1600"/>
                        <a:t>艘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完全展开高度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约 </a:t>
                      </a:r>
                      <a:r>
                        <a:rPr lang="en-US" altLang="zh-CN" sz="1600"/>
                        <a:t>5.5 m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0035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最低目标可航水深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0.4–0.5 m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314950" y="568325"/>
            <a:ext cx="68770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olidFill>
                  <a:srgbClr val="1066D8"/>
                </a:solidFill>
                <a:sym typeface="+mn-ea"/>
              </a:rPr>
              <a:t>CA-01（City Ark 01）</a:t>
            </a:r>
            <a:r>
              <a:rPr lang="zh-CN" altLang="en-US" sz="2800" b="1">
                <a:solidFill>
                  <a:srgbClr val="1066D8"/>
                </a:solidFill>
                <a:sym typeface="+mn-ea"/>
              </a:rPr>
              <a:t>城市方舟</a:t>
            </a:r>
            <a:endParaRPr lang="zh-CN" altLang="en-US" sz="2800" b="1">
              <a:solidFill>
                <a:srgbClr val="1066D8"/>
              </a:solidFill>
              <a:sym typeface="+mn-ea"/>
            </a:endParaRPr>
          </a:p>
          <a:p>
            <a:pPr algn="ctr"/>
            <a:r>
              <a:rPr lang="zh-CN" altLang="en-US" sz="2800" b="1">
                <a:solidFill>
                  <a:srgbClr val="1066D8"/>
                </a:solidFill>
                <a:sym typeface="+mn-ea"/>
              </a:rPr>
              <a:t>社区级节点</a:t>
            </a:r>
            <a:endParaRPr lang="zh-CN" altLang="en-US" sz="2800" b="1">
              <a:solidFill>
                <a:srgbClr val="1066D8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07810" y="1490345"/>
            <a:ext cx="469265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5092CE"/>
                </a:solidFill>
                <a:sym typeface="+mn-ea"/>
              </a:rPr>
              <a:t>面向社区级城市洪涝场景设计的地下预置式智能救援节点，平时</a:t>
            </a:r>
            <a:r>
              <a:rPr lang="zh-CN" altLang="en-US" sz="2000" b="1">
                <a:solidFill>
                  <a:srgbClr val="1045C9"/>
                </a:solidFill>
                <a:highlight>
                  <a:srgbClr val="FFFF00"/>
                </a:highlight>
                <a:sym typeface="+mn-ea"/>
              </a:rPr>
              <a:t>隐藏于地下</a:t>
            </a:r>
            <a:r>
              <a:rPr lang="zh-CN" altLang="en-US" b="1">
                <a:solidFill>
                  <a:srgbClr val="5092CE"/>
                </a:solidFill>
                <a:sym typeface="+mn-ea"/>
              </a:rPr>
              <a:t>，灾时自动展开并释放</a:t>
            </a:r>
            <a:r>
              <a:rPr lang="zh-CN" altLang="en-US" sz="2000" b="1">
                <a:solidFill>
                  <a:srgbClr val="1045C9"/>
                </a:solidFill>
                <a:highlight>
                  <a:srgbClr val="FFFF00"/>
                </a:highlight>
                <a:sym typeface="+mn-ea"/>
              </a:rPr>
              <a:t>无人救援艇</a:t>
            </a:r>
            <a:r>
              <a:rPr lang="zh-CN" altLang="en-US" b="1">
                <a:solidFill>
                  <a:srgbClr val="5092CE"/>
                </a:solidFill>
                <a:sym typeface="+mn-ea"/>
              </a:rPr>
              <a:t>。</a:t>
            </a:r>
            <a:endParaRPr lang="zh-CN" altLang="en-US" b="1">
              <a:solidFill>
                <a:srgbClr val="5092CE"/>
              </a:solidFill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38455" y="5361940"/>
            <a:ext cx="5579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5092CE"/>
                </a:solidFill>
              </a:rPr>
              <a:t>长度方向计算</a:t>
            </a:r>
            <a:endParaRPr lang="en-US" altLang="zh-CN" b="1">
              <a:solidFill>
                <a:srgbClr val="5092CE"/>
              </a:solidFill>
            </a:endParaRPr>
          </a:p>
          <a:p>
            <a:r>
              <a:rPr lang="zh-CN" altLang="en-US" b="1">
                <a:solidFill>
                  <a:srgbClr val="5092CE"/>
                </a:solidFill>
              </a:rPr>
              <a:t>由艇长 + 下水释放空间 + 检修空间 + 结构余量组成：</a:t>
            </a:r>
            <a:endParaRPr lang="zh-CN" altLang="en-US" b="1">
              <a:solidFill>
                <a:srgbClr val="5092CE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75565" y="6007100"/>
                <a:ext cx="5518785" cy="67500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𝒔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=𝟑.𝟐+𝟎.𝟖+𝟎.𝟔+𝟎.𝟒=𝟓.𝟎 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𝒎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5" y="6007100"/>
                <a:ext cx="5518785" cy="6750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6108065" y="5361940"/>
            <a:ext cx="5274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5092CE"/>
                </a:solidFill>
              </a:rPr>
              <a:t>宽度方向计算</a:t>
            </a:r>
            <a:endParaRPr lang="zh-CN" altLang="en-US" b="1">
              <a:solidFill>
                <a:srgbClr val="5092CE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5092CE"/>
                </a:solidFill>
              </a:rPr>
              <a:t>由艇宽 + 两侧检修空间 + 升降导向机构空间组成：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4630420" y="6007100"/>
                <a:ext cx="6095365" cy="6337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+𝟐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                                 =𝟏.𝟓+𝟐×𝟎.𝟔+𝟎.𝟖=𝟑.𝟓 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𝒎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420" y="6007100"/>
                <a:ext cx="6095365" cy="633730"/>
              </a:xfrm>
              <a:prstGeom prst="rect">
                <a:avLst/>
              </a:prstGeom>
              <a:blipFill rotWithShape="1">
                <a:blip r:embed="rId4"/>
                <a:stretch>
                  <a:fillRect b="-1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两个核心问题：</a:t>
                </a:r>
                <a:r>
                  <a:rPr lang="en-US" altLang="zh-CN" sz="2800" b="1" spc="300">
                    <a:solidFill>
                      <a:srgbClr val="003399"/>
                    </a:solidFill>
                  </a:rPr>
                  <a:t>01 </a:t>
                </a:r>
                <a:r>
                  <a:rPr lang="zh-CN" altLang="en-US" sz="2800" b="1" spc="300">
                    <a:solidFill>
                      <a:srgbClr val="003399"/>
                    </a:solidFill>
                    <a:sym typeface="+mn-ea"/>
                  </a:rPr>
                  <a:t>地下预置与灾时展开</a:t>
                </a:r>
                <a:endParaRPr lang="zh-CN" altLang="en-US" sz="2800" b="1">
                  <a:solidFill>
                    <a:srgbClr val="1066D8"/>
                  </a:solidFill>
                </a:endParaRPr>
              </a:p>
              <a:p>
                <a:pPr algn="l" defTabSz="457200">
                  <a:lnSpc>
                    <a:spcPct val="120000"/>
                  </a:lnSpc>
                </a:pPr>
                <a:endParaRPr lang="zh-CN" altLang="en-US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42074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2E75B6"/>
                </a:solidFill>
                <a:sym typeface="+mn-ea"/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  <a:p>
            <a:pPr algn="l"/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木已成舟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来日方长</a:t>
            </a:r>
            <a:endParaRPr lang="zh-CN" altLang="en-US" b="1">
              <a:solidFill>
                <a:srgbClr val="F2F2F2"/>
              </a:solidFill>
            </a:endParaRPr>
          </a:p>
          <a:p>
            <a:pPr algn="l"/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51868" y="3384868"/>
          <a:ext cx="88265" cy="8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88265" imgH="88265" progId="Equation.KSEE3">
                  <p:embed/>
                </p:oleObj>
              </mc:Choice>
              <mc:Fallback>
                <p:oleObj name="" r:id="rId1" imgW="88265" imgH="882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51868" y="3384868"/>
                        <a:ext cx="88265" cy="8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16840" y="2091309"/>
                <a:ext cx="528129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𝒘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𝒉𝑨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=𝟗.𝟖𝟏×𝟐.𝟖×𝟏𝟕.𝟓≈𝟒𝟖𝟎.𝟕 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2091309"/>
                <a:ext cx="5281295" cy="398780"/>
              </a:xfrm>
              <a:prstGeom prst="rect">
                <a:avLst/>
              </a:prstGeom>
              <a:blipFill rotWithShape="1">
                <a:blip r:embed="rId5"/>
                <a:stretch>
                  <a:fillRect t="-6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963991" y="3161919"/>
                <a:ext cx="1525270" cy="7397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𝒘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𝒘</m:t>
                          </m:r>
                        </m:sub>
                      </m:sSub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991" y="3161919"/>
                <a:ext cx="1525270" cy="739775"/>
              </a:xfrm>
              <a:prstGeom prst="rect">
                <a:avLst/>
              </a:prstGeom>
              <a:blipFill rotWithShape="1">
                <a:blip r:embed="rId6"/>
                <a:stretch>
                  <a:fillRect l="-37" t="-34" r="3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620966" y="4517644"/>
                <a:ext cx="1343025" cy="4267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≥𝟏.𝟐𝟎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66" y="4517644"/>
                <a:ext cx="1343025" cy="426720"/>
              </a:xfrm>
              <a:prstGeom prst="rect">
                <a:avLst/>
              </a:prstGeom>
              <a:blipFill rotWithShape="1">
                <a:blip r:embed="rId7"/>
                <a:stretch>
                  <a:fillRect l="-43" t="-59" r="-714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116840" y="5322824"/>
                <a:ext cx="3366135" cy="4083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𝒓𝒆𝒒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=𝟏.𝟐𝟎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≈𝟓𝟕𝟔.𝟖 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5322824"/>
                <a:ext cx="3366135" cy="408305"/>
              </a:xfrm>
              <a:prstGeom prst="rect">
                <a:avLst/>
              </a:prstGeom>
              <a:blipFill rotWithShape="1">
                <a:blip r:embed="rId8"/>
                <a:stretch>
                  <a:fillRect t="-6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16840" y="6353429"/>
                <a:ext cx="188658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≈𝟓𝟐𝟑.𝟐 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6353429"/>
                <a:ext cx="1886585" cy="398780"/>
              </a:xfrm>
              <a:prstGeom prst="rect">
                <a:avLst/>
              </a:prstGeom>
              <a:blipFill rotWithShape="1">
                <a:blip r:embed="rId9"/>
                <a:stretch>
                  <a:fillRect t="-6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116840" y="1419225"/>
            <a:ext cx="51250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1066D8"/>
                </a:solidFill>
                <a:sym typeface="+mn-ea"/>
              </a:rPr>
              <a:t>C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A-01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地下舱外尺寸为 5.0 × 3.5 × 2.8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m。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当设防水位达到地面时，舱体受到的总浮力约为：</a:t>
            </a:r>
            <a:endParaRPr lang="zh-CN" altLang="en-US" b="1">
              <a:solidFill>
                <a:srgbClr val="1066D8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6840" y="24631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  <a:sym typeface="+mn-ea"/>
              </a:rPr>
              <a:t>即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约 49 t 向上浮力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。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 b="1">
              <a:solidFill>
                <a:srgbClr val="1066D8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840" y="2823210"/>
            <a:ext cx="52050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solidFill>
                  <a:srgbClr val="1066D8"/>
                </a:solidFill>
                <a:sym typeface="+mn-ea"/>
              </a:rPr>
              <a:t>依据 JGJ 476—2019《建筑工程抗浮技术标准》，抗浮稳定需满足：</a:t>
            </a:r>
            <a:endParaRPr lang="zh-CN" altLang="en-US" sz="1800" b="1">
              <a:solidFill>
                <a:srgbClr val="1066D8"/>
              </a:solidFill>
            </a:endParaRPr>
          </a:p>
          <a:p>
            <a:endParaRPr lang="zh-CN" altLang="en-US" sz="2400" b="1">
              <a:solidFill>
                <a:srgbClr val="1066D8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6840" y="3901440"/>
            <a:ext cx="4670425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  <a:sym typeface="+mn-ea"/>
              </a:rPr>
              <a:t>其中甲级工程使用期安全系数取 1.10。考虑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C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A-01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为灾害应急设施，项目设计目标提高为：</a:t>
            </a:r>
            <a:endParaRPr lang="zh-CN" altLang="en-US" b="1">
              <a:solidFill>
                <a:srgbClr val="FFC000"/>
              </a:solidFill>
              <a:highlight>
                <a:srgbClr val="0000FF"/>
              </a:highlight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6840" y="48856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因此所需抗浮能力为：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16840" y="5658485"/>
            <a:ext cx="5524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本方案采用 300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mm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钢筋混凝土侧墙 + 600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mm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底板，结构自重约：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096635" y="1054100"/>
            <a:ext cx="5006340" cy="754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b="1">
              <a:solidFill>
                <a:srgbClr val="1066D8"/>
              </a:solidFill>
            </a:endParaRPr>
          </a:p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可提供约 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1.09 的自重抗浮系数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。剩余约：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6096635" y="1808734"/>
                <a:ext cx="2866390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𝟓𝟕𝟔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𝟖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−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𝟓𝟐𝟑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≈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𝟓𝟑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𝟔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635" y="1808734"/>
                <a:ext cx="2866390" cy="398780"/>
              </a:xfrm>
              <a:prstGeom prst="rect">
                <a:avLst/>
              </a:prstGeom>
              <a:blipFill rotWithShape="1">
                <a:blip r:embed="rId10"/>
                <a:stretch>
                  <a:fillRect t="-64" r="-810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6096635" y="2207260"/>
            <a:ext cx="5740400" cy="2241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由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六点分布式抗拔锚杆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补足。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en-US" altLang="zh-CN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096635" y="5730875"/>
            <a:ext cx="56946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结论：</a:t>
            </a:r>
            <a:endParaRPr lang="zh-CN" altLang="en-US" b="1">
              <a:solidFill>
                <a:srgbClr val="1066D8"/>
              </a:solidFill>
            </a:endParaRPr>
          </a:p>
          <a:p>
            <a:r>
              <a:rPr lang="en-US" altLang="zh-CN" b="1">
                <a:solidFill>
                  <a:srgbClr val="1066D8"/>
                </a:solidFill>
                <a:sym typeface="+mn-ea"/>
              </a:rPr>
              <a:t>C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A-01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可采用“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混凝土自重 + 分布式锚固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”形成稳定地下预置基础，满足灾害应急场景下的抗浮冗余要求。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pic>
        <p:nvPicPr>
          <p:cNvPr id="39" name="图片 38" descr="六点分布式抗拔锚杆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635" y="2703195"/>
            <a:ext cx="3759200" cy="238696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096635" y="5208905"/>
            <a:ext cx="5603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</a:rPr>
              <a:t>孙义舟，孙宏磊，蔡袁强. 桩-锚复合基础上拔承载力计算和参数影响研究[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J]. </a:t>
            </a: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</a:rPr>
              <a:t>上海交通大学学报, 2022, 56(6): 701–709.</a:t>
            </a:r>
            <a:endParaRPr lang="zh-CN" altLang="en-US" sz="14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两个核心问题：</a:t>
                </a:r>
                <a:r>
                  <a:rPr lang="en-US" altLang="zh-CN" sz="2800" b="1" spc="300">
                    <a:solidFill>
                      <a:srgbClr val="003399"/>
                    </a:solidFill>
                  </a:rPr>
                  <a:t>02 </a:t>
                </a:r>
                <a:r>
                  <a:rPr lang="zh-CN" altLang="en-US" sz="2800" b="1" spc="300">
                    <a:solidFill>
                      <a:srgbClr val="003399"/>
                    </a:solidFill>
                  </a:rPr>
                  <a:t>通信约束下的无人艇路径规划</a:t>
                </a:r>
                <a:endParaRPr lang="zh-CN" altLang="en-US" sz="2800" b="1" spc="300">
                  <a:solidFill>
                    <a:srgbClr val="003399"/>
                  </a:solidFill>
                </a:endParaRPr>
              </a:p>
              <a:p>
                <a:pPr algn="l" defTabSz="457200">
                  <a:lnSpc>
                    <a:spcPct val="120000"/>
                  </a:lnSpc>
                </a:pPr>
                <a:endParaRPr lang="zh-CN" altLang="en-US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42074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2E75B6"/>
                </a:solidFill>
                <a:sym typeface="+mn-ea"/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木已成舟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来日方长</a:t>
            </a:r>
            <a:endParaRPr lang="zh-CN" altLang="en-US" b="1">
              <a:solidFill>
                <a:srgbClr val="F2F2F2"/>
              </a:solidFill>
            </a:endParaRPr>
          </a:p>
          <a:p>
            <a:pPr algn="l"/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51868" y="3384868"/>
          <a:ext cx="88265" cy="8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88265" imgH="88265" progId="Equation.KSEE3">
                  <p:embed/>
                </p:oleObj>
              </mc:Choice>
              <mc:Fallback>
                <p:oleObj name="" r:id="rId1" imgW="88265" imgH="882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51868" y="3384868"/>
                        <a:ext cx="88265" cy="8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16840" y="1570990"/>
            <a:ext cx="55251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救援塔作为本地通信中心，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USV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周期性回传位置、航向、状态与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RSSI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。将场地划分为二维栅格，每个栅格点记录通信质量：</a:t>
            </a:r>
            <a:endParaRPr lang="zh-CN" altLang="en-US" b="1">
              <a:solidFill>
                <a:srgbClr val="1066D8"/>
              </a:solidFill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840" y="2489200"/>
            <a:ext cx="520509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solidFill>
                  <a:srgbClr val="1066D8"/>
                </a:solidFill>
              </a:rPr>
              <a:t>并构造通信风险代价：</a:t>
            </a:r>
            <a:endParaRPr lang="zh-CN" altLang="en-US" sz="1800" b="1">
              <a:solidFill>
                <a:srgbClr val="1066D8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6840" y="4220845"/>
            <a:ext cx="5575935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</a:rPr>
              <a:t>即：信号良好区域正常通行，弱信号区域增加代价，通信盲区禁止主动进入。</a:t>
            </a:r>
            <a:endParaRPr lang="zh-CN" altLang="en-US" b="1">
              <a:solidFill>
                <a:srgbClr val="FFC000"/>
              </a:solidFill>
              <a:highlight>
                <a:srgbClr val="0000FF"/>
              </a:highlight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038786" y="952500"/>
            <a:ext cx="5006340" cy="754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b="1">
              <a:solidFill>
                <a:srgbClr val="1066D8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</a:rPr>
              <a:t>改进 A* 代价函数</a:t>
            </a:r>
            <a:endParaRPr lang="zh-CN" altLang="en-US" b="1">
              <a:solidFill>
                <a:srgbClr val="FFC000"/>
              </a:solidFill>
              <a:highlight>
                <a:srgbClr val="0000FF"/>
              </a:highlight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38786" y="1690370"/>
            <a:ext cx="5740400" cy="471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1066D8"/>
                </a:solidFill>
              </a:rPr>
              <a:t>传统 </a:t>
            </a:r>
            <a:r>
              <a:rPr lang="en-US" altLang="zh-CN" b="1">
                <a:solidFill>
                  <a:srgbClr val="1066D8"/>
                </a:solidFill>
              </a:rPr>
              <a:t>A*：</a:t>
            </a:r>
            <a:endParaRPr lang="en-US" altLang="zh-CN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038786" y="2117090"/>
            <a:ext cx="5694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本方案将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</a:rPr>
              <a:t>路径长度、通信风险和障碍风险</a:t>
            </a:r>
            <a:r>
              <a:rPr lang="en-US" altLang="zh-CN" b="1">
                <a:solidFill>
                  <a:srgbClr val="1066D8"/>
                </a:solidFill>
              </a:rPr>
              <a:t>共同纳入代价函数：</a:t>
            </a:r>
            <a:endParaRPr lang="en-US" altLang="zh-CN" b="1">
              <a:solidFill>
                <a:srgbClr val="1066D8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21935" y="6227445"/>
            <a:ext cx="5603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Cid et al., Journal of Intelligent &amp; Robotic Systems, 2024, Figs. 10, 12.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38786" y="3246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其中：</a:t>
            </a:r>
            <a:endParaRPr lang="en-US" altLang="zh-CN" b="1">
              <a:solidFill>
                <a:srgbClr val="1066D8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81290" y="3269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表示累计路径长度；</a:t>
            </a:r>
            <a:endParaRPr lang="en-US" altLang="zh-CN" b="1">
              <a:solidFill>
                <a:srgbClr val="1066D8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781290" y="3658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表示通信失联风险；</a:t>
            </a:r>
            <a:endParaRPr lang="en-US" altLang="zh-CN" b="1">
              <a:solidFill>
                <a:srgbClr val="1066D8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781290" y="4086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表示靠近障碍物、水流复杂区的风险；</a:t>
            </a:r>
            <a:endParaRPr lang="en-US" altLang="zh-CN" b="1">
              <a:solidFill>
                <a:srgbClr val="1066D8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781290" y="4514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表示到目标点的启发式距离。</a:t>
            </a:r>
            <a:endParaRPr lang="en-US" altLang="zh-CN" b="1">
              <a:solidFill>
                <a:srgbClr val="1066D8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38786" y="4849495"/>
            <a:ext cx="61048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算法效果</a:t>
            </a:r>
            <a:endParaRPr lang="en-US" altLang="zh-CN" b="1">
              <a:solidFill>
                <a:srgbClr val="1066D8"/>
              </a:solidFill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b="1">
                <a:solidFill>
                  <a:srgbClr val="1066D8"/>
                </a:solidFill>
              </a:rPr>
              <a:t>改进 A* 会在路径代价中惩罚弱链路区域，使无人艇主动绕开高失联风险区域，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</a:rPr>
              <a:t>在可接受的路径增量下保持稳定通信。</a:t>
            </a:r>
            <a:endParaRPr lang="zh-CN" altLang="en-US" b="1">
              <a:solidFill>
                <a:srgbClr val="FFC000"/>
              </a:solidFill>
              <a:highlight>
                <a:srgbClr val="0000FF"/>
              </a:highlight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b="1">
              <a:solidFill>
                <a:srgbClr val="1066D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2245995" y="2127250"/>
                <a:ext cx="162179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𝑹𝑺𝑺𝑰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𝒚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995" y="2127250"/>
                <a:ext cx="1621790" cy="3987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116840" y="2945130"/>
                <a:ext cx="5852795" cy="12541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𝒄𝒐𝒎𝒎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𝒚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𝟎,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𝑹𝑺𝑺𝑰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&gt;−𝟔𝟓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0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−𝟔𝟓−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𝑹𝑺𝑺𝑰</m:t>
                                  </m:r>
                                </m:num>
                                <m:den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𝟏𝟓</m:t>
                                  </m:r>
                                </m:den>
                              </m:f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,−𝟖𝟎&lt;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𝑹𝑺𝑺𝑰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≤−𝟔𝟓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∞,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𝑹𝑺𝑺𝑰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≤−𝟖𝟎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2945130"/>
                <a:ext cx="5852795" cy="12541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/>
          <p:cNvSpPr txBox="1"/>
          <p:nvPr/>
        </p:nvSpPr>
        <p:spPr>
          <a:xfrm>
            <a:off x="1244600" y="1205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</a:rPr>
              <a:t>通信建模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7101840" y="1690370"/>
                <a:ext cx="2370455" cy="36131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𝒇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𝒈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𝒉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840" y="1690370"/>
                <a:ext cx="2370455" cy="361315"/>
              </a:xfrm>
              <a:prstGeom prst="rect">
                <a:avLst/>
              </a:prstGeom>
              <a:blipFill rotWithShape="1">
                <a:blip r:embed="rId7"/>
                <a:stretch>
                  <a:fillRect r="-1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6038786" y="2819654"/>
                <a:ext cx="6055360" cy="3930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𝒇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𝑫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𝜷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𝒄𝒐𝒎𝒎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𝜸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𝒐𝒃𝒔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𝒉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786" y="2819654"/>
                <a:ext cx="6055360" cy="393065"/>
              </a:xfrm>
              <a:prstGeom prst="rect">
                <a:avLst/>
              </a:prstGeom>
              <a:blipFill rotWithShape="1">
                <a:blip r:embed="rId8"/>
                <a:stretch>
                  <a:fillRect l="-9" t="-65" r="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6878256" y="3251454"/>
                <a:ext cx="869950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𝑫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256" y="3251454"/>
                <a:ext cx="869950" cy="398780"/>
              </a:xfrm>
              <a:prstGeom prst="rect">
                <a:avLst/>
              </a:prstGeom>
              <a:blipFill rotWithShape="1">
                <a:blip r:embed="rId9"/>
                <a:stretch>
                  <a:fillRect l="-66" t="-64" r="6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6386766" y="3640074"/>
                <a:ext cx="1433830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𝑪𝒄𝒐𝒎𝒎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​(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766" y="3640074"/>
                <a:ext cx="1433830" cy="398780"/>
              </a:xfrm>
              <a:prstGeom prst="rect">
                <a:avLst/>
              </a:prstGeom>
              <a:blipFill rotWithShape="1">
                <a:blip r:embed="rId10"/>
                <a:stretch>
                  <a:fillRect l="-40" t="-64" r="-580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6580441" y="4089654"/>
                <a:ext cx="118554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𝑪𝒐𝒃𝒔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​(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441" y="4089654"/>
                <a:ext cx="1185545" cy="398780"/>
              </a:xfrm>
              <a:prstGeom prst="rect">
                <a:avLst/>
              </a:prstGeom>
              <a:blipFill rotWithShape="1">
                <a:blip r:embed="rId11"/>
                <a:stretch>
                  <a:fillRect l="-48" t="-64" r="4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6878256" y="4520819"/>
                <a:ext cx="84010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𝒉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256" y="4520819"/>
                <a:ext cx="840105" cy="398780"/>
              </a:xfrm>
              <a:prstGeom prst="rect">
                <a:avLst/>
              </a:prstGeom>
              <a:blipFill rotWithShape="1">
                <a:blip r:embed="rId12"/>
                <a:stretch>
                  <a:fillRect l="-68" t="-64" r="6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图片 50" descr="fig10通信热力图"/>
          <p:cNvPicPr>
            <a:picLocks noChangeAspect="1"/>
          </p:cNvPicPr>
          <p:nvPr/>
        </p:nvPicPr>
        <p:blipFill>
          <a:blip r:embed="rId13"/>
          <a:srcRect l="6100" b="13885"/>
          <a:stretch>
            <a:fillRect/>
          </a:stretch>
        </p:blipFill>
        <p:spPr>
          <a:xfrm>
            <a:off x="116840" y="4933315"/>
            <a:ext cx="5146040" cy="1748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核心架构：多元</a:t>
                </a:r>
                <a:r>
                  <a:rPr lang="zh-CN" altLang="en-US" sz="2800" b="1" spc="300">
                    <a:solidFill>
                      <a:srgbClr val="003399"/>
                    </a:solidFill>
                  </a:rPr>
                  <a:t>一统</a:t>
                </a:r>
                <a:endParaRPr lang="zh-CN" altLang="en-US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609663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2E75B6"/>
                </a:solidFill>
              </a:rPr>
              <a:t>木已</a:t>
            </a:r>
            <a:r>
              <a:rPr lang="zh-CN" altLang="en-US" b="1">
                <a:solidFill>
                  <a:srgbClr val="2E75B6"/>
                </a:solidFill>
              </a:rPr>
              <a:t>成舟</a:t>
            </a:r>
            <a:endParaRPr lang="zh-CN" altLang="en-US" b="1">
              <a:solidFill>
                <a:srgbClr val="2E75B6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总结展望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9770" y="568325"/>
            <a:ext cx="3876675" cy="2691765"/>
          </a:xfrm>
          <a:prstGeom prst="rect">
            <a:avLst/>
          </a:prstGeom>
        </p:spPr>
      </p:pic>
      <p:graphicFrame>
        <p:nvGraphicFramePr>
          <p:cNvPr id="61" name="表格 60"/>
          <p:cNvGraphicFramePr/>
          <p:nvPr>
            <p:custDataLst>
              <p:tags r:id="rId2"/>
            </p:custDataLst>
          </p:nvPr>
        </p:nvGraphicFramePr>
        <p:xfrm>
          <a:off x="5314950" y="3495040"/>
          <a:ext cx="6711950" cy="3194050"/>
        </p:xfrm>
        <a:graphic>
          <a:graphicData uri="http://schemas.openxmlformats.org/drawingml/2006/table">
            <a:tbl>
              <a:tblPr firstRow="1" bandRow="1">
                <a:tableStyleId>{9ABA5346-90C3-412A-A5BE-46D16653969D}</a:tableStyleId>
              </a:tblPr>
              <a:tblGrid>
                <a:gridCol w="803910"/>
                <a:gridCol w="1795780"/>
                <a:gridCol w="2240915"/>
                <a:gridCol w="1871345"/>
              </a:tblGrid>
              <a:tr h="43751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成员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主责模块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关键工作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代表成果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</a:tr>
              <a:tr h="53784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刘富城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总体方案、视觉感知、系统总控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方案统筹、树莓派主控、</a:t>
                      </a:r>
                      <a:r>
                        <a:rPr lang="en-US" altLang="zh-CN" sz="1400"/>
                        <a:t>YOLO </a:t>
                      </a:r>
                      <a:r>
                        <a:rPr lang="zh-CN" altLang="en-US" sz="1400"/>
                        <a:t>识别、</a:t>
                      </a:r>
                      <a:r>
                        <a:rPr lang="en-US" altLang="zh-CN" sz="1400"/>
                        <a:t>ArUco </a:t>
                      </a:r>
                      <a:r>
                        <a:rPr lang="zh-CN" altLang="en-US" sz="1400"/>
                        <a:t>定位、系统联调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完成 </a:t>
                      </a:r>
                      <a:r>
                        <a:rPr lang="en-US" altLang="zh-CN" sz="1400"/>
                        <a:t>YOLO </a:t>
                      </a:r>
                      <a:r>
                        <a:rPr lang="zh-CN" altLang="en-US" sz="1400"/>
                        <a:t>训练部署、坐标定位与整体架构整合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</a:tr>
              <a:tr h="70548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姜迩宁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机械结构、船体执行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双体船建模、沙盘制作、水箱设计、升降平台、电机驱动、下水测试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完成模型船、升降机构及多轮机械结构迭代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</a:tr>
              <a:tr h="70548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张迪翔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算法设计、路径规划、仿真开发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A* </a:t>
                      </a:r>
                      <a:r>
                        <a:rPr lang="zh-CN" altLang="en-US" sz="1400"/>
                        <a:t>路径规划、坐标转换、任务分配、航点跟随、</a:t>
                      </a:r>
                      <a:r>
                        <a:rPr lang="en-US" altLang="zh-CN" sz="1400"/>
                        <a:t>Unity3D </a:t>
                      </a:r>
                      <a:r>
                        <a:rPr lang="zh-CN" altLang="en-US" sz="1400"/>
                        <a:t>仿真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实现二维到三维救援仿真及 </a:t>
                      </a:r>
                      <a:r>
                        <a:rPr lang="en-US" altLang="zh-CN" sz="1400"/>
                        <a:t>Python </a:t>
                      </a:r>
                      <a:r>
                        <a:rPr lang="zh-CN" altLang="en-US" sz="1400"/>
                        <a:t>与 </a:t>
                      </a:r>
                      <a:r>
                        <a:rPr lang="en-US" altLang="zh-CN" sz="1400"/>
                        <a:t>Unity </a:t>
                      </a:r>
                      <a:r>
                        <a:rPr lang="zh-CN" altLang="en-US" sz="1400"/>
                        <a:t>联动闭环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</a:tr>
              <a:tr h="70548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刘语晨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通信控制、电控开发、水位感知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ESP32 </a:t>
                      </a:r>
                      <a:r>
                        <a:rPr lang="zh-CN" altLang="en-US" sz="1400"/>
                        <a:t>控制、</a:t>
                      </a:r>
                      <a:r>
                        <a:rPr lang="en-US" altLang="zh-CN" sz="1400"/>
                        <a:t>Wi-Fi </a:t>
                      </a:r>
                      <a:r>
                        <a:rPr lang="zh-CN" altLang="en-US" sz="1400"/>
                        <a:t>通信、</a:t>
                      </a:r>
                      <a:r>
                        <a:rPr lang="en-US" altLang="zh-CN" sz="1400"/>
                        <a:t>TCP </a:t>
                      </a:r>
                      <a:r>
                        <a:rPr lang="zh-CN" altLang="en-US" sz="1400"/>
                        <a:t>通信、水位传感、船体控制、系统联调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跑通树莓派与 </a:t>
                      </a:r>
                      <a:r>
                        <a:rPr lang="en-US" altLang="zh-CN" sz="1400"/>
                        <a:t>ESP32 </a:t>
                      </a:r>
                      <a:r>
                        <a:rPr lang="zh-CN" altLang="en-US" sz="1400"/>
                        <a:t>双向通信及水位数据链路</a:t>
                      </a:r>
                      <a:endParaRPr lang="zh-CN" altLang="en-US" sz="1400"/>
                    </a:p>
                  </a:txBody>
                  <a:tcPr marL="0" marR="0" marT="0" marB="0" anchor="ctr" anchorCtr="0">
                    <a:lnL w="12700">
                      <a:solidFill>
                        <a:srgbClr val="5092CE"/>
                      </a:solidFill>
                      <a:prstDash val="solid"/>
                    </a:lnL>
                    <a:lnR w="12700">
                      <a:solidFill>
                        <a:srgbClr val="5092CE"/>
                      </a:solidFill>
                      <a:prstDash val="solid"/>
                    </a:lnR>
                    <a:lnT w="12700" cmpd="sng">
                      <a:solidFill>
                        <a:srgbClr val="5092CE"/>
                      </a:solidFill>
                      <a:prstDash val="solid"/>
                    </a:lnT>
                    <a:lnB w="12700" cmpd="sng">
                      <a:solidFill>
                        <a:srgbClr val="5092C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4" name="文本框 63"/>
          <p:cNvSpPr txBox="1"/>
          <p:nvPr/>
        </p:nvSpPr>
        <p:spPr>
          <a:xfrm>
            <a:off x="557530" y="2556510"/>
            <a:ext cx="331025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放图</a:t>
            </a:r>
            <a:r>
              <a:rPr lang="en-US" altLang="zh-CN" sz="4400"/>
              <a:t>+</a:t>
            </a:r>
            <a:r>
              <a:rPr lang="zh-CN" altLang="en-US" sz="4400"/>
              <a:t>介绍作用</a:t>
            </a:r>
            <a:endParaRPr lang="zh-CN" alt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三个核心问题：</a:t>
                </a:r>
                <a:r>
                  <a:rPr lang="en-US" altLang="zh-CN" sz="2800" b="1" spc="300">
                    <a:solidFill>
                      <a:srgbClr val="003399"/>
                    </a:solidFill>
                  </a:rPr>
                  <a:t>03 </a:t>
                </a:r>
                <a:r>
                  <a:rPr lang="zh-CN" altLang="en-US" sz="2800" b="1" spc="300">
                    <a:solidFill>
                      <a:srgbClr val="003399"/>
                    </a:solidFill>
                    <a:sym typeface="+mn-ea"/>
                  </a:rPr>
                  <a:t>还没想好，可以</a:t>
                </a:r>
                <a:r>
                  <a:rPr lang="zh-CN" altLang="en-US" sz="2800" b="1" spc="300">
                    <a:solidFill>
                      <a:srgbClr val="003399"/>
                    </a:solidFill>
                    <a:sym typeface="+mn-ea"/>
                  </a:rPr>
                  <a:t>不讲</a:t>
                </a:r>
                <a:endParaRPr lang="zh-CN" altLang="en-US" sz="2800" b="1" spc="300">
                  <a:solidFill>
                    <a:srgbClr val="003399"/>
                  </a:solidFill>
                  <a:sym typeface="+mn-ea"/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42074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2E75B6"/>
                </a:solidFill>
                <a:sym typeface="+mn-ea"/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木已成舟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来日方长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51868" y="3384868"/>
          <a:ext cx="88265" cy="8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88265" imgH="88265" progId="Equation.KSEE3">
                  <p:embed/>
                </p:oleObj>
              </mc:Choice>
              <mc:Fallback>
                <p:oleObj name="" r:id="rId1" imgW="88265" imgH="882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51868" y="3384868"/>
                        <a:ext cx="88265" cy="8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16840" y="2091309"/>
                <a:ext cx="528129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𝒘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𝒉𝑨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𝟗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𝟖𝟏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𝟏𝟕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𝟓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𝟒𝟖𝟎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𝟕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 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2091309"/>
                <a:ext cx="5281295" cy="398780"/>
              </a:xfrm>
              <a:prstGeom prst="rect">
                <a:avLst/>
              </a:prstGeom>
              <a:blipFill rotWithShape="1">
                <a:blip r:embed="rId5"/>
                <a:stretch>
                  <a:fillRect t="-6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963991" y="3161919"/>
                <a:ext cx="1525270" cy="7397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𝒘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𝒘</m:t>
                          </m:r>
                        </m:sub>
                      </m:sSub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991" y="3161919"/>
                <a:ext cx="1525270" cy="739775"/>
              </a:xfrm>
              <a:prstGeom prst="rect">
                <a:avLst/>
              </a:prstGeom>
              <a:blipFill rotWithShape="1">
                <a:blip r:embed="rId6"/>
                <a:stretch>
                  <a:fillRect l="-37" t="-34" r="3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620966" y="4517644"/>
                <a:ext cx="1343025" cy="4267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≥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𝟐𝟎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66" y="4517644"/>
                <a:ext cx="1343025" cy="426720"/>
              </a:xfrm>
              <a:prstGeom prst="rect">
                <a:avLst/>
              </a:prstGeom>
              <a:blipFill rotWithShape="1">
                <a:blip r:embed="rId7"/>
                <a:stretch>
                  <a:fillRect l="-43" t="-60" r="-714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116840" y="5322824"/>
                <a:ext cx="3366135" cy="4083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𝒓𝒆𝒒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𝟐𝟎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𝟓𝟕𝟔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 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5322824"/>
                <a:ext cx="3366135" cy="408305"/>
              </a:xfrm>
              <a:prstGeom prst="rect">
                <a:avLst/>
              </a:prstGeom>
              <a:blipFill rotWithShape="1">
                <a:blip r:embed="rId8"/>
                <a:stretch>
                  <a:fillRect t="-6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16840" y="6353429"/>
                <a:ext cx="188658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𝟓𝟐𝟑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 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6353429"/>
                <a:ext cx="1886585" cy="398780"/>
              </a:xfrm>
              <a:prstGeom prst="rect">
                <a:avLst/>
              </a:prstGeom>
              <a:blipFill rotWithShape="1">
                <a:blip r:embed="rId9"/>
                <a:stretch>
                  <a:fillRect t="-6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116840" y="1419225"/>
            <a:ext cx="51250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1066D8"/>
                </a:solidFill>
                <a:sym typeface="+mn-ea"/>
              </a:rPr>
              <a:t>C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A-01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地下舱外尺寸为 5.0 × 3.5 × 2.8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m。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当设防水位达到地面时，舱体受到的总浮力约为：</a:t>
            </a:r>
            <a:endParaRPr lang="zh-CN" altLang="en-US" b="1">
              <a:solidFill>
                <a:srgbClr val="1066D8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6840" y="24631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  <a:sym typeface="+mn-ea"/>
              </a:rPr>
              <a:t>即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约 49 t 向上浮力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。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 b="1">
              <a:solidFill>
                <a:srgbClr val="1066D8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840" y="2823210"/>
            <a:ext cx="52050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solidFill>
                  <a:srgbClr val="1066D8"/>
                </a:solidFill>
                <a:sym typeface="+mn-ea"/>
              </a:rPr>
              <a:t>依据 JGJ 476—2019《建筑工程抗浮技术标准》，抗浮稳定需满足：</a:t>
            </a:r>
            <a:endParaRPr lang="zh-CN" altLang="en-US" sz="1800" b="1">
              <a:solidFill>
                <a:srgbClr val="1066D8"/>
              </a:solidFill>
            </a:endParaRPr>
          </a:p>
          <a:p>
            <a:endParaRPr lang="zh-CN" altLang="en-US" sz="2400" b="1">
              <a:solidFill>
                <a:srgbClr val="1066D8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6840" y="3901440"/>
            <a:ext cx="4670425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  <a:sym typeface="+mn-ea"/>
              </a:rPr>
              <a:t>其中甲级工程使用期安全系数取 1.10。考虑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C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A-01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为灾害应急设施，项目设计目标提高为：</a:t>
            </a:r>
            <a:endParaRPr lang="zh-CN" altLang="en-US" b="1">
              <a:solidFill>
                <a:srgbClr val="FFC000"/>
              </a:solidFill>
              <a:highlight>
                <a:srgbClr val="0000FF"/>
              </a:highlight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6840" y="48856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因此所需抗浮能力为：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16840" y="5658485"/>
            <a:ext cx="5524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本方案采用 300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mm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钢筋混凝土侧墙 + 600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mm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底板，结构自重约：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096635" y="1054100"/>
            <a:ext cx="5006340" cy="754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b="1">
              <a:solidFill>
                <a:srgbClr val="1066D8"/>
              </a:solidFill>
            </a:endParaRPr>
          </a:p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可提供约 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1.09 的自重抗浮系数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。剩余约：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6096635" y="1808734"/>
                <a:ext cx="2866390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𝟓𝟕𝟔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𝟖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−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𝟓𝟐𝟑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≈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𝟓𝟑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𝟔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𝒌𝑵</m:t>
                      </m:r>
                    </m:oMath>
                  </m:oMathPara>
                </a14:m>
                <a:endParaRPr lang="en-US" altLang="zh-CN" sz="20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635" y="1808734"/>
                <a:ext cx="2866390" cy="398780"/>
              </a:xfrm>
              <a:prstGeom prst="rect">
                <a:avLst/>
              </a:prstGeom>
              <a:blipFill rotWithShape="1">
                <a:blip r:embed="rId10"/>
                <a:stretch>
                  <a:fillRect t="-64" r="-810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6096635" y="2207260"/>
            <a:ext cx="5740400" cy="2241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由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六点分布式抗拔锚杆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补足。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en-US" altLang="zh-CN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096635" y="5730875"/>
            <a:ext cx="56946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结论：</a:t>
            </a:r>
            <a:endParaRPr lang="zh-CN" altLang="en-US" b="1">
              <a:solidFill>
                <a:srgbClr val="1066D8"/>
              </a:solidFill>
            </a:endParaRPr>
          </a:p>
          <a:p>
            <a:r>
              <a:rPr lang="en-US" altLang="zh-CN" b="1">
                <a:solidFill>
                  <a:srgbClr val="1066D8"/>
                </a:solidFill>
                <a:sym typeface="+mn-ea"/>
              </a:rPr>
              <a:t>C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A-01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可采用“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混凝土自重 + 分布式锚固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”形成稳定地下预置基础，满足灾害应急场景下的抗浮冗余要求。</a:t>
            </a:r>
            <a:endParaRPr lang="zh-CN" altLang="en-US" b="1">
              <a:solidFill>
                <a:srgbClr val="1066D8"/>
              </a:solidFill>
            </a:endParaRPr>
          </a:p>
          <a:p>
            <a:endParaRPr lang="zh-CN" altLang="en-US"/>
          </a:p>
        </p:txBody>
      </p:sp>
      <p:pic>
        <p:nvPicPr>
          <p:cNvPr id="39" name="图片 38" descr="六点分布式抗拔锚杆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635" y="2703195"/>
            <a:ext cx="3759200" cy="238696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096635" y="5208905"/>
            <a:ext cx="5603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</a:rPr>
              <a:t>孙义舟，孙宏磊，蔡袁强. 桩-锚复合基础上拔承载力计算和参数影响研究[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J]. </a:t>
            </a: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</a:rPr>
              <a:t>上海交通大学学报, 2022, 56(6): 701–709.</a:t>
            </a:r>
            <a:endParaRPr lang="zh-CN" altLang="en-US" sz="14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en-US" altLang="zh-CN" sz="2800" b="1" spc="300">
                    <a:solidFill>
                      <a:srgbClr val="003399"/>
                    </a:solidFill>
                  </a:rPr>
                  <a:t>”</a:t>
                </a:r>
                <a:r>
                  <a:rPr lang="zh-CN" altLang="en-US" sz="2800" b="1" spc="300">
                    <a:solidFill>
                      <a:srgbClr val="003399"/>
                    </a:solidFill>
                  </a:rPr>
                  <a:t>一竿子捅到底</a:t>
                </a:r>
                <a:r>
                  <a:rPr lang="en-US" altLang="zh-CN" sz="2800" b="1" spc="300">
                    <a:solidFill>
                      <a:srgbClr val="003399"/>
                    </a:solidFill>
                  </a:rPr>
                  <a:t>“</a:t>
                </a:r>
                <a:endParaRPr lang="en-US" altLang="zh-CN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609663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2E75B6"/>
                </a:solidFill>
              </a:rPr>
              <a:t>木已</a:t>
            </a:r>
            <a:r>
              <a:rPr lang="zh-CN" altLang="en-US" b="1">
                <a:solidFill>
                  <a:srgbClr val="2E75B6"/>
                </a:solidFill>
              </a:rPr>
              <a:t>成舟</a:t>
            </a:r>
            <a:endParaRPr lang="zh-CN" altLang="en-US" b="1">
              <a:solidFill>
                <a:srgbClr val="2E75B6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sym typeface="+mn-ea"/>
              </a:rPr>
              <a:t>来日方长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6840" y="1803400"/>
            <a:ext cx="55251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1066D8"/>
                </a:solidFill>
                <a:sym typeface="+mn-ea"/>
              </a:rPr>
              <a:t>训练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yolo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大模型，图像采集并标记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500+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、模型训练与迭代、多组标定点，实现识别乐高小人极高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准确率</a:t>
            </a:r>
            <a:endParaRPr lang="zh-CN" altLang="en-US" b="1">
              <a:solidFill>
                <a:srgbClr val="1066D8"/>
              </a:solidFill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099945" y="1433195"/>
            <a:ext cx="1558925" cy="372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</a:rPr>
              <a:t>视觉模型训练</a:t>
            </a:r>
            <a:endParaRPr lang="zh-CN" altLang="en-US" b="1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80970"/>
            <a:ext cx="2867025" cy="21513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8115" y="5514340"/>
            <a:ext cx="55251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  <a:sym typeface="+mn-ea"/>
              </a:rPr>
              <a:t>树莓派 +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ESP32、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电机与传感器联调，实现树莓派总控，小船自动救人，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从0实现遥控小船。</a:t>
            </a:r>
            <a:endParaRPr lang="zh-CN" altLang="en-US" b="1">
              <a:solidFill>
                <a:srgbClr val="FFC000"/>
              </a:solidFill>
              <a:highlight>
                <a:srgbClr val="0000FF"/>
              </a:highlight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99945" y="5146675"/>
            <a:ext cx="1928495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</a:rPr>
              <a:t>电子</a:t>
            </a:r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</a:rPr>
              <a:t>与通信开发</a:t>
            </a:r>
            <a:endParaRPr lang="zh-CN" altLang="en-US" b="1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09945" y="1805940"/>
            <a:ext cx="6282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</a:rPr>
              <a:t>完成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</a:rPr>
              <a:t>升降平台、双体无人艇、水位传感和电机驱动</a:t>
            </a:r>
            <a:r>
              <a:rPr lang="zh-CN" altLang="en-US" b="1">
                <a:solidFill>
                  <a:srgbClr val="1066D8"/>
                </a:solidFill>
              </a:rPr>
              <a:t>开发，并进行灌水、下水及塔船协同测试，验证完整救援流程。</a:t>
            </a:r>
            <a:endParaRPr lang="zh-CN" altLang="en-US" b="1">
              <a:solidFill>
                <a:srgbClr val="1066D8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29600" y="1402715"/>
            <a:ext cx="2400935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机械执行</a:t>
            </a:r>
            <a:endParaRPr lang="zh-CN" altLang="en-US" b="1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02680" y="5514340"/>
            <a:ext cx="55251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1066D8"/>
                </a:solidFill>
                <a:sym typeface="+mn-ea"/>
              </a:rPr>
              <a:t>基于 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A* 完成路径规划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与航点生成，结合二维及 </a:t>
            </a:r>
            <a:r>
              <a:rPr lang="en-US" altLang="zh-CN" b="1">
                <a:solidFill>
                  <a:srgbClr val="1066D8"/>
                </a:solidFill>
                <a:sym typeface="+mn-ea"/>
              </a:rPr>
              <a:t>Unity3D 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仿真，实现无人艇救援</a:t>
            </a:r>
            <a:r>
              <a:rPr lang="zh-CN" altLang="en-US" b="1">
                <a:solidFill>
                  <a:srgbClr val="FFC000"/>
                </a:solidFill>
                <a:highlight>
                  <a:srgbClr val="0000FF"/>
                </a:highlight>
                <a:sym typeface="+mn-ea"/>
              </a:rPr>
              <a:t>全过程模拟</a:t>
            </a:r>
            <a:r>
              <a:rPr lang="zh-CN" altLang="en-US" b="1">
                <a:solidFill>
                  <a:srgbClr val="1066D8"/>
                </a:solidFill>
                <a:sym typeface="+mn-ea"/>
              </a:rPr>
              <a:t>。</a:t>
            </a:r>
            <a:endParaRPr lang="zh-CN" altLang="en-US" b="1">
              <a:solidFill>
                <a:srgbClr val="1066D8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90510" y="5146675"/>
            <a:ext cx="241300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</a:rPr>
              <a:t>路径规划与仿真</a:t>
            </a:r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</a:rPr>
              <a:t>模拟</a:t>
            </a:r>
            <a:endParaRPr lang="zh-CN" altLang="en-US" b="1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pic>
        <p:nvPicPr>
          <p:cNvPr id="21" name="图片 20" descr="三维仿真第二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070" y="2680970"/>
            <a:ext cx="3441065" cy="2151380"/>
          </a:xfrm>
          <a:prstGeom prst="rect">
            <a:avLst/>
          </a:prstGeom>
        </p:spPr>
      </p:pic>
      <p:pic>
        <p:nvPicPr>
          <p:cNvPr id="22" name="图片 21" descr="0902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365" y="2680970"/>
            <a:ext cx="3100705" cy="2147570"/>
          </a:xfrm>
          <a:prstGeom prst="rect">
            <a:avLst/>
          </a:prstGeom>
        </p:spPr>
      </p:pic>
      <p:pic>
        <p:nvPicPr>
          <p:cNvPr id="24" name="图片 23" descr="0909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025" y="2680970"/>
            <a:ext cx="2878455" cy="215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10961092" cy="908048"/>
            <a:chOff x="338667" y="3"/>
            <a:chExt cx="10961092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10137775" cy="770215"/>
              <a:chOff x="876234" y="57212"/>
              <a:chExt cx="10137775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10137775" cy="4857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心得</a:t>
                </a:r>
                <a:r>
                  <a:rPr lang="zh-CN" altLang="en-US" sz="2800" b="1" spc="300">
                    <a:solidFill>
                      <a:srgbClr val="003399"/>
                    </a:solidFill>
                  </a:rPr>
                  <a:t>体会</a:t>
                </a:r>
                <a:endParaRPr lang="zh-CN" altLang="en-US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8772525" y="0"/>
            <a:ext cx="267589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1767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</a:rPr>
              <a:t>未雨绸缪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87514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木已成舟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5326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2E75B6"/>
                </a:solidFill>
              </a:rPr>
              <a:t>来日</a:t>
            </a:r>
            <a:r>
              <a:rPr lang="zh-CN" altLang="en-US" b="1">
                <a:solidFill>
                  <a:srgbClr val="2E75B6"/>
                </a:solidFill>
              </a:rPr>
              <a:t>方长</a:t>
            </a:r>
            <a:endParaRPr lang="zh-CN" altLang="en-US" b="1">
              <a:solidFill>
                <a:srgbClr val="2E75B6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560195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2F2F2"/>
                </a:solidFill>
                <a:sym typeface="+mn-ea"/>
              </a:rPr>
              <a:t>水漫金山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030" y="1537970"/>
            <a:ext cx="12350115" cy="2012950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000" b="1">
                <a:solidFill>
                  <a:srgbClr val="1045C9"/>
                </a:solidFill>
              </a:rPr>
              <a:t>城市方舟（</a:t>
            </a:r>
            <a:r>
              <a:rPr lang="en-US" altLang="zh-CN" sz="2000" b="1">
                <a:solidFill>
                  <a:srgbClr val="1045C9"/>
                </a:solidFill>
              </a:rPr>
              <a:t>City-Ark</a:t>
            </a:r>
            <a:r>
              <a:rPr lang="zh-CN" altLang="en-US" sz="2000" b="1">
                <a:solidFill>
                  <a:srgbClr val="1045C9"/>
                </a:solidFill>
              </a:rPr>
              <a:t>）特点：</a:t>
            </a:r>
            <a:endParaRPr lang="zh-CN" altLang="en-US" sz="2000" b="1">
              <a:solidFill>
                <a:srgbClr val="1045C9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000" b="1">
                <a:solidFill>
                  <a:srgbClr val="1045C9"/>
                </a:solidFill>
              </a:rPr>
              <a:t>完成“救援塔 +无人艇”原型搭建，验证洪涝场景下的自动救援设想。</a:t>
            </a:r>
            <a:endParaRPr lang="zh-CN" altLang="en-US" sz="2000" b="1">
              <a:solidFill>
                <a:srgbClr val="1045C9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000" b="1">
                <a:solidFill>
                  <a:srgbClr val="1045C9"/>
                </a:solidFill>
              </a:rPr>
              <a:t>打通感知、规划、通信与执行链路，形成较完整的系统闭环。</a:t>
            </a:r>
            <a:endParaRPr lang="zh-CN" altLang="en-US" sz="2000" b="1">
              <a:solidFill>
                <a:srgbClr val="1045C9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000" b="1">
                <a:solidFill>
                  <a:srgbClr val="1045C9"/>
                </a:solidFill>
                <a:sym typeface="+mn-ea"/>
              </a:rPr>
              <a:t>从模型展示进一步走向工程化思考，开始考虑抗浮、通信可靠性与真实部署问题。</a:t>
            </a:r>
            <a:endParaRPr lang="zh-CN" altLang="en-US" sz="2000" b="1">
              <a:solidFill>
                <a:srgbClr val="1045C9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endParaRPr lang="zh-CN" altLang="en-US" sz="2000" b="1">
              <a:solidFill>
                <a:srgbClr val="1045C9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3030" y="3550920"/>
            <a:ext cx="11963400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心得体会：</a:t>
            </a:r>
            <a:endParaRPr lang="en-US" altLang="zh-CN" sz="2000" b="1"/>
          </a:p>
          <a:p>
            <a:r>
              <a:rPr lang="en-US" altLang="zh-CN" sz="2000" b="1"/>
              <a:t>1. </a:t>
            </a:r>
            <a:r>
              <a:rPr lang="zh-CN" altLang="en-US" sz="2000" b="1"/>
              <a:t>感谢</a:t>
            </a:r>
            <a:r>
              <a:rPr lang="zh-CN" altLang="en-US" sz="3600" b="1">
                <a:solidFill>
                  <a:schemeClr val="accent4"/>
                </a:solidFill>
              </a:rPr>
              <a:t>团队的通力合作</a:t>
            </a:r>
            <a:r>
              <a:rPr lang="zh-CN" altLang="en-US" sz="2000" b="1"/>
              <a:t>，面对复杂工程，个人之力终有边界，团队协同、彼此补位，才是把事情真正做成的关键。</a:t>
            </a:r>
            <a:endParaRPr lang="zh-CN" altLang="en-US" sz="2000" b="1"/>
          </a:p>
          <a:p>
            <a:r>
              <a:rPr lang="en-US" altLang="zh-CN" sz="2000" b="1"/>
              <a:t>2. </a:t>
            </a:r>
            <a:r>
              <a:rPr lang="zh-CN" altLang="en-US" sz="2000" b="1"/>
              <a:t>在拿到一个困难的问题时，坚持</a:t>
            </a:r>
            <a:r>
              <a:rPr lang="zh-CN" altLang="en-US" sz="3600" b="1">
                <a:solidFill>
                  <a:schemeClr val="accent4"/>
                </a:solidFill>
              </a:rPr>
              <a:t>工程化的思考</a:t>
            </a:r>
            <a:r>
              <a:rPr lang="zh-CN" altLang="en-US" sz="2000" b="1"/>
              <a:t>，不只解决眼前的一点，而是从系统与全局出发，统筹多方，做到见微知著，举一反三。</a:t>
            </a:r>
            <a:endParaRPr lang="zh-CN" altLang="en-US" sz="2000" b="1"/>
          </a:p>
          <a:p>
            <a:r>
              <a:rPr lang="en-US" altLang="zh-CN" sz="2000" b="1"/>
              <a:t>3. </a:t>
            </a:r>
            <a:r>
              <a:rPr lang="zh-CN" altLang="en-US" sz="3200" b="1">
                <a:solidFill>
                  <a:srgbClr val="FF0000"/>
                </a:solidFill>
              </a:rPr>
              <a:t>愿今日所想，不止于纸上；愿来日所造，真能渡人于危难。</a:t>
            </a:r>
            <a:endParaRPr lang="zh-CN" altLang="en-US" sz="2000" b="1"/>
          </a:p>
          <a:p>
            <a:r>
              <a:rPr lang="zh-CN" altLang="en-US" sz="2000" b="1"/>
              <a:t>感谢这门课给我们一次大胆畅想未来的机会，也希望有一天，“城市方舟”不只是模型与方案，而是真正出现在需要它的城市里。</a:t>
            </a:r>
            <a:endParaRPr lang="zh-CN" altLang="en-US" sz="2000" b="1"/>
          </a:p>
          <a:p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 userDrawn="1"/>
        </p:nvSpPr>
        <p:spPr>
          <a:xfrm>
            <a:off x="0" y="4647565"/>
            <a:ext cx="12188825" cy="4349115"/>
          </a:xfrm>
          <a:prstGeom prst="ellipse">
            <a:avLst/>
          </a:prstGeom>
          <a:solidFill>
            <a:srgbClr val="0070C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" name="主标题"/>
          <p:cNvSpPr txBox="1"/>
          <p:nvPr/>
        </p:nvSpPr>
        <p:spPr>
          <a:xfrm>
            <a:off x="1031240" y="3261360"/>
            <a:ext cx="103612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smtClean="0">
                <a:solidFill>
                  <a:schemeClr val="accent1"/>
                </a:solidFill>
                <a:latin typeface="方正大黑体_GBK" panose="02010600010101010101" charset="-122"/>
                <a:ea typeface="方正大黑体_GBK" panose="02010600010101010101" charset="-122"/>
                <a:cs typeface="Impact" panose="020B0806030902050204" charset="0"/>
              </a:rPr>
              <a:t>敬请各位</a:t>
            </a:r>
            <a:r>
              <a:rPr lang="zh-CN" altLang="en-US" sz="4800" smtClean="0">
                <a:solidFill>
                  <a:schemeClr val="accent1"/>
                </a:solidFill>
                <a:latin typeface="方正大黑体_GBK" panose="02010600010101010101" charset="-122"/>
                <a:ea typeface="方正大黑体_GBK" panose="02010600010101010101" charset="-122"/>
                <a:cs typeface="Impact" panose="020B0806030902050204" charset="0"/>
              </a:rPr>
              <a:t>老师批评指正</a:t>
            </a:r>
            <a:endParaRPr lang="en-US" altLang="zh-CN" sz="4800" smtClean="0">
              <a:solidFill>
                <a:schemeClr val="accent1"/>
              </a:solidFill>
              <a:latin typeface="方正大黑体_GBK" panose="02010600010101010101" charset="-122"/>
              <a:ea typeface="方正大黑体_GBK" panose="02010600010101010101" charset="-122"/>
              <a:cs typeface="Impact" panose="020B0806030902050204" charset="0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0" y="-2374209"/>
            <a:ext cx="12188825" cy="4349115"/>
          </a:xfrm>
          <a:prstGeom prst="ellipse">
            <a:avLst/>
          </a:prstGeom>
          <a:solidFill>
            <a:srgbClr val="0070C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370*188"/>
  <p:tag name="TABLE_ENDDRAG_RECT" val="518*180*370*188"/>
</p:tagLst>
</file>

<file path=ppt/tags/tag2.xml><?xml version="1.0" encoding="utf-8"?>
<p:tagLst xmlns:p="http://schemas.openxmlformats.org/presentationml/2006/main">
  <p:tag name="TABLE_ENDDRAG_ORIGIN_RECT" val="567*251"/>
  <p:tag name="TABLE_ENDDRAG_RECT" val="372*275*567*251"/>
</p:tagLst>
</file>

<file path=ppt/tags/tag3.xml><?xml version="1.0" encoding="utf-8"?>
<p:tagLst xmlns:p="http://schemas.openxmlformats.org/presentationml/2006/main">
  <p:tag name="commondata" val="eyJoZGlkIjoiNzQ2ZTc2YjY2NGJlOTBhOTRlYjhlNmM0MGRjNjgwNmYifQ=="/>
  <p:tag name="resource_record_key" val="{&quot;29&quot;:[50053044,50052944,50000113,50000047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3640</Words>
  <Application>WPS 演示</Application>
  <PresentationFormat>宽屏</PresentationFormat>
  <Paragraphs>390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方正大黑体_GBK</vt:lpstr>
      <vt:lpstr>汉仪力量黑简</vt:lpstr>
      <vt:lpstr>Calibri</vt:lpstr>
      <vt:lpstr>Wingdings</vt:lpstr>
      <vt:lpstr>思源黑体</vt:lpstr>
      <vt:lpstr>Impact</vt:lpstr>
      <vt:lpstr>Arial Unicode MS</vt:lpstr>
      <vt:lpstr>黑体</vt:lpstr>
      <vt:lpstr>思源黑体</vt:lpstr>
      <vt:lpstr>清雅黑体</vt:lpstr>
      <vt:lpstr>Cambria Math</vt:lpstr>
      <vt:lpstr>MS Mincho</vt:lpstr>
      <vt:lpstr>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SKY</cp:lastModifiedBy>
  <cp:revision>20</cp:revision>
  <dcterms:created xsi:type="dcterms:W3CDTF">2024-08-14T20:03:00Z</dcterms:created>
  <dcterms:modified xsi:type="dcterms:W3CDTF">2026-09-09T20:42:59Z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2AFF626E0B4C4F61B2054D5290C7369B_13</vt:lpwstr>
  </property>
</Properties>
</file>